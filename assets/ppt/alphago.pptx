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9" r:id="rId2"/>
    <p:sldId id="307" r:id="rId3"/>
    <p:sldId id="343" r:id="rId4"/>
    <p:sldId id="345" r:id="rId5"/>
    <p:sldId id="346" r:id="rId6"/>
    <p:sldId id="348" r:id="rId7"/>
    <p:sldId id="349" r:id="rId8"/>
    <p:sldId id="352" r:id="rId9"/>
    <p:sldId id="354" r:id="rId10"/>
    <p:sldId id="353" r:id="rId11"/>
    <p:sldId id="355" r:id="rId12"/>
    <p:sldId id="356" r:id="rId13"/>
    <p:sldId id="357" r:id="rId14"/>
    <p:sldId id="358" r:id="rId15"/>
    <p:sldId id="359" r:id="rId16"/>
    <p:sldId id="351" r:id="rId17"/>
    <p:sldId id="360" r:id="rId18"/>
  </p:sldIdLst>
  <p:sldSz cx="12192000" cy="6858000"/>
  <p:notesSz cx="7104063" cy="10234613"/>
  <p:embeddedFontLst>
    <p:embeddedFont>
      <p:font typeface="Cambria Math" panose="02040503050406030204" pitchFamily="18" charset="0"/>
      <p:regular r:id="rId19"/>
    </p:embeddedFont>
    <p:embeddedFont>
      <p:font typeface="나눔명조" panose="02020603020101020101" pitchFamily="18" charset="-127"/>
      <p:regular r:id="rId20"/>
      <p:bold r:id="rId21"/>
    </p:embeddedFont>
    <p:embeddedFont>
      <p:font typeface="나눔바른고딕 UltraLight" panose="00000300000000000000" pitchFamily="2" charset="-127"/>
      <p:regular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1481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3318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3399FF"/>
    <a:srgbClr val="FF6600"/>
    <a:srgbClr val="B2B2B2"/>
    <a:srgbClr val="DDDDDD"/>
    <a:srgbClr val="EBEBEB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8" y="86"/>
      </p:cViewPr>
      <p:guideLst>
        <p:guide orient="horz" pos="1094"/>
        <p:guide pos="1481"/>
        <p:guide pos="597"/>
        <p:guide pos="3318"/>
        <p:guide orient="horz" pos="4110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B8702-48D7-4F24-9861-558F6E39C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EA1313-1AC5-4173-9787-50B941C57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8BFA6-8F73-494C-94F8-FB7E6E8C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75664-1410-4422-8047-DE346136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FD54F-67AA-4D39-AF36-2069036D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4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2B32F-A795-4511-BC5B-6F5CF658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43E0C9-9032-4D24-91B5-F33D5537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415BE4-B832-4D96-8BC8-1C3CB2E1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2859D-66E3-4BAC-882A-A0B3EFBF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72812-C615-4EA0-B283-0C31568F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11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1FBFA-BDB3-4C97-865C-83FE2553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FD0A49-B417-457D-8C06-DD379348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9013D3-4359-4354-9E3C-B5CEFB60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CC1A3-13D2-4C80-8DEF-5E8B6D87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7D46A-866A-4830-A5B9-9FD3FDDAF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08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8B4DB-9203-4848-A9FA-3B77C689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783D3-D911-4271-8793-CDA9BB364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C508CF-4FB0-4559-BEE6-DB3B09D17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D0EA61-96F9-4746-A7BD-72BA15D9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200117-19BA-43FE-9047-AA12E5CD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5D6791-8933-4D3F-AD1F-9049F8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50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DE438-CBCA-4CFD-81E4-7F434B39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370A8-4AE0-4CD7-AAD6-F6FC58D5B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C15671-FA35-4681-A223-EF5D4FDE7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18F6F8-959B-4BAF-92B7-910D6912E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0881ED-E1F8-4EB8-BFCE-61011DBF8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EBEA1C6-CDDC-4C3C-88CA-42570DAAD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EBDFDA-0956-4FD1-BCA8-93A88930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92B0C8-AE78-4832-978A-C29728E1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1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B30FC-99FA-4282-8F98-FF24743A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6D2B68-5B53-4C0A-8464-9CC992C3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1A95B7-6B26-4A01-BAF9-34BBF5A7E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B3DD31-DA2D-48B1-81BB-BBF115AAB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14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1225AA-56AC-43D8-9E53-C5A555FC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0F5BE0-0382-4CF7-842D-F0F65826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C7090-FE1E-47AF-BCE3-0D69CDA99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52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46FAC-83A8-4927-A29E-FD344990F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40146-BEB1-40C8-BD9D-5FB2C3F70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1BD7CD-0CD2-48B1-9ABD-B7DD53244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14086D-9375-43E5-8CBA-28F0236B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10DDAC-901D-4E2B-9378-3C9D1D2D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40F993-C1D4-4432-85E8-7BF91265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92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6C214-FF83-45C6-A612-01EF5EAA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EF73DF-462C-4ED9-B238-388DF1B0F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E55CDB-C61B-44F0-B34D-04334CF5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3470FA-EE56-4BBE-9468-583A3701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603C1D-911C-4791-B6DF-CE29C7D3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55A7CA-22B2-4BE8-97B1-71908B5B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28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E413D-17BC-497A-ADA1-CA687D02B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BE5843-6861-4E54-9438-13C79177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1710D4-915B-4923-89C8-AAAD59503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ABD43-CBD8-4DCA-A0F4-F2E0119C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A3B025-61A5-47C1-AB6D-EF73E4AA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554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900E81-203F-4536-A2C5-43837164D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47B8A7-3278-4A2C-9F3D-C7BA88975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A265EC-DB5B-4763-AB8E-21AB5D0D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596D-E891-4E9B-95AA-384D2B596C2E}" type="datetimeFigureOut">
              <a:rPr lang="ko-KR" altLang="en-US" smtClean="0"/>
              <a:t>2019-06-08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41E7A3-C3EB-4A36-ABAE-F6472429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57F131-723F-4096-A636-7AE70951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35866-1DDF-4BC9-A107-AB5B7739F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23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3C50F2-1FBE-48EE-B379-9F3E2CC1B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75C2BB-93BD-4A7B-8F1E-3688E0194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95F79-77E9-4851-BA7F-241D9489A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defRPr>
            </a:lvl1pPr>
          </a:lstStyle>
          <a:p>
            <a:fld id="{8AD4596D-E891-4E9B-95AA-384D2B596C2E}" type="datetimeFigureOut">
              <a:rPr lang="ko-KR" altLang="en-US" smtClean="0"/>
              <a:pPr/>
              <a:t>2019-06-08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DC59F-65DD-429A-AE99-9E2BA2623F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B252B5-567B-45B3-9FE2-CEF8B331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명조" panose="02020603020101020101" pitchFamily="18" charset="-127"/>
                <a:ea typeface="나눔명조" panose="02020603020101020101" pitchFamily="18" charset="-127"/>
              </a:defRPr>
            </a:lvl1pPr>
          </a:lstStyle>
          <a:p>
            <a:fld id="{32735866-1DDF-4BC9-A107-AB5B7739FA9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562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명조" panose="02020603020101020101" pitchFamily="18" charset="-127"/>
          <a:ea typeface="나눔명조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명조" panose="02020603020101020101" pitchFamily="18" charset="-127"/>
          <a:ea typeface="나눔명조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명조" panose="02020603020101020101" pitchFamily="18" charset="-127"/>
          <a:ea typeface="나눔명조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명조" panose="02020603020101020101" pitchFamily="18" charset="-127"/>
          <a:ea typeface="나눔명조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명조" panose="02020603020101020101" pitchFamily="18" charset="-127"/>
          <a:ea typeface="나눔명조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ABF54AB-160D-4BEC-8EE9-DEE1BF8B6DE5}"/>
              </a:ext>
            </a:extLst>
          </p:cNvPr>
          <p:cNvSpPr txBox="1"/>
          <p:nvPr/>
        </p:nvSpPr>
        <p:spPr>
          <a:xfrm>
            <a:off x="0" y="2600215"/>
            <a:ext cx="12192000" cy="16575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36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Mastering the game of Go </a:t>
            </a:r>
          </a:p>
          <a:p>
            <a:pPr algn="ctr">
              <a:lnSpc>
                <a:spcPct val="150000"/>
              </a:lnSpc>
            </a:pPr>
            <a:r>
              <a:rPr lang="en-US" altLang="ko-KR" sz="36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with deep neural networks and tree search</a:t>
            </a:r>
            <a:endParaRPr lang="ko-KR" altLang="en-US" sz="36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10570291" y="6155293"/>
            <a:ext cx="148943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Lee </a:t>
            </a:r>
            <a:r>
              <a:rPr lang="en-US" altLang="ko-KR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Hojoon</a:t>
            </a:r>
          </a:p>
        </p:txBody>
      </p:sp>
    </p:spTree>
    <p:extLst>
      <p:ext uri="{BB962C8B-B14F-4D97-AF65-F5344CB8AC3E}">
        <p14:creationId xmlns:p14="http://schemas.microsoft.com/office/powerpoint/2010/main" val="364417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1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Introduction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9" y="1699642"/>
                <a:ext cx="9586665" cy="2640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Alphago is based on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MCTS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(Monte-Carlo Tree Search)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There are 2 general principles to reduce the exhaustive search space of MCTS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Depth can be reduced by evaluating the position evaluation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𝑣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𝑠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Breadth can be reduced by sampling the action from a policy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𝑝</m:t>
                    </m:r>
                    <m:d>
                      <m:dPr>
                        <m:ctrlP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𝑎</m:t>
                        </m:r>
                      </m:e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 e.g. UCB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Alphago proposed a novel approach to get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by the neural network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9" y="1699642"/>
                <a:ext cx="9586665" cy="26400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10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Training Pipelines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1042416" y="4898026"/>
                <a:ext cx="9025128" cy="14058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There are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3 stage pipeline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to train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1. Train a supervised policy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and fast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from the expert human data.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2. Train RL policy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by optimizing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from the self-play.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3. Train value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by self-play of RL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416" y="4898026"/>
                <a:ext cx="9025128" cy="14058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38" y="1730226"/>
            <a:ext cx="8690038" cy="29430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378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91" t="7518" r="32064" b="18704"/>
          <a:stretch/>
        </p:blipFill>
        <p:spPr>
          <a:xfrm>
            <a:off x="1060110" y="3961480"/>
            <a:ext cx="5698744" cy="2746025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2.1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Supervised Learning of policy networks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9" y="1617917"/>
                <a:ext cx="9025128" cy="33701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Training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Policy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is trained to match the board status to the action of the expert player.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Network is 13-layer convolutional neural network with </a:t>
                </a:r>
                <a:r>
                  <a:rPr lang="en-US" altLang="ko-KR" sz="1400" dirty="0" err="1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ReLU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activations.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Network parameter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is trained with back-propagation to maximize the likelihood.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9" y="1617917"/>
                <a:ext cx="9025128" cy="33701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519" y="3018171"/>
            <a:ext cx="1699281" cy="64881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l="68770" t="159" r="5558" b="61053"/>
          <a:stretch/>
        </p:blipFill>
        <p:spPr>
          <a:xfrm>
            <a:off x="6972537" y="4370988"/>
            <a:ext cx="2592087" cy="1735419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950679" y="4023360"/>
            <a:ext cx="8613945" cy="2672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65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2.1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Supervised Learning of policy networks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2ABF4-CE5D-4CFD-8EDE-1E1D56189B51}"/>
              </a:ext>
            </a:extLst>
          </p:cNvPr>
          <p:cNvSpPr txBox="1"/>
          <p:nvPr/>
        </p:nvSpPr>
        <p:spPr>
          <a:xfrm>
            <a:off x="950679" y="1608773"/>
            <a:ext cx="9025128" cy="272382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Input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Input of the network 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is 19× 19 × </a:t>
            </a: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48 feature 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to represent the </a:t>
            </a: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board.</a:t>
            </a: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Features are pretty simple without handcrafted features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400" dirty="0" smtClean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23" y="3050955"/>
            <a:ext cx="7096041" cy="35781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85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2.1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Supervised Learning of policy networks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0223289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Roll-out Policy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Roll-out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is also trained to match the expert’s action with using the simple linear softmax classifier.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Unlike SL policy network, hand-crafted features were used as input.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 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Roll-out policy has a lower accuracy compared to SL policy(24.2% vs 55.7%) but 1500x faster.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0223289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84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671" y="3517424"/>
            <a:ext cx="2048447" cy="74040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2.2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Reinforcement Learning of policy networks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17917"/>
                <a:ext cx="10351305" cy="3420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Training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RL Policy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is duplicated from trained SL policy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</a:t>
                </a:r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is trained with self-play where action is selected from it’s policy.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    (Opponent is randomly selected previous iteration of the policy network to avoid overfitting)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3.   Weights are updated by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stochastic gradient ascent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to maximize the expected outcome.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17917"/>
                <a:ext cx="10351305" cy="3420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직사각형 2"/>
          <p:cNvSpPr/>
          <p:nvPr/>
        </p:nvSpPr>
        <p:spPr>
          <a:xfrm>
            <a:off x="1883664" y="3517424"/>
            <a:ext cx="1152144" cy="670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3063123" y="3797694"/>
            <a:ext cx="201285" cy="271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1227645" y="4312039"/>
            <a:ext cx="273304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200" i="1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Log probability of the sampled action</a:t>
            </a:r>
            <a:endParaRPr lang="ko-KR" altLang="en-US" sz="1200" i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3384146" y="3797694"/>
            <a:ext cx="293435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200" i="1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Advantageous reward (win: +1, lose: -1)</a:t>
            </a:r>
            <a:endParaRPr lang="ko-KR" altLang="en-US" sz="1200" i="1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1896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2.3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Reinforcement Learning of value networks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1241322" cy="2031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To train the value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, data is collected by playing against </a:t>
                </a: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each other using the same RL policy network. </a:t>
                </a: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Network architecture of value network is equal to the policy network where output is a single prediction.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Weights are updated by backpropagation to minimize the MSE loss between predicted value and the corresponding outcome.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                                          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                                                       Last layer of the value network is the </a:t>
                </a:r>
                <a:r>
                  <a:rPr lang="en-US" altLang="ko-KR" sz="1400" i="1" dirty="0" err="1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tanh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. (win +1, lose -1)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1241322" cy="2031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6" y="2744748"/>
            <a:ext cx="2148027" cy="68425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l="91" t="7518" r="32064" b="18704"/>
          <a:stretch/>
        </p:blipFill>
        <p:spPr>
          <a:xfrm>
            <a:off x="1060110" y="3961480"/>
            <a:ext cx="5698744" cy="274602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l="68179" t="45526" r="214" b="9920"/>
          <a:stretch/>
        </p:blipFill>
        <p:spPr>
          <a:xfrm>
            <a:off x="7046416" y="4695247"/>
            <a:ext cx="2554784" cy="159582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950679" y="4023360"/>
            <a:ext cx="9116865" cy="2672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665976" y="4480560"/>
            <a:ext cx="722376" cy="1545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/>
          <p:nvPr/>
        </p:nvCxnSpPr>
        <p:spPr>
          <a:xfrm>
            <a:off x="6263640" y="4608576"/>
            <a:ext cx="1124712" cy="237744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6665976" y="4846320"/>
            <a:ext cx="722376" cy="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V="1">
            <a:off x="6665976" y="5934456"/>
            <a:ext cx="722376" cy="43102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263640" y="5705856"/>
            <a:ext cx="1124712" cy="228600"/>
          </a:xfrm>
          <a:prstGeom prst="line">
            <a:avLst/>
          </a:prstGeom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19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2.4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In summary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2ABF4-CE5D-4CFD-8EDE-1E1D56189B51}"/>
              </a:ext>
            </a:extLst>
          </p:cNvPr>
          <p:cNvSpPr txBox="1"/>
          <p:nvPr/>
        </p:nvSpPr>
        <p:spPr>
          <a:xfrm>
            <a:off x="950678" y="1608773"/>
            <a:ext cx="11241322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</a:rPr>
              <a:t>Alphago is based on </a:t>
            </a:r>
            <a:r>
              <a:rPr lang="en-US" altLang="ko-KR" sz="1400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</a:rPr>
              <a:t>MCTS</a:t>
            </a:r>
            <a:r>
              <a:rPr lang="en-US" altLang="ko-KR" sz="1400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</a:rPr>
              <a:t>(Monte-Carlo Tree Search)</a:t>
            </a:r>
          </a:p>
          <a:p>
            <a:pPr>
              <a:lnSpc>
                <a:spcPct val="150000"/>
              </a:lnSpc>
            </a:pPr>
            <a:endParaRPr lang="en-US" altLang="ko-KR" sz="1400" dirty="0" smtClean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</a:rPr>
              <a:t>Policy network tells us which moves are promising, reducing the breadth of the search.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</a:rPr>
              <a:t>Value network tells us how good a board state is, reducing the depth of the search.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806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3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Monte Carlo Tree Search (MCTS)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2ABF4-CE5D-4CFD-8EDE-1E1D56189B51}"/>
              </a:ext>
            </a:extLst>
          </p:cNvPr>
          <p:cNvSpPr txBox="1"/>
          <p:nvPr/>
        </p:nvSpPr>
        <p:spPr>
          <a:xfrm>
            <a:off x="950678" y="1608773"/>
            <a:ext cx="11241322" cy="106182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While playing the game, action is chosen based on the results of the simulation.</a:t>
            </a:r>
          </a:p>
          <a:p>
            <a:pPr>
              <a:lnSpc>
                <a:spcPct val="150000"/>
              </a:lnSpc>
            </a:pPr>
            <a:endParaRPr lang="en-US" altLang="ko-KR" sz="1400" dirty="0" smtClean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MCTS is composed of 4 steps.</a:t>
            </a:r>
            <a:endParaRPr lang="en-US" altLang="ko-KR" sz="1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78" y="2782084"/>
            <a:ext cx="9885236" cy="3265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133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3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Monte Carlo Tree Search (MCTS)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1241322" cy="2961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Each edge in the search tree stores a set of statistics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𝑃</m:t>
                    </m:r>
                    <m:d>
                      <m:d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𝑠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: Prior probability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𝑠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+mj-ea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: Number of visitation by the search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: Number of visitation by the rollout-policy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: Accumulated value network rewards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: Accumulated roll-out rewards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: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combined mean rewards with value network and roll-out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1241322" cy="2961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44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3.1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Monte Carlo Tree Search (MCTS)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1241322" cy="25545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1. Selection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During the simulation, action is chosen based on the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𝑄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𝑠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𝑎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u</m:t>
                    </m:r>
                    <m:d>
                      <m:dPr>
                        <m:ctrlPr>
                          <a:rPr lang="en-US" altLang="ko-KR" sz="1400" b="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using the variant of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PUCT algorithm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  <a:spcBef>
                    <a:spcPts val="1200"/>
                  </a:spcBef>
                </a:pPr>
                <a:endParaRPr lang="en-US" altLang="ko-KR" sz="1400" i="1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- PUCT algorithm initially prefers actions with high prior probability and low count visit, but asymptotically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prefers actions with high values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1241322" cy="25545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579" y="2474706"/>
            <a:ext cx="2539175" cy="45535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939" y="2948348"/>
            <a:ext cx="2185322" cy="41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6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3.2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Monte Carlo Tree Search (MCTS)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1241322" cy="2400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2. Evaluation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When the agent reaches the leaf position, leaf node is evaluated in 2 different ways. </a:t>
                </a: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1. By the value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2. By the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of the random roll-out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1241322" cy="2400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4000" t="-1428" r="5143" b="5428"/>
          <a:stretch/>
        </p:blipFill>
        <p:spPr>
          <a:xfrm>
            <a:off x="1327383" y="3429000"/>
            <a:ext cx="969264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4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3.3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Monte Carlo Tree Search (MCTS)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1241322" cy="40164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3. Back up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At the end of the simulation, the rollout statistics are updated </a:t>
                </a: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For each Roll-out Simulations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For each Leaf node visitation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(update based on the value of the leaf node)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1241322" cy="40164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-1" b="10822"/>
          <a:stretch/>
        </p:blipFill>
        <p:spPr>
          <a:xfrm>
            <a:off x="968375" y="5251115"/>
            <a:ext cx="2835530" cy="3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2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3.4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Monte Carlo Tree Search (MCTS)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1241322" cy="24006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4. Expansion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When the visit count of the leaf node exceeds a threshold, new node is initialized with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altLang="ko-KR" sz="1400" b="0" i="0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=0,  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Prior probability is initialized with SL policy network rather than RL policy network.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    (SL policy performed better since human selects a diverse promising moves)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400" dirty="0" smtClean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1241322" cy="2400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83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4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Implementation Detail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0909089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Neural Network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1. Dataset is augmented with eight reflections and rotations utilizing the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symmetry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of Go.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   Reflection / Rotation: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2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. Expected sum of rewards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+mj-ea"/>
                      </a:rPr>
                      <m:t>𝑧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are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not discounted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. (always 1 or -1)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3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. After training value network, RL Policy network is further trained with REINFORCE algorithm using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value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ko-KR" altLang="en-US" sz="1400" b="1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</m:oMath>
                </a14:m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 as a baseline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  <a:ea typeface="+mj-ea"/>
                  </a:rPr>
                  <a:t>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0909089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144" y="2389543"/>
            <a:ext cx="1095375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4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22B572B-8C08-4E47-91A0-4DD514AA8A36}"/>
              </a:ext>
            </a:extLst>
          </p:cNvPr>
          <p:cNvCxnSpPr>
            <a:cxnSpLocks/>
          </p:cNvCxnSpPr>
          <p:nvPr/>
        </p:nvCxnSpPr>
        <p:spPr>
          <a:xfrm flipH="1">
            <a:off x="577383" y="470142"/>
            <a:ext cx="14800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7261F02-2E0D-49A8-A1D3-DD85A6F17DED}"/>
              </a:ext>
            </a:extLst>
          </p:cNvPr>
          <p:cNvCxnSpPr>
            <a:cxnSpLocks/>
          </p:cNvCxnSpPr>
          <p:nvPr/>
        </p:nvCxnSpPr>
        <p:spPr>
          <a:xfrm flipH="1">
            <a:off x="587375" y="1125390"/>
            <a:ext cx="148001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A6A068-DEC5-45B5-B50E-32D2863C30C7}"/>
              </a:ext>
            </a:extLst>
          </p:cNvPr>
          <p:cNvSpPr txBox="1"/>
          <p:nvPr/>
        </p:nvSpPr>
        <p:spPr>
          <a:xfrm>
            <a:off x="520233" y="613314"/>
            <a:ext cx="8608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4</a:t>
            </a:r>
            <a:endParaRPr lang="ko-KR" altLang="en-US" sz="24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9F821-5393-4853-8716-ACB52B830FB9}"/>
              </a:ext>
            </a:extLst>
          </p:cNvPr>
          <p:cNvSpPr txBox="1"/>
          <p:nvPr/>
        </p:nvSpPr>
        <p:spPr>
          <a:xfrm>
            <a:off x="2387600" y="470142"/>
            <a:ext cx="92444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3200" dirty="0" smtClean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latin typeface="+mj-ea"/>
                <a:ea typeface="+mj-ea"/>
              </a:rPr>
              <a:t>Implementation Detail</a:t>
            </a:r>
            <a:endParaRPr lang="ko-KR" altLang="en-US" sz="3200" dirty="0">
              <a:ln>
                <a:solidFill>
                  <a:schemeClr val="tx1">
                    <a:lumMod val="75000"/>
                    <a:lumOff val="25000"/>
                    <a:alpha val="30000"/>
                  </a:schemeClr>
                </a:solidFill>
              </a:ln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/>
              <p:nvPr/>
            </p:nvSpPr>
            <p:spPr>
              <a:xfrm>
                <a:off x="950678" y="1608773"/>
                <a:ext cx="10909089" cy="3821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MCTS</a:t>
                </a:r>
                <a:endParaRPr lang="en-US" altLang="ko-KR" sz="1600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1. MCTS makes use of an implicit symmetry ensemble. Evaluation and Selection is made with random rotation/reflection.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     Evaluation:                      Selection: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2. Since Simulation progresses in parallel, Virtual Loss(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i="1" dirty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 dirty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400" i="1" dirty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) is added to discourage other thread’s exploitations during rollouts.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400" i="1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400" i="1" dirty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dirty="0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altLang="ko-KR" sz="1400" i="1" dirty="0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dirty="0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400" b="0" i="1" dirty="0" smtClean="0">
                                <a:ln>
                                  <a:solidFill>
                                    <a:schemeClr val="tx1">
                                      <a:lumMod val="75000"/>
                                      <a:lumOff val="25000"/>
                                      <a:alpha val="30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sub>
                    </m:sSub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, virtual loss 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3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 When new node is initialized, prior probability is initialized with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tree policy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  Tree policy is similar to roll-out policy with little more hand-crafted input features.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  Prior probability is replaced with SL policy network after the simulation, in order to avoid the bottle neck in the roll-outs.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4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 Initial prior probability are computed by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Softmax with temperatures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to encourage a exploration with softmax smoothing.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400" i="1" smtClean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30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ko-KR" altLang="en-US" sz="1400" i="1" smtClean="0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bSup>
                    <m:d>
                      <m:d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400" i="1">
                            <a:ln>
                              <a:solidFill>
                                <a:schemeClr val="tx1">
                                  <a:lumMod val="75000"/>
                                  <a:lumOff val="25000"/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 dirty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5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. Final action is chosen by the </a:t>
                </a:r>
                <a:r>
                  <a:rPr lang="en-US" altLang="ko-KR" sz="1400" b="1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maximum visit count </a:t>
                </a:r>
                <a:r>
                  <a:rPr lang="en-US" altLang="ko-KR" sz="1400" dirty="0" smtClean="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latin typeface="+mj-ea"/>
                  </a:rPr>
                  <a:t>not the maximum action value. </a:t>
                </a:r>
                <a:endParaRPr lang="en-US" altLang="ko-KR" sz="1400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latin typeface="+mj-ea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52ABF4-CE5D-4CFD-8EDE-1E1D56189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678" y="1608773"/>
                <a:ext cx="10909089" cy="3821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r="1742" b="9741"/>
          <a:stretch/>
        </p:blipFill>
        <p:spPr>
          <a:xfrm>
            <a:off x="2351088" y="2357819"/>
            <a:ext cx="748728" cy="2665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529" y="2366962"/>
            <a:ext cx="1157288" cy="29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6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사용자 지정 4">
      <a:majorFont>
        <a:latin typeface="나눔명조"/>
        <a:ea typeface="나눔명조"/>
        <a:cs typeface=""/>
      </a:majorFont>
      <a:minorFont>
        <a:latin typeface="나눔바른고딕 UltraLight"/>
        <a:ea typeface="나눔바른고딕 Ul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3384</TotalTime>
  <Words>483</Words>
  <Application>Microsoft Office PowerPoint</Application>
  <PresentationFormat>와이드스크린</PresentationFormat>
  <Paragraphs>140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Cambria Math</vt:lpstr>
      <vt:lpstr>나눔명조</vt:lpstr>
      <vt:lpstr>Arial</vt:lpstr>
      <vt:lpstr>나눔바른고딕 UltraLight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이성은</dc:creator>
  <cp:lastModifiedBy>이 호준</cp:lastModifiedBy>
  <cp:revision>117</cp:revision>
  <cp:lastPrinted>2019-03-01T02:29:41Z</cp:lastPrinted>
  <dcterms:created xsi:type="dcterms:W3CDTF">2017-09-14T04:28:56Z</dcterms:created>
  <dcterms:modified xsi:type="dcterms:W3CDTF">2019-06-08T10:24:58Z</dcterms:modified>
</cp:coreProperties>
</file>