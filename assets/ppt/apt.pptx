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29" r:id="rId3"/>
    <p:sldId id="257" r:id="rId4"/>
    <p:sldId id="415" r:id="rId5"/>
    <p:sldId id="416" r:id="rId6"/>
    <p:sldId id="418" r:id="rId7"/>
    <p:sldId id="419" r:id="rId8"/>
    <p:sldId id="420" r:id="rId9"/>
    <p:sldId id="421" r:id="rId10"/>
    <p:sldId id="422" r:id="rId11"/>
    <p:sldId id="428" r:id="rId12"/>
    <p:sldId id="423" r:id="rId13"/>
    <p:sldId id="424" r:id="rId14"/>
    <p:sldId id="425" r:id="rId15"/>
    <p:sldId id="426" r:id="rId16"/>
    <p:sldId id="414" r:id="rId17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pos="1005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5998"/>
    <a:srgbClr val="658DC6"/>
    <a:srgbClr val="E7E6E6"/>
    <a:srgbClr val="C72C0D"/>
    <a:srgbClr val="ADC2E1"/>
    <a:srgbClr val="6AB2FA"/>
    <a:srgbClr val="8345A9"/>
    <a:srgbClr val="009A30"/>
    <a:srgbClr val="0481F2"/>
    <a:srgbClr val="8DC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84" autoAdjust="0"/>
    <p:restoredTop sz="71192"/>
  </p:normalViewPr>
  <p:slideViewPr>
    <p:cSldViewPr snapToGrid="0" showGuides="1">
      <p:cViewPr>
        <p:scale>
          <a:sx n="87" d="100"/>
          <a:sy n="87" d="100"/>
        </p:scale>
        <p:origin x="992" y="-88"/>
      </p:cViewPr>
      <p:guideLst>
        <p:guide orient="horz" pos="799"/>
        <p:guide pos="3840"/>
        <p:guide pos="143"/>
        <p:guide pos="1005"/>
        <p:guide pos="746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DB0D5-D955-43C0-B8C6-771DD7DF6A8B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CB7B5-3B91-4FB1-9904-3D50828F9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45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Good morning.</a:t>
            </a:r>
          </a:p>
          <a:p>
            <a:r>
              <a:rPr kumimoji="1" lang="en-US" altLang="ko-KR" dirty="0"/>
              <a:t>My name is </a:t>
            </a:r>
            <a:r>
              <a:rPr kumimoji="1" lang="en-US" altLang="ko-KR" dirty="0" err="1"/>
              <a:t>Hojoon</a:t>
            </a:r>
            <a:r>
              <a:rPr kumimoji="1" lang="en-US" altLang="ko-KR" dirty="0"/>
              <a:t> Lee.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Today I will introduce the paper called APT, behavior from the void: unsupervised active pre-training.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unsupervised reinforcement learning</a:t>
            </a:r>
          </a:p>
          <a:p>
            <a:r>
              <a:rPr kumimoji="1" lang="en-US" altLang="ko-KR" dirty="0"/>
              <a:t>which is from </a:t>
            </a:r>
            <a:r>
              <a:rPr kumimoji="1" lang="en-US" altLang="ko-KR" dirty="0" err="1"/>
              <a:t>pieter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abbeel's</a:t>
            </a:r>
            <a:r>
              <a:rPr kumimoji="1" lang="en-US" altLang="ko-KR" dirty="0"/>
              <a:t> lab.</a:t>
            </a:r>
          </a:p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734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As you may already know.</a:t>
            </a:r>
          </a:p>
          <a:p>
            <a:r>
              <a:rPr kumimoji="1" lang="en-US" altLang="ko-KR" dirty="0"/>
              <a:t>unsupervised pre-training has obtained promising results in both computer vision and natural langue processing tasks.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In computer vision, a notable work is </a:t>
            </a:r>
            <a:r>
              <a:rPr kumimoji="1" lang="en-US" altLang="ko-KR" dirty="0" err="1"/>
              <a:t>SimCLR</a:t>
            </a:r>
            <a:r>
              <a:rPr kumimoji="1" lang="en-US" altLang="ko-KR" dirty="0"/>
              <a:t> </a:t>
            </a:r>
            <a:r>
              <a:rPr lang="en" altLang="ko-KR" dirty="0"/>
              <a:t>which learns representations by maximizing agreement between differently augmented views of the same data example via a contrastive loss in the latent space</a:t>
            </a:r>
            <a:endParaRPr kumimoji="1" lang="en-US" altLang="ko-KR" dirty="0"/>
          </a:p>
          <a:p>
            <a:r>
              <a:rPr kumimoji="1" lang="en-US" altLang="ko-KR" dirty="0"/>
              <a:t>In natural langue processing, BERT, learns the representations by filling the masked word in the sentence.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19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Experimental protocol for the unsupervised pre-training in reinforcement learning.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supervised </a:t>
            </a:r>
            <a:r>
              <a:rPr kumimoji="1" lang="en-US" altLang="ko-KR" dirty="0" err="1"/>
              <a:t>rl</a:t>
            </a:r>
            <a:r>
              <a:rPr kumimoji="1" lang="en-US" altLang="ko-KR" dirty="0"/>
              <a:t>: extrinsic reward</a:t>
            </a:r>
          </a:p>
          <a:p>
            <a:r>
              <a:rPr kumimoji="1" lang="en-US" altLang="ko-KR" dirty="0"/>
              <a:t>unsupervised </a:t>
            </a:r>
            <a:r>
              <a:rPr kumimoji="1" lang="en-US" altLang="ko-KR" dirty="0" err="1"/>
              <a:t>rl</a:t>
            </a:r>
            <a:r>
              <a:rPr kumimoji="1" lang="en-US" altLang="ko-KR" dirty="0"/>
              <a:t>: agent has no access to the extrinsic reward. We don't have any knowledge about what will be the future task the agent would like to accomplish.</a:t>
            </a:r>
          </a:p>
          <a:p>
            <a:r>
              <a:rPr kumimoji="1" lang="en-US" altLang="ko-KR" dirty="0" err="1"/>
              <a:t>Therefore,r_intrinisic</a:t>
            </a:r>
            <a:r>
              <a:rPr kumimoji="1" lang="en-US" altLang="ko-KR" dirty="0"/>
              <a:t>: reward from self-supervised task.</a:t>
            </a:r>
          </a:p>
          <a:p>
            <a:r>
              <a:rPr kumimoji="1" lang="en-US" altLang="ko-KR" dirty="0"/>
              <a:t>In other word, the agent is allowed to interact with the environment but does not receive reward from the environment.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At fine-tuning state,  interacts with the environment </a:t>
            </a:r>
          </a:p>
          <a:p>
            <a:r>
              <a:rPr kumimoji="1" lang="en-US" altLang="ko-KR" dirty="0"/>
              <a:t>extrinsic reward.</a:t>
            </a:r>
          </a:p>
          <a:p>
            <a:r>
              <a:rPr kumimoji="1" lang="en-US" altLang="ko-KR" dirty="0"/>
              <a:t>To test whether the agent has learned the meaningful representation at the pre-training stage.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60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representative paper of unsupervised pre-training.</a:t>
            </a:r>
            <a:endParaRPr kumimoji="1" lang="ko-KR" altLang="en-US" dirty="0"/>
          </a:p>
          <a:p>
            <a:endParaRPr kumimoji="1" lang="en-US" altLang="ko-KR" dirty="0"/>
          </a:p>
          <a:p>
            <a:r>
              <a:rPr kumimoji="1" lang="en-US" altLang="ko-KR" dirty="0"/>
              <a:t>DIAYN's intrinsic reward is based on maximizing~~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first row: ~~</a:t>
            </a:r>
          </a:p>
          <a:p>
            <a:r>
              <a:rPr kumimoji="1" lang="en-US" altLang="ko-KR" dirty="0"/>
              <a:t>Since posterior distribution of the latent is intractable -&gt; variational lower bound</a:t>
            </a:r>
          </a:p>
          <a:p>
            <a:r>
              <a:rPr kumimoji="1" lang="en-US" altLang="ko-KR" dirty="0"/>
              <a:t>q(</a:t>
            </a:r>
            <a:r>
              <a:rPr kumimoji="1" lang="en-US" altLang="ko-KR" dirty="0" err="1"/>
              <a:t>w|s</a:t>
            </a:r>
            <a:r>
              <a:rPr kumimoji="1" lang="en-US" altLang="ko-KR" dirty="0"/>
              <a:t>): </a:t>
            </a:r>
            <a:r>
              <a:rPr kumimoji="1" lang="en-US" altLang="ko-KR" dirty="0" err="1"/>
              <a:t>distinguishalbe</a:t>
            </a:r>
            <a:r>
              <a:rPr kumimoji="1" lang="en-US" altLang="ko-KR" dirty="0"/>
              <a:t>, p(w): diverse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Our goal is to obtain the policies that are distinguishable and diverse as possible conditioned on the policy latent w.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240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However, if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843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entropy(z) = blah blah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this is proportional to the volume of each data point.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The volume is defined by the distance between the data point and its k-nearest neighbor.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Removing the constant term, the entropy is proportional to the distance between each sampled point and its k nearest neighbor.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85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SimCLR</a:t>
            </a:r>
            <a:r>
              <a:rPr kumimoji="1" lang="en-US" altLang="ko-KR" dirty="0"/>
              <a:t> </a:t>
            </a:r>
            <a:r>
              <a:rPr lang="en" altLang="ko-KR" dirty="0"/>
              <a:t>which learns representations by maximizing agreement between differently augmented views of the same data example via a contrastive loss in the latent space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734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Training APT on actor-critic algorithm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695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Different from the previous slides, the sample efficient baselines are trained without pre-training.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The superior performance of the APT verifies the importance of pre-training in reinforcement learning agent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98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Again,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CB7B5-3B91-4FB1-9904-3D50828F949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658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2823E-E729-43D3-8D5E-34284C6AB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BDE6A7-35A9-493C-8F2E-9085E0F45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399" indent="0" algn="ctr">
              <a:buNone/>
              <a:defRPr sz="1801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1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913CF-F3BA-4096-BE71-9AB7B668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6900A-D290-4B14-AD17-43719425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4D574-3F02-4F5D-9538-32C4C093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2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DC867-D89E-441B-A3BB-89289615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622A7-B253-4040-AB29-2C087F7AD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24807-8EE5-487E-9229-7E7268B1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D0A7CD-46BB-4496-A1D4-B5DF6540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B5BD74-AFF9-4559-ACFF-61B91E94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73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F9A14-B3AF-4D05-B771-C9628CA5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267CB8-3122-4805-88E5-A091F58C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9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BF0A2-16D9-4623-9289-032748B7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534A6-BED2-4DD1-88B9-33E8763C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1A64E4-FF15-453E-B714-180B7231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97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49D40-5A96-47CC-B027-ACF88DFC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4CC5BA-0A24-4F7D-9975-ED063378B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941558-3C91-45DB-ABC2-05700CABF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4A16BE-2428-41AA-BDC6-F747CBC6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7AE334-C00E-46AA-8C9F-6E2A6216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9A530-2995-4BB6-913F-2DE99F27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49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CDFB3-DD3A-4054-AFDF-E32BB021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2514-0FE9-4E9A-8A6B-27B7FE9A5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399" indent="0">
              <a:buNone/>
              <a:defRPr sz="1801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1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AFE39D-F69D-4E1C-8325-1B9EE5EC1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CDD0D8-D6B7-4AFA-BBD5-D1CD389FF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399" indent="0">
              <a:buNone/>
              <a:defRPr sz="1801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1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DB117F-7D51-4D24-9B2F-29866DB8E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6C985A-A36E-4730-9ED7-2A0847D3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81BC75-57D4-4E95-A84C-E3DCEA1E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A04195-61D5-43AF-916E-9C7170C9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60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772EB-7481-4F30-84B1-F4D01367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E8C615-1484-4A20-9AC2-1A92F57D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BF092C-BFB3-4FF4-916B-54D56E10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2AD535-5825-4F12-B8E4-8F995E68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32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3974AA-D327-4789-988E-38E97980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EF0ECF-7199-4E24-BDD7-49FEBAA4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FFA47-13E1-43B8-9A86-17AC91CD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55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2F7FB-F42A-4E2F-B37B-55EA982E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FB187-5E93-4758-BEE2-ABC00B28A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31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95A3DE-7EED-4C6B-8A73-D2523AD06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1"/>
            </a:lvl2pPr>
            <a:lvl3pPr marL="914399" indent="0">
              <a:buNone/>
              <a:defRPr sz="1200"/>
            </a:lvl3pPr>
            <a:lvl4pPr marL="1371600" indent="0">
              <a:buNone/>
              <a:defRPr sz="1001"/>
            </a:lvl4pPr>
            <a:lvl5pPr marL="1828800" indent="0">
              <a:buNone/>
              <a:defRPr sz="1001"/>
            </a:lvl5pPr>
            <a:lvl6pPr marL="2286001" indent="0">
              <a:buNone/>
              <a:defRPr sz="1001"/>
            </a:lvl6pPr>
            <a:lvl7pPr marL="2743200" indent="0">
              <a:buNone/>
              <a:defRPr sz="1001"/>
            </a:lvl7pPr>
            <a:lvl8pPr marL="3200400" indent="0">
              <a:buNone/>
              <a:defRPr sz="1001"/>
            </a:lvl8pPr>
            <a:lvl9pPr marL="365760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9B6977-02B7-4EB3-8BA8-8FC67FD4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3997A1-7BC5-48AF-8B73-9E1FC911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22FA46-47D3-4EF1-BC8C-0A9A7656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36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D5D8B-4CF5-4A16-AE07-97FD73EA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A1BF7C-58A8-4C77-ABCB-84CFE2DBA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31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399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1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7FB22F-4982-4523-BDB4-7B807294C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1"/>
            </a:lvl2pPr>
            <a:lvl3pPr marL="914399" indent="0">
              <a:buNone/>
              <a:defRPr sz="1200"/>
            </a:lvl3pPr>
            <a:lvl4pPr marL="1371600" indent="0">
              <a:buNone/>
              <a:defRPr sz="1001"/>
            </a:lvl4pPr>
            <a:lvl5pPr marL="1828800" indent="0">
              <a:buNone/>
              <a:defRPr sz="1001"/>
            </a:lvl5pPr>
            <a:lvl6pPr marL="2286001" indent="0">
              <a:buNone/>
              <a:defRPr sz="1001"/>
            </a:lvl6pPr>
            <a:lvl7pPr marL="2743200" indent="0">
              <a:buNone/>
              <a:defRPr sz="1001"/>
            </a:lvl7pPr>
            <a:lvl8pPr marL="3200400" indent="0">
              <a:buNone/>
              <a:defRPr sz="1001"/>
            </a:lvl8pPr>
            <a:lvl9pPr marL="365760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3F5D52-08A6-4E5B-8BE1-E5BEB445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3A35C-EC20-4287-8024-C1256230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3A3C88-7C87-4374-A3B8-E1AA1616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1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4E34E-5AD3-4E42-AE24-DBB8FC6F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4E98AE-B7BD-4A08-B4AE-75D9BFBB2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4E244-9D3C-4C94-AAA6-1723716F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1807A-E3E6-4D6B-821E-802D4014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C2890-AAAF-4CE7-A8EA-AC9E5C14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01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9F50E2-EFA8-4FBC-AA41-58B762F74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E057EF-F694-49DD-AFD7-715B668CC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C970A-D635-4283-9220-5286F5AA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CD692-97CE-4C59-B55B-AFC973C9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D6FE3-42B4-4D87-982B-B5E08744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28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B05311-7553-4291-BFD7-B904109F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F2E9A-B52D-496F-BB6E-F72CD2893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101E9-CCB7-4926-AA5B-C73AD70CD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165A-F148-476D-A4EE-D83E0E67C23C}" type="datetimeFigureOut">
              <a:rPr lang="ko-KR" altLang="en-US" smtClean="0"/>
              <a:t>2022. 5. 31.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57B4A-7916-4C12-A670-C1EBA29E1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D3293F-2D7E-4A97-99AD-AAC7146C1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52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9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99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1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1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99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1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7ECDBA-CD06-47AB-BA3E-443F9106DB6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820AE0-3A26-4A48-8E07-8F0AE25951C1}"/>
              </a:ext>
            </a:extLst>
          </p:cNvPr>
          <p:cNvSpPr/>
          <p:nvPr/>
        </p:nvSpPr>
        <p:spPr>
          <a:xfrm>
            <a:off x="0" y="2348733"/>
            <a:ext cx="12192000" cy="142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latin typeface="NanumGothic" panose="020D0604000000000000" pitchFamily="34" charset="-127"/>
                <a:ea typeface="NanumGothic" panose="020D0604000000000000" pitchFamily="34" charset="-127"/>
              </a:rPr>
              <a:t>(APT) Behavior From the Void:</a:t>
            </a:r>
            <a:br>
              <a:rPr lang="en-US" altLang="ko-KR" sz="40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4000" dirty="0">
                <a:latin typeface="NanumGothic" panose="020D0604000000000000" pitchFamily="34" charset="-127"/>
                <a:ea typeface="NanumGothic" panose="020D0604000000000000" pitchFamily="34" charset="-127"/>
              </a:rPr>
              <a:t>Unsupervised Active Pre-Training</a:t>
            </a:r>
            <a:endParaRPr lang="ko-KR" altLang="en-US" sz="36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DC5E87-EFD6-4E2A-B25A-620F39393DDC}"/>
              </a:ext>
            </a:extLst>
          </p:cNvPr>
          <p:cNvSpPr/>
          <p:nvPr/>
        </p:nvSpPr>
        <p:spPr>
          <a:xfrm>
            <a:off x="3048000" y="3677697"/>
            <a:ext cx="6096000" cy="58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Hao Liu and Pieter </a:t>
            </a:r>
            <a:r>
              <a:rPr lang="en-US" altLang="ko-KR" sz="24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Abbeel</a:t>
            </a:r>
            <a:r>
              <a:rPr lang="en-US" altLang="ko-KR" sz="2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-US" altLang="ko-KR" sz="24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NeurIPS</a:t>
            </a:r>
            <a:r>
              <a:rPr lang="en-US" altLang="ko-KR" sz="2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2021</a:t>
            </a:r>
            <a:endParaRPr lang="ko-KR" altLang="en-US" sz="2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E9A2D0-2A7F-3968-5E4B-36452A5E9CD2}"/>
              </a:ext>
            </a:extLst>
          </p:cNvPr>
          <p:cNvSpPr/>
          <p:nvPr/>
        </p:nvSpPr>
        <p:spPr>
          <a:xfrm>
            <a:off x="3130062" y="4903417"/>
            <a:ext cx="6096000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Presenter: </a:t>
            </a:r>
            <a:r>
              <a:rPr lang="en-US" altLang="ko-KR" sz="20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Hojoon</a:t>
            </a:r>
            <a:r>
              <a:rPr lang="en-US" altLang="ko-KR" sz="2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Lee</a:t>
            </a:r>
            <a:br>
              <a:rPr lang="en-US" altLang="ko-KR" sz="2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2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2022.05.18</a:t>
            </a:r>
          </a:p>
        </p:txBody>
      </p:sp>
    </p:spTree>
    <p:extLst>
      <p:ext uri="{BB962C8B-B14F-4D97-AF65-F5344CB8AC3E}">
        <p14:creationId xmlns:p14="http://schemas.microsoft.com/office/powerpoint/2010/main" val="205362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Contents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Related Works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9" name="object 45">
            <a:extLst>
              <a:ext uri="{FF2B5EF4-FFF2-40B4-BE49-F238E27FC236}">
                <a16:creationId xmlns:a16="http://schemas.microsoft.com/office/drawing/2014/main" id="{0C879005-79F2-4C30-49B9-D937793EA5B4}"/>
              </a:ext>
            </a:extLst>
          </p:cNvPr>
          <p:cNvSpPr txBox="1"/>
          <p:nvPr/>
        </p:nvSpPr>
        <p:spPr>
          <a:xfrm>
            <a:off x="239892" y="2540548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Method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2" name="object 45">
            <a:extLst>
              <a:ext uri="{FF2B5EF4-FFF2-40B4-BE49-F238E27FC236}">
                <a16:creationId xmlns:a16="http://schemas.microsoft.com/office/drawing/2014/main" id="{B55733F4-1E54-BB70-D287-DA39EB8600BE}"/>
              </a:ext>
            </a:extLst>
          </p:cNvPr>
          <p:cNvSpPr txBox="1"/>
          <p:nvPr/>
        </p:nvSpPr>
        <p:spPr>
          <a:xfrm>
            <a:off x="732985" y="1486578"/>
            <a:ext cx="9691176" cy="2891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Unsupervised Reinforcement Learning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7" name="object 45">
            <a:extLst>
              <a:ext uri="{FF2B5EF4-FFF2-40B4-BE49-F238E27FC236}">
                <a16:creationId xmlns:a16="http://schemas.microsoft.com/office/drawing/2014/main" id="{B3473C7B-BAE2-B77A-A8FE-704790936E52}"/>
              </a:ext>
            </a:extLst>
          </p:cNvPr>
          <p:cNvSpPr txBox="1"/>
          <p:nvPr/>
        </p:nvSpPr>
        <p:spPr>
          <a:xfrm>
            <a:off x="732985" y="1948591"/>
            <a:ext cx="9691176" cy="2891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Diversity is all you need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8" name="object 45">
            <a:extLst>
              <a:ext uri="{FF2B5EF4-FFF2-40B4-BE49-F238E27FC236}">
                <a16:creationId xmlns:a16="http://schemas.microsoft.com/office/drawing/2014/main" id="{AFB584F0-139A-D2F3-625D-80CAA033AE4E}"/>
              </a:ext>
            </a:extLst>
          </p:cNvPr>
          <p:cNvSpPr txBox="1"/>
          <p:nvPr/>
        </p:nvSpPr>
        <p:spPr>
          <a:xfrm>
            <a:off x="732985" y="3150725"/>
            <a:ext cx="9691176" cy="2891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Mutual Information Maximization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9" name="object 45">
            <a:extLst>
              <a:ext uri="{FF2B5EF4-FFF2-40B4-BE49-F238E27FC236}">
                <a16:creationId xmlns:a16="http://schemas.microsoft.com/office/drawing/2014/main" id="{834FFBF3-7911-A58C-5789-FBA23A0E1EAB}"/>
              </a:ext>
            </a:extLst>
          </p:cNvPr>
          <p:cNvSpPr txBox="1"/>
          <p:nvPr/>
        </p:nvSpPr>
        <p:spPr>
          <a:xfrm>
            <a:off x="732985" y="3612738"/>
            <a:ext cx="9691176" cy="2891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Contrastive Learning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20" name="object 45">
            <a:extLst>
              <a:ext uri="{FF2B5EF4-FFF2-40B4-BE49-F238E27FC236}">
                <a16:creationId xmlns:a16="http://schemas.microsoft.com/office/drawing/2014/main" id="{AA91A98C-CD3F-61F0-570B-AE5560ABF79F}"/>
              </a:ext>
            </a:extLst>
          </p:cNvPr>
          <p:cNvSpPr txBox="1"/>
          <p:nvPr/>
        </p:nvSpPr>
        <p:spPr>
          <a:xfrm>
            <a:off x="239892" y="4352859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Experiments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21" name="object 45">
            <a:extLst>
              <a:ext uri="{FF2B5EF4-FFF2-40B4-BE49-F238E27FC236}">
                <a16:creationId xmlns:a16="http://schemas.microsoft.com/office/drawing/2014/main" id="{FA5E2D48-9574-E363-0C8A-A9523696AA74}"/>
              </a:ext>
            </a:extLst>
          </p:cNvPr>
          <p:cNvSpPr txBox="1"/>
          <p:nvPr/>
        </p:nvSpPr>
        <p:spPr>
          <a:xfrm>
            <a:off x="239892" y="5011635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Limitations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569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4370" y="6314867"/>
            <a:ext cx="56990" cy="10737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637" dirty="0">
                <a:solidFill>
                  <a:srgbClr val="4080FF"/>
                </a:solidFill>
                <a:latin typeface="나눔스퀘어 Bold" panose="020B0600000101010101" pitchFamily="50" charset="-127"/>
                <a:cs typeface="Calibri"/>
              </a:rPr>
              <a:t>2</a:t>
            </a:r>
            <a:endParaRPr sz="637" dirty="0">
              <a:latin typeface="나눔스퀘어 Bold" panose="020B0600000101010101" pitchFamily="50" charset="-127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9892" y="974862"/>
            <a:ext cx="12052521" cy="316322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Unsupervised pre-training has obtained promising results in CV and NLP.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Success story of Unsupervised Pre-training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8337FAB-5FBE-4154-84C6-190FAE7CACA4}"/>
              </a:ext>
            </a:extLst>
          </p:cNvPr>
          <p:cNvSpPr/>
          <p:nvPr/>
        </p:nvSpPr>
        <p:spPr>
          <a:xfrm>
            <a:off x="167640" y="3453400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Success story of supervision: Pre-training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39A49651-C9BE-0B4D-126B-DA87223B6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880" y="1454414"/>
            <a:ext cx="4236369" cy="4608798"/>
          </a:xfrm>
          <a:prstGeom prst="rect">
            <a:avLst/>
          </a:prstGeom>
        </p:spPr>
      </p:pic>
      <p:pic>
        <p:nvPicPr>
          <p:cNvPr id="1030" name="Picture 6" descr="BERT(Bidirectional Encoder Representations from Transformers) 구현하기 (1/2) |  Reinforce NLP">
            <a:extLst>
              <a:ext uri="{FF2B5EF4-FFF2-40B4-BE49-F238E27FC236}">
                <a16:creationId xmlns:a16="http://schemas.microsoft.com/office/drawing/2014/main" id="{44166242-B0E0-07AE-BCAF-C7743986E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753" y="1839540"/>
            <a:ext cx="4424836" cy="383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object 45">
            <a:extLst>
              <a:ext uri="{FF2B5EF4-FFF2-40B4-BE49-F238E27FC236}">
                <a16:creationId xmlns:a16="http://schemas.microsoft.com/office/drawing/2014/main" id="{6B3D9BDE-5779-1F09-9A76-BE6FA1CA8F3F}"/>
              </a:ext>
            </a:extLst>
          </p:cNvPr>
          <p:cNvSpPr txBox="1"/>
          <p:nvPr/>
        </p:nvSpPr>
        <p:spPr>
          <a:xfrm>
            <a:off x="1395009" y="5937482"/>
            <a:ext cx="4236369" cy="285481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 algn="ctr">
              <a:lnSpc>
                <a:spcPct val="1065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SimCLR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57" name="object 45">
            <a:extLst>
              <a:ext uri="{FF2B5EF4-FFF2-40B4-BE49-F238E27FC236}">
                <a16:creationId xmlns:a16="http://schemas.microsoft.com/office/drawing/2014/main" id="{0C496059-186A-9B57-1DE1-2BFCEBE5BC6B}"/>
              </a:ext>
            </a:extLst>
          </p:cNvPr>
          <p:cNvSpPr txBox="1"/>
          <p:nvPr/>
        </p:nvSpPr>
        <p:spPr>
          <a:xfrm>
            <a:off x="6597913" y="5766301"/>
            <a:ext cx="4236369" cy="285481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 algn="ctr">
              <a:lnSpc>
                <a:spcPct val="1065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BERT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A50D9F-F083-1AC3-1B15-C68908320F69}"/>
              </a:ext>
            </a:extLst>
          </p:cNvPr>
          <p:cNvSpPr txBox="1"/>
          <p:nvPr/>
        </p:nvSpPr>
        <p:spPr>
          <a:xfrm>
            <a:off x="239892" y="6242868"/>
            <a:ext cx="11841618" cy="570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[1]</a:t>
            </a:r>
            <a:r>
              <a:rPr lang="ko-KR" altLang="en-US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 simple framework for contrastive learning of visual representations.,</a:t>
            </a:r>
            <a:r>
              <a:rPr lang="ko-KR" altLang="en-US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Chen et al., ICML, 2020.</a:t>
            </a:r>
            <a:b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[2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] BERT: Pre-training of Deep Bidirectional Transformers for Language Understanding., Devlin et al., NAACL, 2019.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4370" y="6237593"/>
            <a:ext cx="56990" cy="10737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637" dirty="0">
                <a:solidFill>
                  <a:srgbClr val="4080FF"/>
                </a:solidFill>
                <a:latin typeface="나눔스퀘어 Bold" panose="020B0600000101010101" pitchFamily="50" charset="-127"/>
                <a:cs typeface="Calibri"/>
              </a:rPr>
              <a:t>2</a:t>
            </a:r>
            <a:endParaRPr sz="637" dirty="0">
              <a:latin typeface="나눔스퀘어 Bold" panose="020B0600000101010101" pitchFamily="50" charset="-127"/>
              <a:cs typeface="Calibri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Unsupervised Pre-training in Reinforcement Learning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8337FAB-5FBE-4154-84C6-190FAE7CACA4}"/>
              </a:ext>
            </a:extLst>
          </p:cNvPr>
          <p:cNvSpPr/>
          <p:nvPr/>
        </p:nvSpPr>
        <p:spPr>
          <a:xfrm>
            <a:off x="167640" y="3376126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Success story of supervision: Pre-training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5D6307-0318-608B-5B71-AD6089F207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8"/>
          <a:stretch/>
        </p:blipFill>
        <p:spPr bwMode="auto">
          <a:xfrm>
            <a:off x="0" y="764107"/>
            <a:ext cx="12192000" cy="569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object 45"/>
          <p:cNvSpPr txBox="1"/>
          <p:nvPr/>
        </p:nvSpPr>
        <p:spPr>
          <a:xfrm>
            <a:off x="4239643" y="967193"/>
            <a:ext cx="3005584" cy="31632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Unsupervised RL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2" name="object 45">
            <a:extLst>
              <a:ext uri="{FF2B5EF4-FFF2-40B4-BE49-F238E27FC236}">
                <a16:creationId xmlns:a16="http://schemas.microsoft.com/office/drawing/2014/main" id="{791E92AA-4A28-7A07-4934-65EC86FDDEAA}"/>
              </a:ext>
            </a:extLst>
          </p:cNvPr>
          <p:cNvSpPr txBox="1"/>
          <p:nvPr/>
        </p:nvSpPr>
        <p:spPr>
          <a:xfrm>
            <a:off x="239892" y="967193"/>
            <a:ext cx="3999750" cy="31632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Supervised RL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3" name="object 45">
            <a:extLst>
              <a:ext uri="{FF2B5EF4-FFF2-40B4-BE49-F238E27FC236}">
                <a16:creationId xmlns:a16="http://schemas.microsoft.com/office/drawing/2014/main" id="{561CAE4A-1E9F-7082-0973-4D5B1160BC62}"/>
              </a:ext>
            </a:extLst>
          </p:cNvPr>
          <p:cNvSpPr txBox="1"/>
          <p:nvPr/>
        </p:nvSpPr>
        <p:spPr>
          <a:xfrm>
            <a:off x="7933385" y="967193"/>
            <a:ext cx="3554569" cy="31632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Finetuning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7B74F3F-5A96-2D51-B89D-61AF43811DE1}"/>
              </a:ext>
            </a:extLst>
          </p:cNvPr>
          <p:cNvCxnSpPr>
            <a:cxnSpLocks/>
          </p:cNvCxnSpPr>
          <p:nvPr/>
        </p:nvCxnSpPr>
        <p:spPr>
          <a:xfrm>
            <a:off x="7232348" y="3644720"/>
            <a:ext cx="6881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40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4370" y="6314867"/>
            <a:ext cx="56990" cy="10737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637" dirty="0">
                <a:solidFill>
                  <a:srgbClr val="4080FF"/>
                </a:solidFill>
                <a:latin typeface="나눔스퀘어 Bold" panose="020B0600000101010101" pitchFamily="50" charset="-127"/>
                <a:cs typeface="Calibri"/>
              </a:rPr>
              <a:t>2</a:t>
            </a:r>
            <a:endParaRPr sz="637" dirty="0">
              <a:latin typeface="나눔스퀘어 Bold" panose="020B0600000101010101" pitchFamily="50" charset="-127"/>
              <a:cs typeface="Calibri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(Preliminary) DIAYN: Diversity is all you need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0F157A81-50B1-045F-8D66-CFE564684727}"/>
                  </a:ext>
                </a:extLst>
              </p:cNvPr>
              <p:cNvSpPr txBox="1"/>
              <p:nvPr/>
            </p:nvSpPr>
            <p:spPr>
              <a:xfrm>
                <a:off x="239892" y="974862"/>
                <a:ext cx="12052521" cy="316322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350408" marR="3081" indent="-343092">
                  <a:lnSpc>
                    <a:spcPct val="106500"/>
                  </a:lnSpc>
                  <a:spcBef>
                    <a:spcPts val="61"/>
                  </a:spcBef>
                  <a:buFont typeface="Arial"/>
                  <a:buChar char="•"/>
                  <a:tabLst>
                    <a:tab pos="350408" algn="l"/>
                    <a:tab pos="350793" algn="l"/>
                  </a:tabLst>
                </a:pPr>
                <a:r>
                  <a:rPr lang="en-US" sz="2000" b="1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DIAYN</a:t>
                </a:r>
                <a:r>
                  <a:rPr lang="en-US" sz="2000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: maximize the </a:t>
                </a:r>
                <a:r>
                  <a:rPr lang="en-US" sz="2000" u="sng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mutual information </a:t>
                </a:r>
                <a:r>
                  <a:rPr lang="en-US" sz="2000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between policy-conditioned latent </a:t>
                </a:r>
                <a14:m>
                  <m:oMath xmlns:m="http://schemas.openxmlformats.org/officeDocument/2006/math">
                    <m: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 and state </a:t>
                </a:r>
                <a14:m>
                  <m:oMath xmlns:m="http://schemas.openxmlformats.org/officeDocument/2006/math">
                    <m:r>
                      <a:rPr kumimoji="1" lang="en-US" altLang="ko-KR" sz="200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 dirty="0">
                  <a:latin typeface="NanumGothic" panose="020D0604000000000000" pitchFamily="34" charset="-127"/>
                  <a:ea typeface="NanumGothic" panose="020D0604000000000000" pitchFamily="34" charset="-127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0F157A81-50B1-045F-8D66-CFE564684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92" y="974862"/>
                <a:ext cx="12052521" cy="316322"/>
              </a:xfrm>
              <a:prstGeom prst="rect">
                <a:avLst/>
              </a:prstGeom>
              <a:blipFill>
                <a:blip r:embed="rId3"/>
                <a:stretch>
                  <a:fillRect l="-1053" t="-19231" b="-4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D7305-9750-3FB2-06E8-EDF470E08EF8}"/>
                  </a:ext>
                </a:extLst>
              </p:cNvPr>
              <p:cNvSpPr txBox="1"/>
              <p:nvPr/>
            </p:nvSpPr>
            <p:spPr>
              <a:xfrm>
                <a:off x="740692" y="1500863"/>
                <a:ext cx="44376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D7305-9750-3FB2-06E8-EDF470E08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1500863"/>
                <a:ext cx="4437625" cy="307777"/>
              </a:xfrm>
              <a:prstGeom prst="rect">
                <a:avLst/>
              </a:prstGeom>
              <a:blipFill>
                <a:blip r:embed="rId4"/>
                <a:stretch>
                  <a:fillRect l="-3143" t="-16000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413B0-BD4F-1A75-6AE1-BD385CC025A8}"/>
                  </a:ext>
                </a:extLst>
              </p:cNvPr>
              <p:cNvSpPr txBox="1"/>
              <p:nvPr/>
            </p:nvSpPr>
            <p:spPr>
              <a:xfrm>
                <a:off x="740692" y="2081493"/>
                <a:ext cx="4272773" cy="321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</m:fName>
                          <m:e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ko-KR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func>
                      </m:e>
                    </m:func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413B0-BD4F-1A75-6AE1-BD385CC0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2081493"/>
                <a:ext cx="4272773" cy="321178"/>
              </a:xfrm>
              <a:prstGeom prst="rect">
                <a:avLst/>
              </a:prstGeom>
              <a:blipFill>
                <a:blip r:embed="rId5"/>
                <a:stretch>
                  <a:fillRect l="-3264" t="-14815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구부러진 연결선[U] 5">
            <a:extLst>
              <a:ext uri="{FF2B5EF4-FFF2-40B4-BE49-F238E27FC236}">
                <a16:creationId xmlns:a16="http://schemas.microsoft.com/office/drawing/2014/main" id="{FD0B7746-EB71-69B3-30DD-FEDB8A762EED}"/>
              </a:ext>
            </a:extLst>
          </p:cNvPr>
          <p:cNvCxnSpPr>
            <a:stCxn id="3" idx="3"/>
            <a:endCxn id="14" idx="3"/>
          </p:cNvCxnSpPr>
          <p:nvPr/>
        </p:nvCxnSpPr>
        <p:spPr>
          <a:xfrm flipH="1">
            <a:off x="5013465" y="1654752"/>
            <a:ext cx="164852" cy="587330"/>
          </a:xfrm>
          <a:prstGeom prst="curvedConnector3">
            <a:avLst>
              <a:gd name="adj1" fmla="val -13867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147959-616E-FA4E-8DD9-D0046BFEF0DF}"/>
                  </a:ext>
                </a:extLst>
              </p:cNvPr>
              <p:cNvSpPr txBox="1"/>
              <p:nvPr/>
            </p:nvSpPr>
            <p:spPr>
              <a:xfrm>
                <a:off x="5443982" y="1773716"/>
                <a:ext cx="26305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0" smtClean="0">
                          <a:latin typeface="Cambria Math" panose="02040503050406030204" pitchFamily="18" charset="0"/>
                        </a:rPr>
                        <m:t>variational</m:t>
                      </m:r>
                      <m:r>
                        <a:rPr kumimoji="1"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ko-KR" b="0" i="0" smtClean="0">
                          <a:latin typeface="Cambria Math" panose="02040503050406030204" pitchFamily="18" charset="0"/>
                        </a:rPr>
                        <m:t>approximation</m:t>
                      </m:r>
                    </m:oMath>
                  </m:oMathPara>
                </a14:m>
                <a:endParaRPr kumimoji="1" lang="ko-KR" altLang="en-US" dirty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147959-616E-FA4E-8DD9-D0046BFEF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982" y="1773716"/>
                <a:ext cx="2630527" cy="276999"/>
              </a:xfrm>
              <a:prstGeom prst="rect">
                <a:avLst/>
              </a:prstGeom>
              <a:blipFill>
                <a:blip r:embed="rId6"/>
                <a:stretch>
                  <a:fillRect l="-1442" t="-8696" r="-2404" b="-34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B62FEC-7F53-2A36-C1E8-49E2F90E1876}"/>
                  </a:ext>
                </a:extLst>
              </p:cNvPr>
              <p:cNvSpPr txBox="1"/>
              <p:nvPr/>
            </p:nvSpPr>
            <p:spPr>
              <a:xfrm>
                <a:off x="740692" y="3480959"/>
                <a:ext cx="422359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intrinsic</m:t>
                        </m:r>
                      </m:sub>
                    </m:sSub>
                    <m: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func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B62FEC-7F53-2A36-C1E8-49E2F90E1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3480959"/>
                <a:ext cx="4223592" cy="307777"/>
              </a:xfrm>
              <a:prstGeom prst="rect">
                <a:avLst/>
              </a:prstGeom>
              <a:blipFill>
                <a:blip r:embed="rId7"/>
                <a:stretch>
                  <a:fillRect l="-3303" t="-16000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BAA0CB1-0C4E-51B0-F520-FE5C19704EFA}"/>
                  </a:ext>
                </a:extLst>
              </p:cNvPr>
              <p:cNvSpPr txBox="1"/>
              <p:nvPr/>
            </p:nvSpPr>
            <p:spPr>
              <a:xfrm>
                <a:off x="740692" y="4006284"/>
                <a:ext cx="1958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policy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BAA0CB1-0C4E-51B0-F520-FE5C19704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4006284"/>
                <a:ext cx="1958485" cy="276999"/>
              </a:xfrm>
              <a:prstGeom prst="rect">
                <a:avLst/>
              </a:prstGeom>
              <a:blipFill>
                <a:blip r:embed="rId8"/>
                <a:stretch>
                  <a:fillRect l="-6452" t="-13043" r="-4516" b="-43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DA73E4FF-A225-BC6A-AB62-BDB4749EC27A}"/>
              </a:ext>
            </a:extLst>
          </p:cNvPr>
          <p:cNvCxnSpPr>
            <a:cxnSpLocks/>
          </p:cNvCxnSpPr>
          <p:nvPr/>
        </p:nvCxnSpPr>
        <p:spPr>
          <a:xfrm>
            <a:off x="2635442" y="2415550"/>
            <a:ext cx="9164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D17DD7ED-F918-A8CF-E6C7-8E619E2A3F09}"/>
              </a:ext>
            </a:extLst>
          </p:cNvPr>
          <p:cNvCxnSpPr>
            <a:cxnSpLocks/>
          </p:cNvCxnSpPr>
          <p:nvPr/>
        </p:nvCxnSpPr>
        <p:spPr>
          <a:xfrm>
            <a:off x="3820298" y="2415550"/>
            <a:ext cx="91645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bject 45">
            <a:extLst>
              <a:ext uri="{FF2B5EF4-FFF2-40B4-BE49-F238E27FC236}">
                <a16:creationId xmlns:a16="http://schemas.microsoft.com/office/drawing/2014/main" id="{532C1994-D09F-BA5C-F96B-B8C9DC6F6241}"/>
              </a:ext>
            </a:extLst>
          </p:cNvPr>
          <p:cNvSpPr txBox="1"/>
          <p:nvPr/>
        </p:nvSpPr>
        <p:spPr>
          <a:xfrm>
            <a:off x="937299" y="2566236"/>
            <a:ext cx="4506683" cy="291572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 algn="ctr">
              <a:lnSpc>
                <a:spcPct val="1065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spc="-42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policy latent should be distinguishable</a:t>
            </a:r>
            <a:endParaRPr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5" name="object 45">
            <a:extLst>
              <a:ext uri="{FF2B5EF4-FFF2-40B4-BE49-F238E27FC236}">
                <a16:creationId xmlns:a16="http://schemas.microsoft.com/office/drawing/2014/main" id="{095DCEA8-13F1-1F15-1CE3-D1D9489412C2}"/>
              </a:ext>
            </a:extLst>
          </p:cNvPr>
          <p:cNvSpPr txBox="1"/>
          <p:nvPr/>
        </p:nvSpPr>
        <p:spPr>
          <a:xfrm>
            <a:off x="2025182" y="2998171"/>
            <a:ext cx="4506683" cy="291572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 algn="ctr">
              <a:lnSpc>
                <a:spcPct val="1065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spc="-42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policy latent should be diverse</a:t>
            </a:r>
            <a:endParaRPr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8BB49A-E635-8361-78F0-59110E8A470D}"/>
              </a:ext>
            </a:extLst>
          </p:cNvPr>
          <p:cNvSpPr txBox="1"/>
          <p:nvPr/>
        </p:nvSpPr>
        <p:spPr>
          <a:xfrm>
            <a:off x="239892" y="6242868"/>
            <a:ext cx="11841618" cy="54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[1]</a:t>
            </a:r>
            <a:r>
              <a:rPr lang="ko-KR" altLang="en-US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Diversity is all you need</a:t>
            </a: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.,</a:t>
            </a:r>
            <a:r>
              <a:rPr lang="ko-KR" altLang="en-US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5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Eysenbach</a:t>
            </a: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et al., ICLR, 2018.</a:t>
            </a:r>
            <a:b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[2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] </a:t>
            </a:r>
            <a:r>
              <a:rPr lang="en" altLang="ko-KR" sz="1050" dirty="0"/>
              <a:t>Explore, Discover and Learn: Unsupervised Discovery of State-Covering Skills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., Campos et al., ICML, 2020.</a:t>
            </a:r>
          </a:p>
        </p:txBody>
      </p:sp>
    </p:spTree>
    <p:extLst>
      <p:ext uri="{BB962C8B-B14F-4D97-AF65-F5344CB8AC3E}">
        <p14:creationId xmlns:p14="http://schemas.microsoft.com/office/powerpoint/2010/main" val="318105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4370" y="6314867"/>
            <a:ext cx="56990" cy="10737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637" dirty="0">
                <a:solidFill>
                  <a:srgbClr val="4080FF"/>
                </a:solidFill>
                <a:latin typeface="나눔스퀘어 Bold" panose="020B0600000101010101" pitchFamily="50" charset="-127"/>
                <a:cs typeface="Calibri"/>
              </a:rPr>
              <a:t>2</a:t>
            </a:r>
            <a:endParaRPr sz="637" dirty="0">
              <a:latin typeface="나눔스퀘어 Bold" panose="020B0600000101010101" pitchFamily="50" charset="-127"/>
              <a:cs typeface="Calibri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(Preliminary) DIAYN: Diversity is all you need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0F157A81-50B1-045F-8D66-CFE564684727}"/>
                  </a:ext>
                </a:extLst>
              </p:cNvPr>
              <p:cNvSpPr txBox="1"/>
              <p:nvPr/>
            </p:nvSpPr>
            <p:spPr>
              <a:xfrm>
                <a:off x="239892" y="974862"/>
                <a:ext cx="12052521" cy="316322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350408" marR="3081" indent="-343092">
                  <a:lnSpc>
                    <a:spcPct val="106500"/>
                  </a:lnSpc>
                  <a:spcBef>
                    <a:spcPts val="61"/>
                  </a:spcBef>
                  <a:buFont typeface="Arial"/>
                  <a:buChar char="•"/>
                  <a:tabLst>
                    <a:tab pos="350408" algn="l"/>
                    <a:tab pos="350793" algn="l"/>
                  </a:tabLst>
                </a:pPr>
                <a:r>
                  <a:rPr lang="en-US" sz="2000" b="1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DIAYN</a:t>
                </a:r>
                <a:r>
                  <a:rPr lang="en-US" sz="2000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: maximize the </a:t>
                </a:r>
                <a:r>
                  <a:rPr lang="en-US" sz="2000" u="sng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mutual information </a:t>
                </a:r>
                <a:r>
                  <a:rPr lang="en-US" sz="2000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between policy-conditioned latent </a:t>
                </a:r>
                <a14:m>
                  <m:oMath xmlns:m="http://schemas.openxmlformats.org/officeDocument/2006/math">
                    <m: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 and state </a:t>
                </a:r>
                <a14:m>
                  <m:oMath xmlns:m="http://schemas.openxmlformats.org/officeDocument/2006/math">
                    <m:r>
                      <a:rPr kumimoji="1" lang="en-US" altLang="ko-KR" sz="200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000" dirty="0">
                  <a:latin typeface="NanumGothic" panose="020D0604000000000000" pitchFamily="34" charset="-127"/>
                  <a:ea typeface="NanumGothic" panose="020D0604000000000000" pitchFamily="34" charset="-127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0F157A81-50B1-045F-8D66-CFE564684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92" y="974862"/>
                <a:ext cx="12052521" cy="316322"/>
              </a:xfrm>
              <a:prstGeom prst="rect">
                <a:avLst/>
              </a:prstGeom>
              <a:blipFill>
                <a:blip r:embed="rId3"/>
                <a:stretch>
                  <a:fillRect l="-1053" t="-19231" b="-4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D7305-9750-3FB2-06E8-EDF470E08EF8}"/>
                  </a:ext>
                </a:extLst>
              </p:cNvPr>
              <p:cNvSpPr txBox="1"/>
              <p:nvPr/>
            </p:nvSpPr>
            <p:spPr>
              <a:xfrm>
                <a:off x="740692" y="1500863"/>
                <a:ext cx="44376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D7305-9750-3FB2-06E8-EDF470E08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1500863"/>
                <a:ext cx="4437625" cy="307777"/>
              </a:xfrm>
              <a:prstGeom prst="rect">
                <a:avLst/>
              </a:prstGeom>
              <a:blipFill>
                <a:blip r:embed="rId4"/>
                <a:stretch>
                  <a:fillRect l="-3143" t="-16000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413B0-BD4F-1A75-6AE1-BD385CC025A8}"/>
                  </a:ext>
                </a:extLst>
              </p:cNvPr>
              <p:cNvSpPr txBox="1"/>
              <p:nvPr/>
            </p:nvSpPr>
            <p:spPr>
              <a:xfrm>
                <a:off x="740692" y="2081493"/>
                <a:ext cx="4272773" cy="321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</m:fName>
                          <m:e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ko-KR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func>
                      </m:e>
                    </m:func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A413B0-BD4F-1A75-6AE1-BD385CC0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2081493"/>
                <a:ext cx="4272773" cy="321178"/>
              </a:xfrm>
              <a:prstGeom prst="rect">
                <a:avLst/>
              </a:prstGeom>
              <a:blipFill>
                <a:blip r:embed="rId5"/>
                <a:stretch>
                  <a:fillRect l="-3264" t="-14815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구부러진 연결선[U] 5">
            <a:extLst>
              <a:ext uri="{FF2B5EF4-FFF2-40B4-BE49-F238E27FC236}">
                <a16:creationId xmlns:a16="http://schemas.microsoft.com/office/drawing/2014/main" id="{FD0B7746-EB71-69B3-30DD-FEDB8A762EED}"/>
              </a:ext>
            </a:extLst>
          </p:cNvPr>
          <p:cNvCxnSpPr>
            <a:stCxn id="3" idx="3"/>
            <a:endCxn id="14" idx="3"/>
          </p:cNvCxnSpPr>
          <p:nvPr/>
        </p:nvCxnSpPr>
        <p:spPr>
          <a:xfrm flipH="1">
            <a:off x="5013465" y="1654752"/>
            <a:ext cx="164852" cy="587330"/>
          </a:xfrm>
          <a:prstGeom prst="curvedConnector3">
            <a:avLst>
              <a:gd name="adj1" fmla="val -13867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147959-616E-FA4E-8DD9-D0046BFEF0DF}"/>
                  </a:ext>
                </a:extLst>
              </p:cNvPr>
              <p:cNvSpPr txBox="1"/>
              <p:nvPr/>
            </p:nvSpPr>
            <p:spPr>
              <a:xfrm>
                <a:off x="5443982" y="1773716"/>
                <a:ext cx="26305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0" smtClean="0">
                          <a:latin typeface="Cambria Math" panose="02040503050406030204" pitchFamily="18" charset="0"/>
                        </a:rPr>
                        <m:t>variational</m:t>
                      </m:r>
                      <m:r>
                        <a:rPr kumimoji="1"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ko-KR" b="0" i="0" smtClean="0">
                          <a:latin typeface="Cambria Math" panose="02040503050406030204" pitchFamily="18" charset="0"/>
                        </a:rPr>
                        <m:t>approximation</m:t>
                      </m:r>
                    </m:oMath>
                  </m:oMathPara>
                </a14:m>
                <a:endParaRPr kumimoji="1" lang="ko-KR" altLang="en-US" dirty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147959-616E-FA4E-8DD9-D0046BFEF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982" y="1773716"/>
                <a:ext cx="2630527" cy="276999"/>
              </a:xfrm>
              <a:prstGeom prst="rect">
                <a:avLst/>
              </a:prstGeom>
              <a:blipFill>
                <a:blip r:embed="rId6"/>
                <a:stretch>
                  <a:fillRect l="-1442" t="-8696" r="-2404" b="-34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1879991-5187-4C71-5136-D5CF832B2AB3}"/>
              </a:ext>
            </a:extLst>
          </p:cNvPr>
          <p:cNvCxnSpPr>
            <a:cxnSpLocks/>
          </p:cNvCxnSpPr>
          <p:nvPr/>
        </p:nvCxnSpPr>
        <p:spPr>
          <a:xfrm>
            <a:off x="2635442" y="2415550"/>
            <a:ext cx="9164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96F4E994-105B-B385-28B1-BA689BBA67FB}"/>
              </a:ext>
            </a:extLst>
          </p:cNvPr>
          <p:cNvCxnSpPr>
            <a:cxnSpLocks/>
          </p:cNvCxnSpPr>
          <p:nvPr/>
        </p:nvCxnSpPr>
        <p:spPr>
          <a:xfrm>
            <a:off x="3820298" y="2415550"/>
            <a:ext cx="91645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bject 45">
            <a:extLst>
              <a:ext uri="{FF2B5EF4-FFF2-40B4-BE49-F238E27FC236}">
                <a16:creationId xmlns:a16="http://schemas.microsoft.com/office/drawing/2014/main" id="{EA7A8117-2E60-5802-FE80-43607BEF09D0}"/>
              </a:ext>
            </a:extLst>
          </p:cNvPr>
          <p:cNvSpPr txBox="1"/>
          <p:nvPr/>
        </p:nvSpPr>
        <p:spPr>
          <a:xfrm>
            <a:off x="937299" y="2566236"/>
            <a:ext cx="4506683" cy="291572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 algn="ctr">
              <a:lnSpc>
                <a:spcPct val="1065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spc="-42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policy latent should be distinguishable</a:t>
            </a:r>
            <a:endParaRPr dirty="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23" name="object 45">
            <a:extLst>
              <a:ext uri="{FF2B5EF4-FFF2-40B4-BE49-F238E27FC236}">
                <a16:creationId xmlns:a16="http://schemas.microsoft.com/office/drawing/2014/main" id="{BE78207B-685A-D108-90EC-02341F80C564}"/>
              </a:ext>
            </a:extLst>
          </p:cNvPr>
          <p:cNvSpPr txBox="1"/>
          <p:nvPr/>
        </p:nvSpPr>
        <p:spPr>
          <a:xfrm>
            <a:off x="2025182" y="2998171"/>
            <a:ext cx="4506683" cy="291572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 algn="ctr">
              <a:lnSpc>
                <a:spcPct val="1065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spc="-42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policy latent should be diverse</a:t>
            </a:r>
            <a:endParaRPr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B62FEC-7F53-2A36-C1E8-49E2F90E1876}"/>
                  </a:ext>
                </a:extLst>
              </p:cNvPr>
              <p:cNvSpPr txBox="1"/>
              <p:nvPr/>
            </p:nvSpPr>
            <p:spPr>
              <a:xfrm>
                <a:off x="740692" y="3480959"/>
                <a:ext cx="43338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intrinsic</m:t>
                        </m:r>
                      </m:sub>
                    </m:sSub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func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B62FEC-7F53-2A36-C1E8-49E2F90E1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3480959"/>
                <a:ext cx="4333879" cy="307777"/>
              </a:xfrm>
              <a:prstGeom prst="rect">
                <a:avLst/>
              </a:prstGeom>
              <a:blipFill>
                <a:blip r:embed="rId7"/>
                <a:stretch>
                  <a:fillRect l="-3216" t="-16000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26FCAC-9CA4-83C7-F3DB-6262A88C8506}"/>
                  </a:ext>
                </a:extLst>
              </p:cNvPr>
              <p:cNvSpPr txBox="1"/>
              <p:nvPr/>
            </p:nvSpPr>
            <p:spPr>
              <a:xfrm>
                <a:off x="740692" y="4006284"/>
                <a:ext cx="1958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policy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26FCAC-9CA4-83C7-F3DB-6262A88C8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4006284"/>
                <a:ext cx="1958485" cy="276999"/>
              </a:xfrm>
              <a:prstGeom prst="rect">
                <a:avLst/>
              </a:prstGeom>
              <a:blipFill>
                <a:blip r:embed="rId8"/>
                <a:stretch>
                  <a:fillRect l="-6452" t="-13043" r="-4516" b="-43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45">
            <a:extLst>
              <a:ext uri="{FF2B5EF4-FFF2-40B4-BE49-F238E27FC236}">
                <a16:creationId xmlns:a16="http://schemas.microsoft.com/office/drawing/2014/main" id="{962816A4-E42D-7F67-7651-B6397CA7F43B}"/>
              </a:ext>
            </a:extLst>
          </p:cNvPr>
          <p:cNvSpPr txBox="1"/>
          <p:nvPr/>
        </p:nvSpPr>
        <p:spPr>
          <a:xfrm>
            <a:off x="239892" y="4733039"/>
            <a:ext cx="12052521" cy="316322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Problem: Pessimistic Exploration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8" name="object 45">
            <a:extLst>
              <a:ext uri="{FF2B5EF4-FFF2-40B4-BE49-F238E27FC236}">
                <a16:creationId xmlns:a16="http://schemas.microsoft.com/office/drawing/2014/main" id="{4D93B2F7-2128-18E9-324C-FEBF971C22D6}"/>
              </a:ext>
            </a:extLst>
          </p:cNvPr>
          <p:cNvSpPr txBox="1"/>
          <p:nvPr/>
        </p:nvSpPr>
        <p:spPr>
          <a:xfrm>
            <a:off x="732984" y="5092840"/>
            <a:ext cx="10225961" cy="790298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Agent asymptotically receives larger rewards for visiting known states </a:t>
            </a:r>
            <a:b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</a:b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than discovering unknown states as proven in [2].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BF8DB6-3488-25A2-051C-F9BDEC53DBC5}"/>
              </a:ext>
            </a:extLst>
          </p:cNvPr>
          <p:cNvSpPr txBox="1"/>
          <p:nvPr/>
        </p:nvSpPr>
        <p:spPr>
          <a:xfrm>
            <a:off x="239892" y="6242868"/>
            <a:ext cx="11841618" cy="54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[1]</a:t>
            </a:r>
            <a:r>
              <a:rPr lang="ko-KR" altLang="en-US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Diversity is all you need</a:t>
            </a: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.,</a:t>
            </a:r>
            <a:r>
              <a:rPr lang="ko-KR" altLang="en-US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5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Eysenbach</a:t>
            </a: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et al., ICLR, 2018.</a:t>
            </a:r>
            <a:b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105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[2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] </a:t>
            </a:r>
            <a:r>
              <a:rPr lang="en" altLang="ko-KR" sz="1050" dirty="0"/>
              <a:t>Explore, Discover and Learn: Unsupervised Discovery of State-Covering Skills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., Campos et al., ICML, 2020.</a:t>
            </a:r>
          </a:p>
        </p:txBody>
      </p:sp>
    </p:spTree>
    <p:extLst>
      <p:ext uri="{BB962C8B-B14F-4D97-AF65-F5344CB8AC3E}">
        <p14:creationId xmlns:p14="http://schemas.microsoft.com/office/powerpoint/2010/main" val="1654908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4370" y="6314867"/>
            <a:ext cx="56990" cy="10737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637" dirty="0">
                <a:solidFill>
                  <a:srgbClr val="4080FF"/>
                </a:solidFill>
                <a:latin typeface="나눔스퀘어 Bold" panose="020B0600000101010101" pitchFamily="50" charset="-127"/>
                <a:cs typeface="Calibri"/>
              </a:rPr>
              <a:t>2</a:t>
            </a:r>
            <a:endParaRPr sz="637" dirty="0">
              <a:latin typeface="나눔스퀘어 Bold" panose="020B0600000101010101" pitchFamily="50" charset="-127"/>
              <a:cs typeface="Calibri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APT: Active Pre-Training for RL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87724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To overcome the pessimistic exploration problem, incentivize the agent with a reward to </a:t>
            </a:r>
            <a:b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</a:br>
            <a:r>
              <a:rPr lang="en-US" sz="2000" u="sng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maximize entropy </a:t>
            </a: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in an abstract representation space.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8" name="object 45">
            <a:extLst>
              <a:ext uri="{FF2B5EF4-FFF2-40B4-BE49-F238E27FC236}">
                <a16:creationId xmlns:a16="http://schemas.microsoft.com/office/drawing/2014/main" id="{4D93B2F7-2128-18E9-324C-FEBF971C22D6}"/>
              </a:ext>
            </a:extLst>
          </p:cNvPr>
          <p:cNvSpPr txBox="1"/>
          <p:nvPr/>
        </p:nvSpPr>
        <p:spPr>
          <a:xfrm>
            <a:off x="5208854" y="2953250"/>
            <a:ext cx="5474014" cy="790298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93066" marR="3081" indent="-285750">
              <a:lnSpc>
                <a:spcPct val="150000"/>
              </a:lnSpc>
              <a:spcBef>
                <a:spcPts val="61"/>
              </a:spcBef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</a:pPr>
            <a:r>
              <a:rPr lang="en-US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The contrastive loss learns a mapping from state space to an abstract representation space. 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9" name="object 45">
            <a:extLst>
              <a:ext uri="{FF2B5EF4-FFF2-40B4-BE49-F238E27FC236}">
                <a16:creationId xmlns:a16="http://schemas.microsoft.com/office/drawing/2014/main" id="{1282C5E0-56E2-B266-3F22-EB45F0EA4FBA}"/>
              </a:ext>
            </a:extLst>
          </p:cNvPr>
          <p:cNvSpPr txBox="1"/>
          <p:nvPr/>
        </p:nvSpPr>
        <p:spPr>
          <a:xfrm>
            <a:off x="239892" y="212496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Overview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22CB94-1067-F11B-8D0D-35834A9BA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47" y="2540541"/>
            <a:ext cx="4494559" cy="3379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45">
                <a:extLst>
                  <a:ext uri="{FF2B5EF4-FFF2-40B4-BE49-F238E27FC236}">
                    <a16:creationId xmlns:a16="http://schemas.microsoft.com/office/drawing/2014/main" id="{5815A7CE-98A9-BBFB-7DCB-6C062693F33F}"/>
                  </a:ext>
                </a:extLst>
              </p:cNvPr>
              <p:cNvSpPr txBox="1"/>
              <p:nvPr/>
            </p:nvSpPr>
            <p:spPr>
              <a:xfrm>
                <a:off x="5208854" y="4068372"/>
                <a:ext cx="5474014" cy="1217595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293066" marR="3081" indent="-285750">
                  <a:lnSpc>
                    <a:spcPct val="150000"/>
                  </a:lnSpc>
                  <a:spcBef>
                    <a:spcPts val="61"/>
                  </a:spcBef>
                  <a:buFont typeface="Arial" panose="020B0604020202020204" pitchFamily="34" charset="0"/>
                  <a:buChar char="•"/>
                  <a:tabLst>
                    <a:tab pos="350408" algn="l"/>
                    <a:tab pos="350793" algn="l"/>
                  </a:tabLst>
                </a:pPr>
                <a:r>
                  <a:rPr lang="en-US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Entropy of states are measured by particle-based estimator and used it as an intrinsic reward.</a:t>
                </a:r>
              </a:p>
              <a:p>
                <a:pPr marL="7316" marR="3081">
                  <a:lnSpc>
                    <a:spcPct val="150000"/>
                  </a:lnSpc>
                  <a:spcBef>
                    <a:spcPts val="61"/>
                  </a:spcBef>
                  <a:tabLst>
                    <a:tab pos="350408" algn="l"/>
                    <a:tab pos="350793" algn="l"/>
                  </a:tabLst>
                </a:pPr>
                <a:r>
                  <a:rPr kumimoji="1" lang="en-US" altLang="ko-KR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intrinsic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entropy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>
                  <a:latin typeface="NanumGothic" panose="020D0604000000000000" pitchFamily="34" charset="-127"/>
                  <a:ea typeface="NanumGothic" panose="020D0604000000000000" pitchFamily="34" charset="-127"/>
                  <a:cs typeface="Calibri"/>
                </a:endParaRPr>
              </a:p>
            </p:txBody>
          </p:sp>
        </mc:Choice>
        <mc:Fallback xmlns="">
          <p:sp>
            <p:nvSpPr>
              <p:cNvPr id="22" name="object 45">
                <a:extLst>
                  <a:ext uri="{FF2B5EF4-FFF2-40B4-BE49-F238E27FC236}">
                    <a16:creationId xmlns:a16="http://schemas.microsoft.com/office/drawing/2014/main" id="{5815A7CE-98A9-BBFB-7DCB-6C062693F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854" y="4068372"/>
                <a:ext cx="5474014" cy="1217595"/>
              </a:xfrm>
              <a:prstGeom prst="rect">
                <a:avLst/>
              </a:prstGeom>
              <a:blipFill>
                <a:blip r:embed="rId3"/>
                <a:stretch>
                  <a:fillRect l="-2083" r="-2778" b="-72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47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4370" y="6314867"/>
            <a:ext cx="56990" cy="10737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637" dirty="0">
                <a:solidFill>
                  <a:srgbClr val="4080FF"/>
                </a:solidFill>
                <a:latin typeface="나눔스퀘어 Bold" panose="020B0600000101010101" pitchFamily="50" charset="-127"/>
                <a:cs typeface="Calibri"/>
              </a:rPr>
              <a:t>2</a:t>
            </a:r>
            <a:endParaRPr sz="637" dirty="0">
              <a:latin typeface="나눔스퀘어 Bold" panose="020B0600000101010101" pitchFamily="50" charset="-127"/>
              <a:cs typeface="Calibri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APT: Active Pre-Training for RL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Particle-based Entropy Estimation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5">
                <a:extLst>
                  <a:ext uri="{FF2B5EF4-FFF2-40B4-BE49-F238E27FC236}">
                    <a16:creationId xmlns:a16="http://schemas.microsoft.com/office/drawing/2014/main" id="{6F2E27EA-1990-7124-261E-83CB8FD927F9}"/>
                  </a:ext>
                </a:extLst>
              </p:cNvPr>
              <p:cNvSpPr txBox="1"/>
              <p:nvPr/>
            </p:nvSpPr>
            <p:spPr>
              <a:xfrm>
                <a:off x="732984" y="1486578"/>
                <a:ext cx="12052521" cy="289135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350408" marR="3081" indent="-343092">
                  <a:lnSpc>
                    <a:spcPct val="106500"/>
                  </a:lnSpc>
                  <a:spcBef>
                    <a:spcPts val="61"/>
                  </a:spcBef>
                  <a:buFont typeface="Arial"/>
                  <a:buChar char="•"/>
                  <a:tabLst>
                    <a:tab pos="350408" algn="l"/>
                    <a:tab pos="350793" algn="l"/>
                  </a:tabLst>
                </a:pPr>
                <a:r>
                  <a:rPr lang="en-US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Assume we have number of </a:t>
                </a:r>
                <a14:m>
                  <m:oMath xmlns:m="http://schemas.openxmlformats.org/officeDocument/2006/math">
                    <m:r>
                      <a:rPr lang="en-US" b="0" i="1" spc="-42" smtClean="0">
                        <a:latin typeface="Cambria Math" panose="02040503050406030204" pitchFamily="18" charset="0"/>
                        <a:ea typeface="NanumGothic" panose="020D0604000000000000" pitchFamily="34" charset="-127"/>
                        <a:cs typeface="Calibri"/>
                      </a:rPr>
                      <m:t>𝑛</m:t>
                    </m:r>
                  </m:oMath>
                </a14:m>
                <a:r>
                  <a:rPr lang="en-US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 data points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pc="-42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altLang="ko-KR" b="0" i="1" spc="-42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  <a:cs typeface="Calibri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  <m:t>𝑖</m:t>
                        </m:r>
                        <m: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  <m:t>=1</m:t>
                        </m:r>
                      </m:sub>
                      <m:sup>
                        <m: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 from unknown distribution.</a:t>
                </a:r>
                <a:endParaRPr dirty="0">
                  <a:latin typeface="NanumGothic" panose="020D0604000000000000" pitchFamily="34" charset="-127"/>
                  <a:ea typeface="NanumGothic" panose="020D0604000000000000" pitchFamily="34" charset="-127"/>
                  <a:cs typeface="Calibri"/>
                </a:endParaRPr>
              </a:p>
            </p:txBody>
          </p:sp>
        </mc:Choice>
        <mc:Fallback xmlns="">
          <p:sp>
            <p:nvSpPr>
              <p:cNvPr id="10" name="object 45">
                <a:extLst>
                  <a:ext uri="{FF2B5EF4-FFF2-40B4-BE49-F238E27FC236}">
                    <a16:creationId xmlns:a16="http://schemas.microsoft.com/office/drawing/2014/main" id="{6F2E27EA-1990-7124-261E-83CB8FD9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84" y="1486578"/>
                <a:ext cx="12052521" cy="289135"/>
              </a:xfrm>
              <a:prstGeom prst="rect">
                <a:avLst/>
              </a:prstGeom>
              <a:blipFill>
                <a:blip r:embed="rId3"/>
                <a:stretch>
                  <a:fillRect l="-947" t="-26087" b="-43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9E2672-26FD-9558-29FF-4BB8740C947C}"/>
                  </a:ext>
                </a:extLst>
              </p:cNvPr>
              <p:cNvSpPr txBox="1"/>
              <p:nvPr/>
            </p:nvSpPr>
            <p:spPr>
              <a:xfrm>
                <a:off x="740692" y="1975560"/>
                <a:ext cx="4428585" cy="51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𝑝𝑎𝑟𝑡𝑖𝑐𝑙𝑒</m:t>
                        </m:r>
                      </m:sub>
                    </m:sSub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den>
                            </m:f>
                          </m:e>
                        </m:func>
                      </m:e>
                    </m:nary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9E2672-26FD-9558-29FF-4BB8740C9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1975560"/>
                <a:ext cx="4428585" cy="512833"/>
              </a:xfrm>
              <a:prstGeom prst="rect">
                <a:avLst/>
              </a:prstGeom>
              <a:blipFill>
                <a:blip r:embed="rId4"/>
                <a:stretch>
                  <a:fillRect l="-3143" t="-87805" r="-1429" b="-121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B84BF1-C0D7-0816-DB37-E877BC6CD519}"/>
                  </a:ext>
                </a:extLst>
              </p:cNvPr>
              <p:cNvSpPr txBox="1"/>
              <p:nvPr/>
            </p:nvSpPr>
            <p:spPr>
              <a:xfrm>
                <a:off x="2056536" y="2731975"/>
                <a:ext cx="1797928" cy="332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∑"/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func>
                      </m:e>
                    </m:nary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B84BF1-C0D7-0816-DB37-E877BC6CD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36" y="2731975"/>
                <a:ext cx="1797928" cy="332527"/>
              </a:xfrm>
              <a:prstGeom prst="rect">
                <a:avLst/>
              </a:prstGeom>
              <a:blipFill>
                <a:blip r:embed="rId5"/>
                <a:stretch>
                  <a:fillRect l="-7692" t="-144444" r="-2098" b="-2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0765F5-2CD5-8EBD-C0D1-B6452C8C4070}"/>
                  </a:ext>
                </a:extLst>
              </p:cNvPr>
              <p:cNvSpPr txBox="1"/>
              <p:nvPr/>
            </p:nvSpPr>
            <p:spPr>
              <a:xfrm>
                <a:off x="2056536" y="3390044"/>
                <a:ext cx="3001976" cy="332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∑"/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func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0765F5-2CD5-8EBD-C0D1-B6452C8C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36" y="3390044"/>
                <a:ext cx="3001976" cy="332527"/>
              </a:xfrm>
              <a:prstGeom prst="rect">
                <a:avLst/>
              </a:prstGeom>
              <a:blipFill>
                <a:blip r:embed="rId6"/>
                <a:stretch>
                  <a:fillRect l="-4622" t="-135714" b="-2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구부러진 연결선[U] 14">
            <a:extLst>
              <a:ext uri="{FF2B5EF4-FFF2-40B4-BE49-F238E27FC236}">
                <a16:creationId xmlns:a16="http://schemas.microsoft.com/office/drawing/2014/main" id="{3E2FDBB0-4EF6-3D4C-63F5-6F3C9676AA71}"/>
              </a:ext>
            </a:extLst>
          </p:cNvPr>
          <p:cNvCxnSpPr/>
          <p:nvPr/>
        </p:nvCxnSpPr>
        <p:spPr>
          <a:xfrm flipH="1">
            <a:off x="5169277" y="2945538"/>
            <a:ext cx="164852" cy="587330"/>
          </a:xfrm>
          <a:prstGeom prst="curvedConnector3">
            <a:avLst>
              <a:gd name="adj1" fmla="val -13867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994A60-3927-10F7-66FB-12746B0A2F28}"/>
                  </a:ext>
                </a:extLst>
              </p:cNvPr>
              <p:cNvSpPr txBox="1"/>
              <p:nvPr/>
            </p:nvSpPr>
            <p:spPr>
              <a:xfrm>
                <a:off x="5625805" y="2898238"/>
                <a:ext cx="2464136" cy="620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kumimoji="1"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kumimoji="1" lang="el-GR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kumimoji="1" lang="ko-KR" altLang="en-US" dirty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994A60-3927-10F7-66FB-12746B0A2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805" y="2898238"/>
                <a:ext cx="2464136" cy="620683"/>
              </a:xfrm>
              <a:prstGeom prst="rect">
                <a:avLst/>
              </a:prstGeom>
              <a:blipFill>
                <a:blip r:embed="rId7"/>
                <a:stretch>
                  <a:fillRect l="-1031" t="-2041" b="-183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1000FBF0-ECF2-3E0F-7138-B11AFF4A238D}"/>
              </a:ext>
            </a:extLst>
          </p:cNvPr>
          <p:cNvCxnSpPr>
            <a:cxnSpLocks/>
          </p:cNvCxnSpPr>
          <p:nvPr/>
        </p:nvCxnSpPr>
        <p:spPr>
          <a:xfrm>
            <a:off x="3553245" y="3790694"/>
            <a:ext cx="118602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5">
                <a:extLst>
                  <a:ext uri="{FF2B5EF4-FFF2-40B4-BE49-F238E27FC236}">
                    <a16:creationId xmlns:a16="http://schemas.microsoft.com/office/drawing/2014/main" id="{6DBBDFBF-FFBF-51CA-C30A-50F3385F62F4}"/>
                  </a:ext>
                </a:extLst>
              </p:cNvPr>
              <p:cNvSpPr txBox="1"/>
              <p:nvPr/>
            </p:nvSpPr>
            <p:spPr>
              <a:xfrm>
                <a:off x="883729" y="3941742"/>
                <a:ext cx="6525054" cy="587935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7316" marR="3081" algn="ctr">
                  <a:lnSpc>
                    <a:spcPct val="106500"/>
                  </a:lnSpc>
                  <a:spcBef>
                    <a:spcPts val="61"/>
                  </a:spcBef>
                  <a:tabLst>
                    <a:tab pos="350408" algn="l"/>
                    <a:tab pos="350793" algn="l"/>
                  </a:tabLst>
                </a:pPr>
                <a:r>
                  <a:rPr lang="en-US" spc="-42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Sparsity of distribution can be measured by the </a:t>
                </a:r>
                <a:br>
                  <a:rPr lang="en-US" spc="-42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</a:br>
                <a:r>
                  <a:rPr lang="en-US" spc="-42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distance between each sampled point and its </a:t>
                </a:r>
                <a14:m>
                  <m:oMath xmlns:m="http://schemas.openxmlformats.org/officeDocument/2006/math">
                    <m:r>
                      <a:rPr lang="en-US" altLang="ko-KR" b="0" i="1" spc="-42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NanumGothic" panose="020D0604000000000000" pitchFamily="34" charset="-127"/>
                        <a:cs typeface="Calibri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nearest neighbor</a:t>
                </a:r>
              </a:p>
            </p:txBody>
          </p:sp>
        </mc:Choice>
        <mc:Fallback xmlns="">
          <p:sp>
            <p:nvSpPr>
              <p:cNvPr id="20" name="object 45">
                <a:extLst>
                  <a:ext uri="{FF2B5EF4-FFF2-40B4-BE49-F238E27FC236}">
                    <a16:creationId xmlns:a16="http://schemas.microsoft.com/office/drawing/2014/main" id="{6DBBDFBF-FFBF-51CA-C30A-50F3385F6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29" y="3941742"/>
                <a:ext cx="6525054" cy="587935"/>
              </a:xfrm>
              <a:prstGeom prst="rect">
                <a:avLst/>
              </a:prstGeom>
              <a:blipFill>
                <a:blip r:embed="rId8"/>
                <a:stretch>
                  <a:fillRect t="-10638" b="-234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타원 3">
            <a:extLst>
              <a:ext uri="{FF2B5EF4-FFF2-40B4-BE49-F238E27FC236}">
                <a16:creationId xmlns:a16="http://schemas.microsoft.com/office/drawing/2014/main" id="{DC06D36F-D26E-8F66-6589-9CEDAAF3C89B}"/>
              </a:ext>
            </a:extLst>
          </p:cNvPr>
          <p:cNvSpPr/>
          <p:nvPr/>
        </p:nvSpPr>
        <p:spPr>
          <a:xfrm>
            <a:off x="6767772" y="2870881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5">
                <a:extLst>
                  <a:ext uri="{FF2B5EF4-FFF2-40B4-BE49-F238E27FC236}">
                    <a16:creationId xmlns:a16="http://schemas.microsoft.com/office/drawing/2014/main" id="{E6217EE8-C168-14B3-7F4E-39F13DB3F069}"/>
                  </a:ext>
                </a:extLst>
              </p:cNvPr>
              <p:cNvSpPr txBox="1"/>
              <p:nvPr/>
            </p:nvSpPr>
            <p:spPr>
              <a:xfrm>
                <a:off x="5629382" y="2532831"/>
                <a:ext cx="2646556" cy="290739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7316" marR="3081" algn="ctr">
                  <a:lnSpc>
                    <a:spcPct val="106500"/>
                  </a:lnSpc>
                  <a:spcBef>
                    <a:spcPts val="61"/>
                  </a:spcBef>
                  <a:tabLst>
                    <a:tab pos="350408" algn="l"/>
                    <a:tab pos="350793" algn="l"/>
                  </a:tabLst>
                </a:pPr>
                <a14:m>
                  <m:oMath xmlns:m="http://schemas.openxmlformats.org/officeDocument/2006/math">
                    <m:r>
                      <a:rPr lang="en-US" altLang="ko-KR" b="0" i="1" spc="-42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NanumGothic" panose="020D0604000000000000" pitchFamily="34" charset="-127"/>
                        <a:cs typeface="Calibri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nearest neighbor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</a:t>
                </a:r>
              </a:p>
            </p:txBody>
          </p:sp>
        </mc:Choice>
        <mc:Fallback xmlns="">
          <p:sp>
            <p:nvSpPr>
              <p:cNvPr id="21" name="object 45">
                <a:extLst>
                  <a:ext uri="{FF2B5EF4-FFF2-40B4-BE49-F238E27FC236}">
                    <a16:creationId xmlns:a16="http://schemas.microsoft.com/office/drawing/2014/main" id="{E6217EE8-C168-14B3-7F4E-39F13DB3F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382" y="2532831"/>
                <a:ext cx="2646556" cy="290739"/>
              </a:xfrm>
              <a:prstGeom prst="rect">
                <a:avLst/>
              </a:prstGeom>
              <a:blipFill>
                <a:blip r:embed="rId9"/>
                <a:stretch>
                  <a:fillRect t="-20833" b="-45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71C21A-7660-2AD4-14E5-ECA16E39BFCD}"/>
              </a:ext>
            </a:extLst>
          </p:cNvPr>
          <p:cNvSpPr/>
          <p:nvPr/>
        </p:nvSpPr>
        <p:spPr>
          <a:xfrm>
            <a:off x="1865576" y="2488393"/>
            <a:ext cx="434897" cy="1406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516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4370" y="6314867"/>
            <a:ext cx="56990" cy="107372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637" dirty="0">
                <a:solidFill>
                  <a:srgbClr val="4080FF"/>
                </a:solidFill>
                <a:latin typeface="나눔스퀘어 Bold" panose="020B0600000101010101" pitchFamily="50" charset="-127"/>
                <a:cs typeface="Calibri"/>
              </a:rPr>
              <a:t>2</a:t>
            </a:r>
            <a:endParaRPr sz="637" dirty="0">
              <a:latin typeface="나눔스퀘어 Bold" panose="020B0600000101010101" pitchFamily="50" charset="-127"/>
              <a:cs typeface="Calibri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APT: Active Pre-Training for RL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Particle-based Entropy Estimation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5">
                <a:extLst>
                  <a:ext uri="{FF2B5EF4-FFF2-40B4-BE49-F238E27FC236}">
                    <a16:creationId xmlns:a16="http://schemas.microsoft.com/office/drawing/2014/main" id="{6F2E27EA-1990-7124-261E-83CB8FD927F9}"/>
                  </a:ext>
                </a:extLst>
              </p:cNvPr>
              <p:cNvSpPr txBox="1"/>
              <p:nvPr/>
            </p:nvSpPr>
            <p:spPr>
              <a:xfrm>
                <a:off x="732984" y="1486578"/>
                <a:ext cx="12052521" cy="289135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350408" marR="3081" indent="-343092">
                  <a:lnSpc>
                    <a:spcPct val="106500"/>
                  </a:lnSpc>
                  <a:spcBef>
                    <a:spcPts val="61"/>
                  </a:spcBef>
                  <a:buFont typeface="Arial"/>
                  <a:buChar char="•"/>
                  <a:tabLst>
                    <a:tab pos="350408" algn="l"/>
                    <a:tab pos="350793" algn="l"/>
                  </a:tabLst>
                </a:pPr>
                <a:r>
                  <a:rPr lang="en-US" spc="-42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Assume we have number of </a:t>
                </a:r>
                <a14:m>
                  <m:oMath xmlns:m="http://schemas.openxmlformats.org/officeDocument/2006/math">
                    <m:r>
                      <a:rPr lang="en-US" b="0" i="1" spc="-42" smtClean="0">
                        <a:latin typeface="Cambria Math" panose="02040503050406030204" pitchFamily="18" charset="0"/>
                        <a:ea typeface="NanumGothic" panose="020D0604000000000000" pitchFamily="34" charset="-127"/>
                        <a:cs typeface="Calibri"/>
                      </a:rPr>
                      <m:t>𝑛</m:t>
                    </m:r>
                  </m:oMath>
                </a14:m>
                <a:r>
                  <a:rPr lang="en-US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 data points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pc="-42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altLang="ko-KR" b="0" i="1" spc="-42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  <a:cs typeface="Calibri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  <m:t>𝑖</m:t>
                        </m:r>
                        <m: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  <m:t>=1</m:t>
                        </m:r>
                      </m:sub>
                      <m:sup>
                        <m:r>
                          <a:rPr lang="en-US" altLang="ko-KR" b="0" i="1" spc="-42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  <a:cs typeface="Calibri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>
                    <a:latin typeface="NanumGothic" panose="020D0604000000000000" pitchFamily="34" charset="-127"/>
                    <a:ea typeface="NanumGothic" panose="020D0604000000000000" pitchFamily="34" charset="-127"/>
                    <a:cs typeface="Calibri"/>
                  </a:rPr>
                  <a:t> from unknown distribution.</a:t>
                </a:r>
                <a:endParaRPr dirty="0">
                  <a:latin typeface="NanumGothic" panose="020D0604000000000000" pitchFamily="34" charset="-127"/>
                  <a:ea typeface="NanumGothic" panose="020D0604000000000000" pitchFamily="34" charset="-127"/>
                  <a:cs typeface="Calibri"/>
                </a:endParaRPr>
              </a:p>
            </p:txBody>
          </p:sp>
        </mc:Choice>
        <mc:Fallback xmlns="">
          <p:sp>
            <p:nvSpPr>
              <p:cNvPr id="10" name="object 45">
                <a:extLst>
                  <a:ext uri="{FF2B5EF4-FFF2-40B4-BE49-F238E27FC236}">
                    <a16:creationId xmlns:a16="http://schemas.microsoft.com/office/drawing/2014/main" id="{6F2E27EA-1990-7124-261E-83CB8FD9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84" y="1486578"/>
                <a:ext cx="12052521" cy="289135"/>
              </a:xfrm>
              <a:prstGeom prst="rect">
                <a:avLst/>
              </a:prstGeom>
              <a:blipFill>
                <a:blip r:embed="rId2"/>
                <a:stretch>
                  <a:fillRect l="-947" t="-26087" b="-43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9E2672-26FD-9558-29FF-4BB8740C947C}"/>
                  </a:ext>
                </a:extLst>
              </p:cNvPr>
              <p:cNvSpPr txBox="1"/>
              <p:nvPr/>
            </p:nvSpPr>
            <p:spPr>
              <a:xfrm>
                <a:off x="740692" y="1975560"/>
                <a:ext cx="4428585" cy="51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𝑝𝑎𝑟𝑡𝑖𝑐𝑙𝑒</m:t>
                        </m:r>
                      </m:sub>
                    </m:sSub>
                    <m:d>
                      <m:d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den>
                            </m:f>
                          </m:e>
                        </m:func>
                      </m:e>
                    </m:nary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9E2672-26FD-9558-29FF-4BB8740C9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1975560"/>
                <a:ext cx="4428585" cy="512833"/>
              </a:xfrm>
              <a:prstGeom prst="rect">
                <a:avLst/>
              </a:prstGeom>
              <a:blipFill>
                <a:blip r:embed="rId3"/>
                <a:stretch>
                  <a:fillRect l="-3143" t="-87805" r="-1429" b="-121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B84BF1-C0D7-0816-DB37-E877BC6CD519}"/>
                  </a:ext>
                </a:extLst>
              </p:cNvPr>
              <p:cNvSpPr txBox="1"/>
              <p:nvPr/>
            </p:nvSpPr>
            <p:spPr>
              <a:xfrm>
                <a:off x="2056536" y="2731975"/>
                <a:ext cx="1797928" cy="332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∑"/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Sup>
                              <m:sSubSup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func>
                      </m:e>
                    </m:nary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B84BF1-C0D7-0816-DB37-E877BC6CD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36" y="2731975"/>
                <a:ext cx="1797928" cy="332527"/>
              </a:xfrm>
              <a:prstGeom prst="rect">
                <a:avLst/>
              </a:prstGeom>
              <a:blipFill>
                <a:blip r:embed="rId4"/>
                <a:stretch>
                  <a:fillRect l="-7692" t="-144444" r="-2098" b="-2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0765F5-2CD5-8EBD-C0D1-B6452C8C4070}"/>
                  </a:ext>
                </a:extLst>
              </p:cNvPr>
              <p:cNvSpPr txBox="1"/>
              <p:nvPr/>
            </p:nvSpPr>
            <p:spPr>
              <a:xfrm>
                <a:off x="2056536" y="3390044"/>
                <a:ext cx="3001976" cy="332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∑"/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func>
                        <m:sSup>
                          <m:s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0765F5-2CD5-8EBD-C0D1-B6452C8C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36" y="3390044"/>
                <a:ext cx="3001976" cy="332527"/>
              </a:xfrm>
              <a:prstGeom prst="rect">
                <a:avLst/>
              </a:prstGeom>
              <a:blipFill>
                <a:blip r:embed="rId5"/>
                <a:stretch>
                  <a:fillRect l="-4622" t="-135714" b="-2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구부러진 연결선[U] 14">
            <a:extLst>
              <a:ext uri="{FF2B5EF4-FFF2-40B4-BE49-F238E27FC236}">
                <a16:creationId xmlns:a16="http://schemas.microsoft.com/office/drawing/2014/main" id="{3E2FDBB0-4EF6-3D4C-63F5-6F3C9676AA71}"/>
              </a:ext>
            </a:extLst>
          </p:cNvPr>
          <p:cNvCxnSpPr/>
          <p:nvPr/>
        </p:nvCxnSpPr>
        <p:spPr>
          <a:xfrm flipH="1">
            <a:off x="5169277" y="2945538"/>
            <a:ext cx="164852" cy="587330"/>
          </a:xfrm>
          <a:prstGeom prst="curvedConnector3">
            <a:avLst>
              <a:gd name="adj1" fmla="val -13867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994A60-3927-10F7-66FB-12746B0A2F28}"/>
                  </a:ext>
                </a:extLst>
              </p:cNvPr>
              <p:cNvSpPr txBox="1"/>
              <p:nvPr/>
            </p:nvSpPr>
            <p:spPr>
              <a:xfrm>
                <a:off x="5625805" y="2898238"/>
                <a:ext cx="2464136" cy="620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kumimoji="1"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kumimoji="1" lang="el-GR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kumimoji="1" lang="ko-KR" altLang="en-US" dirty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994A60-3927-10F7-66FB-12746B0A2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805" y="2898238"/>
                <a:ext cx="2464136" cy="620683"/>
              </a:xfrm>
              <a:prstGeom prst="rect">
                <a:avLst/>
              </a:prstGeom>
              <a:blipFill>
                <a:blip r:embed="rId6"/>
                <a:stretch>
                  <a:fillRect l="-1031" t="-2041" b="-183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타원 3">
            <a:extLst>
              <a:ext uri="{FF2B5EF4-FFF2-40B4-BE49-F238E27FC236}">
                <a16:creationId xmlns:a16="http://schemas.microsoft.com/office/drawing/2014/main" id="{DC06D36F-D26E-8F66-6589-9CEDAAF3C89B}"/>
              </a:ext>
            </a:extLst>
          </p:cNvPr>
          <p:cNvSpPr/>
          <p:nvPr/>
        </p:nvSpPr>
        <p:spPr>
          <a:xfrm>
            <a:off x="6767772" y="2870881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5">
                <a:extLst>
                  <a:ext uri="{FF2B5EF4-FFF2-40B4-BE49-F238E27FC236}">
                    <a16:creationId xmlns:a16="http://schemas.microsoft.com/office/drawing/2014/main" id="{E6217EE8-C168-14B3-7F4E-39F13DB3F069}"/>
                  </a:ext>
                </a:extLst>
              </p:cNvPr>
              <p:cNvSpPr txBox="1"/>
              <p:nvPr/>
            </p:nvSpPr>
            <p:spPr>
              <a:xfrm>
                <a:off x="5629382" y="2532831"/>
                <a:ext cx="2646556" cy="290739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7316" marR="3081" algn="ctr">
                  <a:lnSpc>
                    <a:spcPct val="106500"/>
                  </a:lnSpc>
                  <a:spcBef>
                    <a:spcPts val="61"/>
                  </a:spcBef>
                  <a:tabLst>
                    <a:tab pos="350408" algn="l"/>
                    <a:tab pos="350793" algn="l"/>
                  </a:tabLst>
                </a:pPr>
                <a14:m>
                  <m:oMath xmlns:m="http://schemas.openxmlformats.org/officeDocument/2006/math">
                    <m:r>
                      <a:rPr lang="en-US" altLang="ko-KR" b="0" i="1" spc="-42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NanumGothic" panose="020D0604000000000000" pitchFamily="34" charset="-127"/>
                        <a:cs typeface="Calibri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nearest neighbor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</a:t>
                </a:r>
              </a:p>
            </p:txBody>
          </p:sp>
        </mc:Choice>
        <mc:Fallback xmlns="">
          <p:sp>
            <p:nvSpPr>
              <p:cNvPr id="21" name="object 45">
                <a:extLst>
                  <a:ext uri="{FF2B5EF4-FFF2-40B4-BE49-F238E27FC236}">
                    <a16:creationId xmlns:a16="http://schemas.microsoft.com/office/drawing/2014/main" id="{E6217EE8-C168-14B3-7F4E-39F13DB3F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382" y="2532831"/>
                <a:ext cx="2646556" cy="290739"/>
              </a:xfrm>
              <a:prstGeom prst="rect">
                <a:avLst/>
              </a:prstGeom>
              <a:blipFill>
                <a:blip r:embed="rId7"/>
                <a:stretch>
                  <a:fillRect t="-20833" b="-45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1C6DB0-A806-E8B3-E2F2-359ACAA87400}"/>
                  </a:ext>
                </a:extLst>
              </p:cNvPr>
              <p:cNvSpPr txBox="1"/>
              <p:nvPr/>
            </p:nvSpPr>
            <p:spPr>
              <a:xfrm>
                <a:off x="2056536" y="4034276"/>
                <a:ext cx="4460388" cy="4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ko-KR" alt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/>
                              <m:e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  <m:sSub>
                                  <m:sSubPr>
                                    <m:ctrlP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kumimoji="1"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20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1"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nary>
                          </m:e>
                        </m:func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1C6DB0-A806-E8B3-E2F2-359ACAA87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36" y="4034276"/>
                <a:ext cx="4460388" cy="436273"/>
              </a:xfrm>
              <a:prstGeom prst="rect">
                <a:avLst/>
              </a:prstGeom>
              <a:blipFill>
                <a:blip r:embed="rId8"/>
                <a:stretch>
                  <a:fillRect l="-3116" t="-102857" r="-1416" b="-16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FF984A-DC39-4DC5-E773-F653195FCA3D}"/>
                  </a:ext>
                </a:extLst>
              </p:cNvPr>
              <p:cNvSpPr txBox="1"/>
              <p:nvPr/>
            </p:nvSpPr>
            <p:spPr>
              <a:xfrm>
                <a:off x="740692" y="5268454"/>
                <a:ext cx="5990294" cy="4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𝑖𝑛𝑡𝑟𝑖𝑛𝑠𝑖𝑐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sub>
                          <m:sup/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sSubSup>
                              <m:sSubSupPr>
                                <m:ctrlP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kumimoji="1"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1"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func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FF984A-DC39-4DC5-E773-F653195F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92" y="5268454"/>
                <a:ext cx="5990294" cy="436273"/>
              </a:xfrm>
              <a:prstGeom prst="rect">
                <a:avLst/>
              </a:prstGeom>
              <a:blipFill>
                <a:blip r:embed="rId9"/>
                <a:stretch>
                  <a:fillRect l="-2331" t="-100000" b="-15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6881CCF0-ABBC-4352-FF71-5607DF90E1E2}"/>
              </a:ext>
            </a:extLst>
          </p:cNvPr>
          <p:cNvSpPr/>
          <p:nvPr/>
        </p:nvSpPr>
        <p:spPr>
          <a:xfrm>
            <a:off x="1806498" y="2532831"/>
            <a:ext cx="434897" cy="19377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953AC2AF-BFC3-D930-D3EB-5267410181F9}"/>
              </a:ext>
            </a:extLst>
          </p:cNvPr>
          <p:cNvCxnSpPr>
            <a:cxnSpLocks/>
          </p:cNvCxnSpPr>
          <p:nvPr/>
        </p:nvCxnSpPr>
        <p:spPr>
          <a:xfrm>
            <a:off x="3832162" y="4537698"/>
            <a:ext cx="118602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45">
                <a:extLst>
                  <a:ext uri="{FF2B5EF4-FFF2-40B4-BE49-F238E27FC236}">
                    <a16:creationId xmlns:a16="http://schemas.microsoft.com/office/drawing/2014/main" id="{E18408F6-BBE1-2649-5599-BC1981A3DFCE}"/>
                  </a:ext>
                </a:extLst>
              </p:cNvPr>
              <p:cNvSpPr txBox="1"/>
              <p:nvPr/>
            </p:nvSpPr>
            <p:spPr>
              <a:xfrm>
                <a:off x="1162646" y="4688746"/>
                <a:ext cx="6525054" cy="291572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7316" marR="3081" algn="ctr">
                  <a:lnSpc>
                    <a:spcPct val="106500"/>
                  </a:lnSpc>
                  <a:spcBef>
                    <a:spcPts val="61"/>
                  </a:spcBef>
                  <a:tabLst>
                    <a:tab pos="350408" algn="l"/>
                    <a:tab pos="350793" algn="l"/>
                  </a:tabLst>
                </a:pPr>
                <a:r>
                  <a:rPr lang="en-US" spc="-42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Average the distance over all </a:t>
                </a:r>
                <a14:m>
                  <m:oMath xmlns:m="http://schemas.openxmlformats.org/officeDocument/2006/math">
                    <m:r>
                      <a:rPr lang="en-US" altLang="ko-KR" i="1" spc="-42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NanumGothic" panose="020D0604000000000000" pitchFamily="34" charset="-127"/>
                        <a:cs typeface="Calibri"/>
                      </a:rPr>
                      <m:t>𝑘</m:t>
                    </m:r>
                  </m:oMath>
                </a14:m>
                <a:r>
                  <a:rPr lang="en-US" altLang="ko-KR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nearest neighbor for stability</a:t>
                </a:r>
                <a:r>
                  <a:rPr lang="en-US" spc="-42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</a:t>
                </a:r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</a:endParaRPr>
              </a:p>
            </p:txBody>
          </p:sp>
        </mc:Choice>
        <mc:Fallback xmlns="">
          <p:sp>
            <p:nvSpPr>
              <p:cNvPr id="23" name="object 45">
                <a:extLst>
                  <a:ext uri="{FF2B5EF4-FFF2-40B4-BE49-F238E27FC236}">
                    <a16:creationId xmlns:a16="http://schemas.microsoft.com/office/drawing/2014/main" id="{E18408F6-BBE1-2649-5599-BC1981A3D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46" y="4688746"/>
                <a:ext cx="6525054" cy="291572"/>
              </a:xfrm>
              <a:prstGeom prst="rect">
                <a:avLst/>
              </a:prstGeom>
              <a:blipFill>
                <a:blip r:embed="rId10"/>
                <a:stretch>
                  <a:fillRect t="-25000" b="-45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7AAB86A8-1F9E-A1F0-B900-F9E75D76DB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150" y="3595205"/>
            <a:ext cx="4176132" cy="299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30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APT: Active Pre-Training for RL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Learning Contrastive Representation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0" name="object 45">
            <a:extLst>
              <a:ext uri="{FF2B5EF4-FFF2-40B4-BE49-F238E27FC236}">
                <a16:creationId xmlns:a16="http://schemas.microsoft.com/office/drawing/2014/main" id="{6F2E27EA-1990-7124-261E-83CB8FD927F9}"/>
              </a:ext>
            </a:extLst>
          </p:cNvPr>
          <p:cNvSpPr txBox="1"/>
          <p:nvPr/>
        </p:nvSpPr>
        <p:spPr>
          <a:xfrm>
            <a:off x="732984" y="1486578"/>
            <a:ext cx="12052521" cy="2891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Identical to the </a:t>
            </a:r>
            <a:r>
              <a:rPr lang="en-US" spc="-42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SimCLR</a:t>
            </a: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 objective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4C233E-E50D-C6AD-1B24-9E8985F1BCC1}"/>
                  </a:ext>
                </a:extLst>
              </p:cNvPr>
              <p:cNvSpPr txBox="1"/>
              <p:nvPr/>
            </p:nvSpPr>
            <p:spPr>
              <a:xfrm>
                <a:off x="1086379" y="2044906"/>
                <a:ext cx="3175421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𝑎𝑢𝑔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  <m:sSubSup>
                      <m:sSub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p>
                    </m:sSubSup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𝑎𝑢𝑔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4C233E-E50D-C6AD-1B24-9E8985F1B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79" y="2044906"/>
                <a:ext cx="3175421" cy="299249"/>
              </a:xfrm>
              <a:prstGeom prst="rect">
                <a:avLst/>
              </a:prstGeom>
              <a:blipFill>
                <a:blip r:embed="rId3"/>
                <a:stretch>
                  <a:fillRect l="-3984" t="-8000" r="-2390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938ED7-3A17-35DA-DA99-7FA5AB4A6C61}"/>
                  </a:ext>
                </a:extLst>
              </p:cNvPr>
              <p:cNvSpPr txBox="1"/>
              <p:nvPr/>
            </p:nvSpPr>
            <p:spPr>
              <a:xfrm>
                <a:off x="1086379" y="2762207"/>
                <a:ext cx="5770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ㅁ</m:t>
                    </m:r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938ED7-3A17-35DA-DA99-7FA5AB4A6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79" y="2762207"/>
                <a:ext cx="577081" cy="276999"/>
              </a:xfrm>
              <a:prstGeom prst="rect">
                <a:avLst/>
              </a:prstGeom>
              <a:blipFill>
                <a:blip r:embed="rId4"/>
                <a:stretch>
                  <a:fillRect l="-21277" t="-13043" r="-8511" b="-43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림 19">
            <a:extLst>
              <a:ext uri="{FF2B5EF4-FFF2-40B4-BE49-F238E27FC236}">
                <a16:creationId xmlns:a16="http://schemas.microsoft.com/office/drawing/2014/main" id="{FAE95058-F5BB-F3CE-FAAB-D28951108A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17" y="2427313"/>
            <a:ext cx="8775204" cy="85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15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APT: Active Pre-Training for RL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Algorithm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AEC6BA-3F7D-5B9E-1017-A5508F312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08" y="1392699"/>
            <a:ext cx="8988742" cy="509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79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Experiments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ATARI benchmark (Pretrain: 250M, Finetune: 100k)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0" name="object 45">
            <a:extLst>
              <a:ext uri="{FF2B5EF4-FFF2-40B4-BE49-F238E27FC236}">
                <a16:creationId xmlns:a16="http://schemas.microsoft.com/office/drawing/2014/main" id="{6F2E27EA-1990-7124-261E-83CB8FD927F9}"/>
              </a:ext>
            </a:extLst>
          </p:cNvPr>
          <p:cNvSpPr txBox="1"/>
          <p:nvPr/>
        </p:nvSpPr>
        <p:spPr>
          <a:xfrm>
            <a:off x="732984" y="1486578"/>
            <a:ext cx="12052521" cy="2891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Comparison with Unsupervised RL baselines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DF7144-B5B1-CDF8-20CE-695383462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97" y="1975560"/>
            <a:ext cx="4124466" cy="4369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5">
                <a:extLst>
                  <a:ext uri="{FF2B5EF4-FFF2-40B4-BE49-F238E27FC236}">
                    <a16:creationId xmlns:a16="http://schemas.microsoft.com/office/drawing/2014/main" id="{AEB5610C-1F2F-669A-9E9B-ABBEA801BD6E}"/>
                  </a:ext>
                </a:extLst>
              </p:cNvPr>
              <p:cNvSpPr txBox="1"/>
              <p:nvPr/>
            </p:nvSpPr>
            <p:spPr>
              <a:xfrm>
                <a:off x="5081239" y="4938153"/>
                <a:ext cx="3984702" cy="600503"/>
              </a:xfrm>
              <a:prstGeom prst="rect">
                <a:avLst/>
              </a:prstGeom>
            </p:spPr>
            <p:txBody>
              <a:bodyPr vert="horz" wrap="square" lIns="0" tIns="7701" rIns="0" bIns="0" rtlCol="0">
                <a:spAutoFit/>
              </a:bodyPr>
              <a:lstStyle/>
              <a:p>
                <a:pPr marL="7316" marR="3081" algn="ctr">
                  <a:lnSpc>
                    <a:spcPct val="106500"/>
                  </a:lnSpc>
                  <a:spcBef>
                    <a:spcPts val="61"/>
                  </a:spcBef>
                  <a:tabLst>
                    <a:tab pos="350408" algn="l"/>
                    <a:tab pos="35079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All</m:t>
                      </m:r>
                      <m: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baseline</m:t>
                      </m:r>
                      <m: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models</m:t>
                      </m:r>
                      <m: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benefit</m:t>
                      </m:r>
                      <m: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from</m:t>
                      </m:r>
                      <m: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 </m:t>
                      </m:r>
                    </m:oMath>
                  </m:oMathPara>
                </a14:m>
                <a:endParaRPr lang="en-US" altLang="ko-KR" b="0" i="0" spc="-42" dirty="0">
                  <a:solidFill>
                    <a:schemeClr val="tx1"/>
                  </a:solidFill>
                  <a:latin typeface="Cambria Math" panose="02040503050406030204" pitchFamily="18" charset="0"/>
                  <a:ea typeface="NanumGothic" panose="020D0604000000000000" pitchFamily="34" charset="-127"/>
                  <a:cs typeface="Calibri"/>
                </a:endParaRPr>
              </a:p>
              <a:p>
                <a:pPr marL="7316" marR="3081" algn="ctr">
                  <a:lnSpc>
                    <a:spcPct val="106500"/>
                  </a:lnSpc>
                  <a:spcBef>
                    <a:spcPts val="61"/>
                  </a:spcBef>
                  <a:tabLst>
                    <a:tab pos="350408" algn="l"/>
                    <a:tab pos="35079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contrastive</m:t>
                      </m:r>
                      <m: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represenatiton</m:t>
                      </m:r>
                      <m: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pc="-42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NanumGothic" panose="020D0604000000000000" pitchFamily="34" charset="-127"/>
                          <a:cs typeface="Calibri"/>
                        </a:rPr>
                        <m:t>learning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</a:endParaRPr>
              </a:p>
            </p:txBody>
          </p:sp>
        </mc:Choice>
        <mc:Fallback xmlns="">
          <p:sp>
            <p:nvSpPr>
              <p:cNvPr id="13" name="object 45">
                <a:extLst>
                  <a:ext uri="{FF2B5EF4-FFF2-40B4-BE49-F238E27FC236}">
                    <a16:creationId xmlns:a16="http://schemas.microsoft.com/office/drawing/2014/main" id="{AEB5610C-1F2F-669A-9E9B-ABBEA801B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239" y="4938153"/>
                <a:ext cx="3984702" cy="600503"/>
              </a:xfrm>
              <a:prstGeom prst="rect">
                <a:avLst/>
              </a:prstGeom>
              <a:blipFill>
                <a:blip r:embed="rId3"/>
                <a:stretch>
                  <a:fillRect t="-2041" b="-122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474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Experiments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ATARI benchmark (Pretrain: 250M, Finetune: 100k)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0" name="object 45">
            <a:extLst>
              <a:ext uri="{FF2B5EF4-FFF2-40B4-BE49-F238E27FC236}">
                <a16:creationId xmlns:a16="http://schemas.microsoft.com/office/drawing/2014/main" id="{6F2E27EA-1990-7124-261E-83CB8FD927F9}"/>
              </a:ext>
            </a:extLst>
          </p:cNvPr>
          <p:cNvSpPr txBox="1"/>
          <p:nvPr/>
        </p:nvSpPr>
        <p:spPr>
          <a:xfrm>
            <a:off x="732984" y="1486578"/>
            <a:ext cx="12052521" cy="285481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Comparison with Sample Efficient RL baselines 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C83F0F-AC1B-6EB1-21A8-4F99A5AAC4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64"/>
          <a:stretch/>
        </p:blipFill>
        <p:spPr>
          <a:xfrm>
            <a:off x="1021297" y="1854817"/>
            <a:ext cx="7431327" cy="486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42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Experiments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Mujoco</a:t>
            </a: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 Benchmark (Pretrain: 5M, Finetune: 100k)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0" name="object 45">
            <a:extLst>
              <a:ext uri="{FF2B5EF4-FFF2-40B4-BE49-F238E27FC236}">
                <a16:creationId xmlns:a16="http://schemas.microsoft.com/office/drawing/2014/main" id="{6F2E27EA-1990-7124-261E-83CB8FD927F9}"/>
              </a:ext>
            </a:extLst>
          </p:cNvPr>
          <p:cNvSpPr txBox="1"/>
          <p:nvPr/>
        </p:nvSpPr>
        <p:spPr>
          <a:xfrm>
            <a:off x="732984" y="1486578"/>
            <a:ext cx="12052521" cy="285481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065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Comparison with Sample Efficient RL baselines 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457387-3FBA-6D08-7E1C-0C8050B43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4" y="1971906"/>
            <a:ext cx="7295451" cy="468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36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NanumGothic" panose="020D0604000000000000" pitchFamily="34" charset="-127"/>
                <a:ea typeface="NanumGothic" panose="020D0604000000000000" pitchFamily="34" charset="-127"/>
              </a:rPr>
              <a:t>Limitations</a:t>
            </a:r>
            <a:endParaRPr lang="ko-KR" altLang="en-US" sz="2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object 45">
            <a:extLst>
              <a:ext uri="{FF2B5EF4-FFF2-40B4-BE49-F238E27FC236}">
                <a16:creationId xmlns:a16="http://schemas.microsoft.com/office/drawing/2014/main" id="{0F157A81-50B1-045F-8D66-CFE564684727}"/>
              </a:ext>
            </a:extLst>
          </p:cNvPr>
          <p:cNvSpPr txBox="1"/>
          <p:nvPr/>
        </p:nvSpPr>
        <p:spPr>
          <a:xfrm>
            <a:off x="239892" y="871151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Exhaustive Pre-training time (250M)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8" name="object 45">
            <a:extLst>
              <a:ext uri="{FF2B5EF4-FFF2-40B4-BE49-F238E27FC236}">
                <a16:creationId xmlns:a16="http://schemas.microsoft.com/office/drawing/2014/main" id="{A973044B-E7B7-541F-8B38-6E1CF61792B5}"/>
              </a:ext>
            </a:extLst>
          </p:cNvPr>
          <p:cNvSpPr txBox="1"/>
          <p:nvPr/>
        </p:nvSpPr>
        <p:spPr>
          <a:xfrm>
            <a:off x="732984" y="1446244"/>
            <a:ext cx="8455621" cy="285481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>
              <a:lnSpc>
                <a:spcPct val="1065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  <a:sym typeface="Wingdings" pitchFamily="2" charset="2"/>
              </a:rPr>
              <a:t> Pre-training time should be restricted to a realistic number? (10M...?)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9" name="object 45">
            <a:extLst>
              <a:ext uri="{FF2B5EF4-FFF2-40B4-BE49-F238E27FC236}">
                <a16:creationId xmlns:a16="http://schemas.microsoft.com/office/drawing/2014/main" id="{0C879005-79F2-4C30-49B9-D937793EA5B4}"/>
              </a:ext>
            </a:extLst>
          </p:cNvPr>
          <p:cNvSpPr txBox="1"/>
          <p:nvPr/>
        </p:nvSpPr>
        <p:spPr>
          <a:xfrm>
            <a:off x="239892" y="2097786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spc="-42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Is online pre-training realistic?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3" name="object 45">
            <a:extLst>
              <a:ext uri="{FF2B5EF4-FFF2-40B4-BE49-F238E27FC236}">
                <a16:creationId xmlns:a16="http://schemas.microsoft.com/office/drawing/2014/main" id="{FEF2D14A-6D17-EA50-A5EC-CBDA2CE7665F}"/>
              </a:ext>
            </a:extLst>
          </p:cNvPr>
          <p:cNvSpPr txBox="1"/>
          <p:nvPr/>
        </p:nvSpPr>
        <p:spPr>
          <a:xfrm>
            <a:off x="732984" y="2614962"/>
            <a:ext cx="10864284" cy="37422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>
              <a:lnSpc>
                <a:spcPct val="1500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  <a:sym typeface="Wingdings" pitchFamily="2" charset="2"/>
              </a:rPr>
              <a:t> more realistic evaluation protocol for unsupervised reinforcement learning might be... 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4" name="object 45">
            <a:extLst>
              <a:ext uri="{FF2B5EF4-FFF2-40B4-BE49-F238E27FC236}">
                <a16:creationId xmlns:a16="http://schemas.microsoft.com/office/drawing/2014/main" id="{A764C434-F4D1-328C-76A4-0221DC335CA8}"/>
              </a:ext>
            </a:extLst>
          </p:cNvPr>
          <p:cNvSpPr txBox="1"/>
          <p:nvPr/>
        </p:nvSpPr>
        <p:spPr>
          <a:xfrm>
            <a:off x="1071064" y="3117874"/>
            <a:ext cx="10864284" cy="703351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>
              <a:lnSpc>
                <a:spcPct val="1500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sz="1600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  <a:sym typeface="Wingdings" pitchFamily="2" charset="2"/>
              </a:rPr>
              <a:t>1. pre-train the model with offline data</a:t>
            </a:r>
            <a:br>
              <a:rPr lang="en-US" sz="1600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  <a:sym typeface="Wingdings" pitchFamily="2" charset="2"/>
              </a:rPr>
            </a:br>
            <a:r>
              <a:rPr lang="en-US" sz="1600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  <a:sym typeface="Wingdings" pitchFamily="2" charset="2"/>
              </a:rPr>
              <a:t>2. evaluate with reward-based finetuning.</a:t>
            </a:r>
            <a:endParaRPr sz="16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5" name="object 45">
            <a:extLst>
              <a:ext uri="{FF2B5EF4-FFF2-40B4-BE49-F238E27FC236}">
                <a16:creationId xmlns:a16="http://schemas.microsoft.com/office/drawing/2014/main" id="{95196911-022D-61D1-CBDA-5C22C045C4EF}"/>
              </a:ext>
            </a:extLst>
          </p:cNvPr>
          <p:cNvSpPr txBox="1"/>
          <p:nvPr/>
        </p:nvSpPr>
        <p:spPr>
          <a:xfrm>
            <a:off x="239892" y="4260266"/>
            <a:ext cx="12052521" cy="415580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sz="2000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Representation Learning with 3-layer </a:t>
            </a:r>
            <a:r>
              <a:rPr lang="en-US" sz="2000" dirty="0" err="1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ConvNet</a:t>
            </a:r>
            <a:r>
              <a:rPr lang="en-US" sz="2000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</a:rPr>
              <a:t>?</a:t>
            </a:r>
            <a:endParaRPr sz="2000"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  <p:sp>
        <p:nvSpPr>
          <p:cNvPr id="16" name="object 45">
            <a:extLst>
              <a:ext uri="{FF2B5EF4-FFF2-40B4-BE49-F238E27FC236}">
                <a16:creationId xmlns:a16="http://schemas.microsoft.com/office/drawing/2014/main" id="{A9EB31C0-302A-00C3-6699-289B0360FD6F}"/>
              </a:ext>
            </a:extLst>
          </p:cNvPr>
          <p:cNvSpPr txBox="1"/>
          <p:nvPr/>
        </p:nvSpPr>
        <p:spPr>
          <a:xfrm>
            <a:off x="732984" y="4797814"/>
            <a:ext cx="10864284" cy="37422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316" marR="3081">
              <a:lnSpc>
                <a:spcPct val="1500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dirty="0">
                <a:latin typeface="NanumGothic" panose="020D0604000000000000" pitchFamily="34" charset="-127"/>
                <a:ea typeface="NanumGothic" panose="020D0604000000000000" pitchFamily="34" charset="-127"/>
                <a:cs typeface="Calibri"/>
                <a:sym typeface="Wingdings" pitchFamily="2" charset="2"/>
              </a:rPr>
              <a:t> Does the performance scales robustly with model size?</a:t>
            </a:r>
            <a:endParaRPr dirty="0">
              <a:latin typeface="NanumGothic" panose="020D0604000000000000" pitchFamily="34" charset="-127"/>
              <a:ea typeface="NanumGothic" panose="020D0604000000000000" pitchFamily="34" charset="-127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594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151B998-3013-45BE-D81E-6863B6D3D9D8}"/>
              </a:ext>
            </a:extLst>
          </p:cNvPr>
          <p:cNvSpPr/>
          <p:nvPr/>
        </p:nvSpPr>
        <p:spPr>
          <a:xfrm>
            <a:off x="0" y="2705100"/>
            <a:ext cx="12192000" cy="142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b="1" dirty="0">
                <a:solidFill>
                  <a:srgbClr val="3B5998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Q &amp; A</a:t>
            </a:r>
            <a:endParaRPr lang="ko-KR" altLang="en-US" sz="4400" b="1" dirty="0">
              <a:solidFill>
                <a:srgbClr val="3B5998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02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8845</TotalTime>
  <Words>1134</Words>
  <Application>Microsoft Macintosh PowerPoint</Application>
  <PresentationFormat>와이드스크린</PresentationFormat>
  <Paragraphs>161</Paragraphs>
  <Slides>16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NanumGothic</vt:lpstr>
      <vt:lpstr>나눔스퀘어 Bold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이호준</dc:creator>
  <cp:lastModifiedBy>Microsoft Office User</cp:lastModifiedBy>
  <cp:revision>202</cp:revision>
  <cp:lastPrinted>2020-05-20T04:16:35Z</cp:lastPrinted>
  <dcterms:created xsi:type="dcterms:W3CDTF">2020-05-18T10:54:56Z</dcterms:created>
  <dcterms:modified xsi:type="dcterms:W3CDTF">2022-05-31T03:18:23Z</dcterms:modified>
</cp:coreProperties>
</file>