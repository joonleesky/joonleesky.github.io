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9" r:id="rId4"/>
    <p:sldId id="260" r:id="rId5"/>
    <p:sldId id="262" r:id="rId6"/>
    <p:sldId id="263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7" r:id="rId15"/>
    <p:sldId id="278" r:id="rId16"/>
    <p:sldId id="279" r:id="rId17"/>
    <p:sldId id="283" r:id="rId18"/>
    <p:sldId id="280" r:id="rId19"/>
    <p:sldId id="281" r:id="rId20"/>
    <p:sldId id="282" r:id="rId21"/>
    <p:sldId id="287" r:id="rId22"/>
    <p:sldId id="288" r:id="rId23"/>
    <p:sldId id="289" r:id="rId24"/>
    <p:sldId id="291" r:id="rId25"/>
    <p:sldId id="290" r:id="rId26"/>
    <p:sldId id="292" r:id="rId27"/>
    <p:sldId id="296" r:id="rId28"/>
    <p:sldId id="300" r:id="rId29"/>
    <p:sldId id="301" r:id="rId30"/>
    <p:sldId id="302" r:id="rId31"/>
    <p:sldId id="303" r:id="rId32"/>
    <p:sldId id="299" r:id="rId33"/>
    <p:sldId id="334" r:id="rId34"/>
    <p:sldId id="318" r:id="rId35"/>
    <p:sldId id="324" r:id="rId36"/>
    <p:sldId id="325" r:id="rId37"/>
    <p:sldId id="326" r:id="rId38"/>
    <p:sldId id="327" r:id="rId39"/>
    <p:sldId id="328" r:id="rId40"/>
    <p:sldId id="329" r:id="rId41"/>
    <p:sldId id="323" r:id="rId42"/>
    <p:sldId id="306" r:id="rId43"/>
    <p:sldId id="307" r:id="rId44"/>
    <p:sldId id="330" r:id="rId45"/>
    <p:sldId id="331" r:id="rId46"/>
    <p:sldId id="342" r:id="rId47"/>
    <p:sldId id="332" r:id="rId48"/>
    <p:sldId id="341" r:id="rId49"/>
    <p:sldId id="335" r:id="rId50"/>
    <p:sldId id="343" r:id="rId51"/>
    <p:sldId id="344" r:id="rId52"/>
    <p:sldId id="345" r:id="rId53"/>
    <p:sldId id="336" r:id="rId54"/>
    <p:sldId id="346" r:id="rId55"/>
    <p:sldId id="337" r:id="rId56"/>
    <p:sldId id="338" r:id="rId57"/>
    <p:sldId id="340" r:id="rId58"/>
    <p:sldId id="339" r:id="rId59"/>
    <p:sldId id="316" r:id="rId60"/>
    <p:sldId id="347" r:id="rId61"/>
    <p:sldId id="351" r:id="rId62"/>
    <p:sldId id="352" r:id="rId63"/>
    <p:sldId id="353" r:id="rId64"/>
    <p:sldId id="354" r:id="rId65"/>
    <p:sldId id="355" r:id="rId66"/>
    <p:sldId id="369" r:id="rId67"/>
    <p:sldId id="370" r:id="rId68"/>
    <p:sldId id="371" r:id="rId69"/>
    <p:sldId id="372" r:id="rId70"/>
    <p:sldId id="373" r:id="rId71"/>
    <p:sldId id="374" r:id="rId72"/>
    <p:sldId id="365" r:id="rId73"/>
    <p:sldId id="366" r:id="rId74"/>
    <p:sldId id="367" r:id="rId75"/>
    <p:sldId id="364" r:id="rId76"/>
    <p:sldId id="368" r:id="rId77"/>
    <p:sldId id="376" r:id="rId78"/>
    <p:sldId id="377" r:id="rId79"/>
    <p:sldId id="378" r:id="rId80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82" userDrawn="1">
          <p15:clr>
            <a:srgbClr val="A4A3A4"/>
          </p15:clr>
        </p15:guide>
        <p15:guide id="4" pos="143" userDrawn="1">
          <p15:clr>
            <a:srgbClr val="A4A3A4"/>
          </p15:clr>
        </p15:guide>
        <p15:guide id="5" pos="10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8DC6"/>
    <a:srgbClr val="F76B5B"/>
    <a:srgbClr val="84898C"/>
    <a:srgbClr val="0F4C81"/>
    <a:srgbClr val="F3230D"/>
    <a:srgbClr val="ADC2E1"/>
    <a:srgbClr val="9AB4DA"/>
    <a:srgbClr val="23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662" y="1422"/>
      </p:cViewPr>
      <p:guideLst>
        <p:guide orient="horz" pos="2160"/>
        <p:guide pos="3840"/>
        <p:guide orient="horz" pos="482"/>
        <p:guide pos="143"/>
        <p:guide pos="10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DB0D5-D955-43C0-B8C6-771DD7DF6A8B}" type="datetimeFigureOut">
              <a:rPr lang="ko-KR" altLang="en-US" smtClean="0"/>
              <a:t>2020-05-21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CB7B5-3B91-4FB1-9904-3D50828F94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45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2823E-E729-43D3-8D5E-34284C6AB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BDE6A7-35A9-493C-8F2E-9085E0F45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399" indent="0" algn="ctr">
              <a:buNone/>
              <a:defRPr sz="1801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1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B913CF-F3BA-4096-BE71-9AB7B6687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2020-05-21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B6900A-D290-4B14-AD17-43719425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64D574-3F02-4F5D-9538-32C4C093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32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DC867-D89E-441B-A3BB-89289615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A622A7-B253-4040-AB29-2C087F7AD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524807-8EE5-487E-9229-7E7268B1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2020-05-21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D0A7CD-46BB-4496-A1D4-B5DF6540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B5BD74-AFF9-4559-ACFF-61B91E94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73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F9A14-B3AF-4D05-B771-C9628CA5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267CB8-3122-4805-88E5-A091F58CE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99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5BF0A2-16D9-4623-9289-032748B7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2020-05-21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534A6-BED2-4DD1-88B9-33E8763C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1A64E4-FF15-453E-B714-180B72316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97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49D40-5A96-47CC-B027-ACF88DFCC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4CC5BA-0A24-4F7D-9975-ED063378B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941558-3C91-45DB-ABC2-05700CABF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4A16BE-2428-41AA-BDC6-F747CBC6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2020-05-21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7AE334-C00E-46AA-8C9F-6E2A6216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59A530-2995-4BB6-913F-2DE99F27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49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CDFB3-DD3A-4054-AFDF-E32BB021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32514-0FE9-4E9A-8A6B-27B7FE9A5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399" indent="0">
              <a:buNone/>
              <a:defRPr sz="1801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1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AFE39D-F69D-4E1C-8325-1B9EE5EC1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CDD0D8-D6B7-4AFA-BBD5-D1CD389FF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399" indent="0">
              <a:buNone/>
              <a:defRPr sz="1801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1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DB117F-7D51-4D24-9B2F-29866DB8E5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6C985A-A36E-4730-9ED7-2A0847D3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2020-05-21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81BC75-57D4-4E95-A84C-E3DCEA1E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A04195-61D5-43AF-916E-9C7170C9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603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772EB-7481-4F30-84B1-F4D01367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E8C615-1484-4A20-9AC2-1A92F57D5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2020-05-21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BF092C-BFB3-4FF4-916B-54D56E10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2AD535-5825-4F12-B8E4-8F995E68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32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3974AA-D327-4789-988E-38E979808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2020-05-21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EF0ECF-7199-4E24-BDD7-49FEBAA46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2FFA47-13E1-43B8-9A86-17AC91CDF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55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2F7FB-F42A-4E2F-B37B-55EA982E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7FB187-5E93-4758-BEE2-ABC00B28A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31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95A3DE-7EED-4C6B-8A73-D2523AD06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1"/>
            </a:lvl2pPr>
            <a:lvl3pPr marL="914399" indent="0">
              <a:buNone/>
              <a:defRPr sz="1200"/>
            </a:lvl3pPr>
            <a:lvl4pPr marL="1371600" indent="0">
              <a:buNone/>
              <a:defRPr sz="1001"/>
            </a:lvl4pPr>
            <a:lvl5pPr marL="1828800" indent="0">
              <a:buNone/>
              <a:defRPr sz="1001"/>
            </a:lvl5pPr>
            <a:lvl6pPr marL="2286001" indent="0">
              <a:buNone/>
              <a:defRPr sz="1001"/>
            </a:lvl6pPr>
            <a:lvl7pPr marL="2743200" indent="0">
              <a:buNone/>
              <a:defRPr sz="1001"/>
            </a:lvl7pPr>
            <a:lvl8pPr marL="3200400" indent="0">
              <a:buNone/>
              <a:defRPr sz="1001"/>
            </a:lvl8pPr>
            <a:lvl9pPr marL="365760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9B6977-02B7-4EB3-8BA8-8FC67FD4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2020-05-21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3997A1-7BC5-48AF-8B73-9E1FC9115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22FA46-47D3-4EF1-BC8C-0A9A76563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36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D5D8B-4CF5-4A16-AE07-97FD73EA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A1BF7C-58A8-4C77-ABCB-84CFE2DBA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31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399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1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7FB22F-4982-4523-BDB4-7B807294C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1"/>
            </a:lvl2pPr>
            <a:lvl3pPr marL="914399" indent="0">
              <a:buNone/>
              <a:defRPr sz="1200"/>
            </a:lvl3pPr>
            <a:lvl4pPr marL="1371600" indent="0">
              <a:buNone/>
              <a:defRPr sz="1001"/>
            </a:lvl4pPr>
            <a:lvl5pPr marL="1828800" indent="0">
              <a:buNone/>
              <a:defRPr sz="1001"/>
            </a:lvl5pPr>
            <a:lvl6pPr marL="2286001" indent="0">
              <a:buNone/>
              <a:defRPr sz="1001"/>
            </a:lvl6pPr>
            <a:lvl7pPr marL="2743200" indent="0">
              <a:buNone/>
              <a:defRPr sz="1001"/>
            </a:lvl7pPr>
            <a:lvl8pPr marL="3200400" indent="0">
              <a:buNone/>
              <a:defRPr sz="1001"/>
            </a:lvl8pPr>
            <a:lvl9pPr marL="365760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3F5D52-08A6-4E5B-8BE1-E5BEB445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2020-05-21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73A35C-EC20-4287-8024-C1256230F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3A3C88-7C87-4374-A3B8-E1AA1616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814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4E34E-5AD3-4E42-AE24-DBB8FC6F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4E98AE-B7BD-4A08-B4AE-75D9BFBB2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F4E244-9D3C-4C94-AAA6-1723716F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2020-05-21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A1807A-E3E6-4D6B-821E-802D4014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8C2890-AAAF-4CE7-A8EA-AC9E5C14E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01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9F50E2-EFA8-4FBC-AA41-58B762F746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E057EF-F694-49DD-AFD7-715B668CC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9C970A-D635-4283-9220-5286F5AA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165A-F148-476D-A4EE-D83E0E67C23C}" type="datetimeFigureOut">
              <a:rPr lang="ko-KR" altLang="en-US" smtClean="0"/>
              <a:t>2020-05-21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3CD692-97CE-4C59-B55B-AFC973C90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D6FE3-42B4-4D87-982B-B5E08744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28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B05311-7553-4291-BFD7-B904109F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DF2E9A-B52D-496F-BB6E-F72CD2893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5101E9-CCB7-4926-AA5B-C73AD70CD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D165A-F148-476D-A4EE-D83E0E67C23C}" type="datetimeFigureOut">
              <a:rPr lang="ko-KR" altLang="en-US" smtClean="0"/>
              <a:t>2020-05-21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E57B4A-7916-4C12-A670-C1EBA29E1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D3293F-2D7E-4A97-99AD-AAC7146C1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B2014-0495-4B4A-B8C9-81A5A3DF8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352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9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399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1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1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99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1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21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29.png"/><Relationship Id="rId18" Type="http://schemas.openxmlformats.org/officeDocument/2006/relationships/image" Target="../media/image39.png"/><Relationship Id="rId3" Type="http://schemas.openxmlformats.org/officeDocument/2006/relationships/image" Target="../media/image23.png"/><Relationship Id="rId21" Type="http://schemas.openxmlformats.org/officeDocument/2006/relationships/image" Target="../media/image32.png"/><Relationship Id="rId7" Type="http://schemas.openxmlformats.org/officeDocument/2006/relationships/image" Target="../media/image27.png"/><Relationship Id="rId12" Type="http://schemas.openxmlformats.org/officeDocument/2006/relationships/image" Target="../media/image36.png"/><Relationship Id="rId17" Type="http://schemas.openxmlformats.org/officeDocument/2006/relationships/image" Target="../media/image38.png"/><Relationship Id="rId2" Type="http://schemas.openxmlformats.org/officeDocument/2006/relationships/image" Target="../media/image22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5.png"/><Relationship Id="rId5" Type="http://schemas.openxmlformats.org/officeDocument/2006/relationships/image" Target="../media/image25.png"/><Relationship Id="rId15" Type="http://schemas.openxmlformats.org/officeDocument/2006/relationships/image" Target="../media/image31.png"/><Relationship Id="rId10" Type="http://schemas.openxmlformats.org/officeDocument/2006/relationships/image" Target="../media/image34.png"/><Relationship Id="rId19" Type="http://schemas.openxmlformats.org/officeDocument/2006/relationships/image" Target="../media/image40.png"/><Relationship Id="rId4" Type="http://schemas.openxmlformats.org/officeDocument/2006/relationships/image" Target="../media/image24.png"/><Relationship Id="rId9" Type="http://schemas.openxmlformats.org/officeDocument/2006/relationships/image" Target="../media/image33.png"/><Relationship Id="rId14" Type="http://schemas.openxmlformats.org/officeDocument/2006/relationships/image" Target="../media/image30.png"/><Relationship Id="rId22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32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32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7.png"/><Relationship Id="rId7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7.png"/><Relationship Id="rId7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6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92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6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raphics.stanford.edu/courses/cs205a-13-fall/schedule.html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C7ECDBA-CD06-47AB-BA3E-443F9106DB6E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820AE0-3A26-4A48-8E07-8F0AE25951C1}"/>
              </a:ext>
            </a:extLst>
          </p:cNvPr>
          <p:cNvSpPr/>
          <p:nvPr/>
        </p:nvSpPr>
        <p:spPr>
          <a:xfrm>
            <a:off x="0" y="2388875"/>
            <a:ext cx="12192000" cy="142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Trust Region Policy Optimization</a:t>
            </a:r>
            <a:endParaRPr lang="ko-KR" altLang="en-US" sz="4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84AA8A-08F2-4DBA-BEF0-29B38F055B65}"/>
              </a:ext>
            </a:extLst>
          </p:cNvPr>
          <p:cNvSpPr/>
          <p:nvPr/>
        </p:nvSpPr>
        <p:spPr>
          <a:xfrm>
            <a:off x="0" y="3756664"/>
            <a:ext cx="12192000" cy="9677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80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2020.06.08</a:t>
            </a:r>
          </a:p>
          <a:p>
            <a:pPr algn="ctr">
              <a:lnSpc>
                <a:spcPct val="120000"/>
              </a:lnSpc>
            </a:pPr>
            <a:r>
              <a:rPr lang="en-US" altLang="ko-KR" sz="180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Hojoon</a:t>
            </a:r>
            <a:r>
              <a:rPr lang="en-US" altLang="ko-KR" sz="180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Lee</a:t>
            </a:r>
            <a:endParaRPr lang="ko-KR" altLang="en-US" sz="180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362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Motivation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1876C9-2C36-4833-BDA6-7A5A1F275025}"/>
              </a:ext>
            </a:extLst>
          </p:cNvPr>
          <p:cNvSpPr/>
          <p:nvPr/>
        </p:nvSpPr>
        <p:spPr>
          <a:xfrm>
            <a:off x="0" y="3084520"/>
            <a:ext cx="12192000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RL algorithms are </a:t>
            </a:r>
            <a:r>
              <a:rPr lang="en-US" altLang="ko-KR" sz="2400" dirty="0">
                <a:solidFill>
                  <a:srgbClr val="658DC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unstable</a:t>
            </a:r>
            <a:r>
              <a:rPr lang="en-US" altLang="ko-KR" sz="2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and </a:t>
            </a:r>
            <a:r>
              <a:rPr lang="en-US" altLang="ko-KR" sz="2400" dirty="0">
                <a:solidFill>
                  <a:srgbClr val="658DC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hard to reproduce</a:t>
            </a:r>
            <a:endParaRPr lang="ko-KR" altLang="en-US" sz="2400" dirty="0">
              <a:solidFill>
                <a:srgbClr val="658DC6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9917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Motivation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1876C9-2C36-4833-BDA6-7A5A1F275025}"/>
              </a:ext>
            </a:extLst>
          </p:cNvPr>
          <p:cNvSpPr/>
          <p:nvPr/>
        </p:nvSpPr>
        <p:spPr>
          <a:xfrm>
            <a:off x="0" y="3084520"/>
            <a:ext cx="12192000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Can we optimize the policies with </a:t>
            </a:r>
            <a:r>
              <a:rPr lang="en-US" altLang="ko-KR" sz="2400" dirty="0">
                <a:solidFill>
                  <a:srgbClr val="658DC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guaranteed monotonic improvement? </a:t>
            </a:r>
            <a:endParaRPr lang="ko-KR" altLang="en-US" sz="2400" dirty="0">
              <a:solidFill>
                <a:srgbClr val="658DC6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9256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Recap – Policy Gradients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37EC58-EF0B-4318-A223-F2AB552BFE9E}"/>
              </a:ext>
            </a:extLst>
          </p:cNvPr>
          <p:cNvSpPr txBox="1"/>
          <p:nvPr/>
        </p:nvSpPr>
        <p:spPr>
          <a:xfrm>
            <a:off x="3201232" y="1812266"/>
            <a:ext cx="4306343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Objective we would like to maximize </a:t>
            </a:r>
            <a:endParaRPr lang="ko-KR" altLang="en-US" sz="16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38C4DCA2-CAF2-409F-9813-2D23D444BF81}"/>
                  </a:ext>
                </a:extLst>
              </p:cNvPr>
              <p:cNvSpPr/>
              <p:nvPr/>
            </p:nvSpPr>
            <p:spPr>
              <a:xfrm>
                <a:off x="2539217" y="1800788"/>
                <a:ext cx="74587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ko-KR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ko-KR" altLang="en-US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38C4DCA2-CAF2-409F-9813-2D23D444B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217" y="1800788"/>
                <a:ext cx="745877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C951D9F-8B07-485A-9B5B-E2198AEDC500}"/>
                  </a:ext>
                </a:extLst>
              </p:cNvPr>
              <p:cNvSpPr/>
              <p:nvPr/>
            </p:nvSpPr>
            <p:spPr>
              <a:xfrm>
                <a:off x="236211" y="958994"/>
                <a:ext cx="4114416" cy="7647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unc>
                        <m:func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func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C951D9F-8B07-485A-9B5B-E2198AEDC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1" y="958994"/>
                <a:ext cx="4114416" cy="764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왼쪽 대괄호 47">
            <a:extLst>
              <a:ext uri="{FF2B5EF4-FFF2-40B4-BE49-F238E27FC236}">
                <a16:creationId xmlns:a16="http://schemas.microsoft.com/office/drawing/2014/main" id="{BE51BAA9-1371-4334-A97A-86DEC26B954F}"/>
              </a:ext>
            </a:extLst>
          </p:cNvPr>
          <p:cNvSpPr/>
          <p:nvPr/>
        </p:nvSpPr>
        <p:spPr>
          <a:xfrm rot="16200000">
            <a:off x="2983819" y="582142"/>
            <a:ext cx="45719" cy="2241036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</p:spTree>
    <p:extLst>
      <p:ext uri="{BB962C8B-B14F-4D97-AF65-F5344CB8AC3E}">
        <p14:creationId xmlns:p14="http://schemas.microsoft.com/office/powerpoint/2010/main" val="2875527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Recap – Policy Gradients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37EC58-EF0B-4318-A223-F2AB552BFE9E}"/>
              </a:ext>
            </a:extLst>
          </p:cNvPr>
          <p:cNvSpPr txBox="1"/>
          <p:nvPr/>
        </p:nvSpPr>
        <p:spPr>
          <a:xfrm>
            <a:off x="3201232" y="1812266"/>
            <a:ext cx="4306343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Objective we would like to maximize </a:t>
            </a:r>
            <a:endParaRPr lang="ko-KR" altLang="en-US" sz="16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38C4DCA2-CAF2-409F-9813-2D23D444BF81}"/>
                  </a:ext>
                </a:extLst>
              </p:cNvPr>
              <p:cNvSpPr/>
              <p:nvPr/>
            </p:nvSpPr>
            <p:spPr>
              <a:xfrm>
                <a:off x="2539217" y="1800788"/>
                <a:ext cx="74587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ko-KR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ko-KR" altLang="en-US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38C4DCA2-CAF2-409F-9813-2D23D444B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217" y="1800788"/>
                <a:ext cx="745877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C951D9F-8B07-485A-9B5B-E2198AEDC500}"/>
                  </a:ext>
                </a:extLst>
              </p:cNvPr>
              <p:cNvSpPr/>
              <p:nvPr/>
            </p:nvSpPr>
            <p:spPr>
              <a:xfrm>
                <a:off x="236211" y="958994"/>
                <a:ext cx="4114416" cy="7647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unc>
                        <m:func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func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C951D9F-8B07-485A-9B5B-E2198AEDC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1" y="958994"/>
                <a:ext cx="4114416" cy="764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왼쪽 대괄호 47">
            <a:extLst>
              <a:ext uri="{FF2B5EF4-FFF2-40B4-BE49-F238E27FC236}">
                <a16:creationId xmlns:a16="http://schemas.microsoft.com/office/drawing/2014/main" id="{BE51BAA9-1371-4334-A97A-86DEC26B954F}"/>
              </a:ext>
            </a:extLst>
          </p:cNvPr>
          <p:cNvSpPr/>
          <p:nvPr/>
        </p:nvSpPr>
        <p:spPr>
          <a:xfrm rot="16200000">
            <a:off x="2983819" y="582142"/>
            <a:ext cx="45719" cy="2241036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7442FBC-BB35-4604-875B-57B81BCE4F41}"/>
                  </a:ext>
                </a:extLst>
              </p:cNvPr>
              <p:cNvSpPr/>
              <p:nvPr/>
            </p:nvSpPr>
            <p:spPr>
              <a:xfrm>
                <a:off x="236217" y="2404269"/>
                <a:ext cx="5989329" cy="871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ko-KR" sz="1801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hr m:val="∑"/>
                          <m:ctrlPr>
                            <a:rPr lang="en-US" altLang="ko-KR" sz="1801" b="1" i="1" dirty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1" b="1" i="1" dirty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𝑙𝑜𝑔</m:t>
                              </m:r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ko-KR" sz="1801" b="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)]</m:t>
                          </m:r>
                        </m:e>
                      </m:nary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7442FBC-BB35-4604-875B-57B81BCE4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7" y="2404269"/>
                <a:ext cx="5989329" cy="8715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0097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Recap – Policy Gradients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37EC58-EF0B-4318-A223-F2AB552BFE9E}"/>
              </a:ext>
            </a:extLst>
          </p:cNvPr>
          <p:cNvSpPr txBox="1"/>
          <p:nvPr/>
        </p:nvSpPr>
        <p:spPr>
          <a:xfrm>
            <a:off x="3201232" y="1812266"/>
            <a:ext cx="4306343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Objective we would like to maximize </a:t>
            </a:r>
            <a:endParaRPr lang="ko-KR" altLang="en-US" sz="16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E1057E3-44F3-4DB6-9109-07F20AE5B234}"/>
              </a:ext>
            </a:extLst>
          </p:cNvPr>
          <p:cNvCxnSpPr/>
          <p:nvPr/>
        </p:nvCxnSpPr>
        <p:spPr>
          <a:xfrm>
            <a:off x="1175712" y="6358289"/>
            <a:ext cx="44231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6FE21C3-8E79-45E0-AA53-3A7DB02ACD10}"/>
              </a:ext>
            </a:extLst>
          </p:cNvPr>
          <p:cNvCxnSpPr/>
          <p:nvPr/>
        </p:nvCxnSpPr>
        <p:spPr>
          <a:xfrm flipV="1">
            <a:off x="1175712" y="4486960"/>
            <a:ext cx="0" cy="18713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자유형 9">
            <a:extLst>
              <a:ext uri="{FF2B5EF4-FFF2-40B4-BE49-F238E27FC236}">
                <a16:creationId xmlns:a16="http://schemas.microsoft.com/office/drawing/2014/main" id="{64D6BE7F-5412-4B3A-8677-84509D1CD7E8}"/>
              </a:ext>
            </a:extLst>
          </p:cNvPr>
          <p:cNvSpPr/>
          <p:nvPr/>
        </p:nvSpPr>
        <p:spPr>
          <a:xfrm>
            <a:off x="1186350" y="4531051"/>
            <a:ext cx="4364863" cy="1749954"/>
          </a:xfrm>
          <a:custGeom>
            <a:avLst/>
            <a:gdLst>
              <a:gd name="connsiteX0" fmla="*/ 0 w 4364862"/>
              <a:gd name="connsiteY0" fmla="*/ 859677 h 1749954"/>
              <a:gd name="connsiteX1" fmla="*/ 467833 w 4364862"/>
              <a:gd name="connsiteY1" fmla="*/ 115398 h 1749954"/>
              <a:gd name="connsiteX2" fmla="*/ 1648047 w 4364862"/>
              <a:gd name="connsiteY2" fmla="*/ 1306245 h 1749954"/>
              <a:gd name="connsiteX3" fmla="*/ 2615610 w 4364862"/>
              <a:gd name="connsiteY3" fmla="*/ 689556 h 1749954"/>
              <a:gd name="connsiteX4" fmla="*/ 3402419 w 4364862"/>
              <a:gd name="connsiteY4" fmla="*/ 1742180 h 1749954"/>
              <a:gd name="connsiteX5" fmla="*/ 3902149 w 4364862"/>
              <a:gd name="connsiteY5" fmla="*/ 30338 h 1749954"/>
              <a:gd name="connsiteX6" fmla="*/ 4284921 w 4364862"/>
              <a:gd name="connsiteY6" fmla="*/ 636394 h 1749954"/>
              <a:gd name="connsiteX7" fmla="*/ 4359349 w 4364862"/>
              <a:gd name="connsiteY7" fmla="*/ 498170 h 1749954"/>
              <a:gd name="connsiteX8" fmla="*/ 4359349 w 4364862"/>
              <a:gd name="connsiteY8" fmla="*/ 508803 h 1749954"/>
              <a:gd name="connsiteX9" fmla="*/ 4359349 w 4364862"/>
              <a:gd name="connsiteY9" fmla="*/ 455640 h 1749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64862" h="1749954">
                <a:moveTo>
                  <a:pt x="0" y="859677"/>
                </a:moveTo>
                <a:cubicBezTo>
                  <a:pt x="96579" y="450323"/>
                  <a:pt x="193159" y="40970"/>
                  <a:pt x="467833" y="115398"/>
                </a:cubicBezTo>
                <a:cubicBezTo>
                  <a:pt x="742507" y="189826"/>
                  <a:pt x="1290084" y="1210552"/>
                  <a:pt x="1648047" y="1306245"/>
                </a:cubicBezTo>
                <a:cubicBezTo>
                  <a:pt x="2006010" y="1401938"/>
                  <a:pt x="2323215" y="616900"/>
                  <a:pt x="2615610" y="689556"/>
                </a:cubicBezTo>
                <a:cubicBezTo>
                  <a:pt x="2908005" y="762212"/>
                  <a:pt x="3187996" y="1852050"/>
                  <a:pt x="3402419" y="1742180"/>
                </a:cubicBezTo>
                <a:cubicBezTo>
                  <a:pt x="3616842" y="1632310"/>
                  <a:pt x="3755065" y="214636"/>
                  <a:pt x="3902149" y="30338"/>
                </a:cubicBezTo>
                <a:cubicBezTo>
                  <a:pt x="4049233" y="-153960"/>
                  <a:pt x="4208721" y="558422"/>
                  <a:pt x="4284921" y="636394"/>
                </a:cubicBezTo>
                <a:cubicBezTo>
                  <a:pt x="4361121" y="714366"/>
                  <a:pt x="4346944" y="519435"/>
                  <a:pt x="4359349" y="498170"/>
                </a:cubicBezTo>
                <a:cubicBezTo>
                  <a:pt x="4371754" y="476905"/>
                  <a:pt x="4359349" y="508803"/>
                  <a:pt x="4359349" y="508803"/>
                </a:cubicBezTo>
                <a:lnTo>
                  <a:pt x="4359349" y="45564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A0B5D2D1-B4ED-425B-B06A-6BDC94BA8FC7}"/>
                  </a:ext>
                </a:extLst>
              </p:cNvPr>
              <p:cNvSpPr/>
              <p:nvPr/>
            </p:nvSpPr>
            <p:spPr>
              <a:xfrm>
                <a:off x="518161" y="4494580"/>
                <a:ext cx="63075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ko-KR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A0B5D2D1-B4ED-425B-B06A-6BDC94BA8F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1" y="4494580"/>
                <a:ext cx="630750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78B48F68-A5BB-49EE-883A-CCD4F8FEC28E}"/>
                  </a:ext>
                </a:extLst>
              </p:cNvPr>
              <p:cNvSpPr/>
              <p:nvPr/>
            </p:nvSpPr>
            <p:spPr>
              <a:xfrm>
                <a:off x="5285001" y="6420391"/>
                <a:ext cx="37824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78B48F68-A5BB-49EE-883A-CCD4F8FEC2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001" y="6420391"/>
                <a:ext cx="378245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FACA1C22-A66E-405C-B4A0-4F54C65A3D08}"/>
              </a:ext>
            </a:extLst>
          </p:cNvPr>
          <p:cNvSpPr txBox="1"/>
          <p:nvPr/>
        </p:nvSpPr>
        <p:spPr>
          <a:xfrm>
            <a:off x="2085742" y="3578026"/>
            <a:ext cx="4306343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Perform </a:t>
            </a:r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Gradient Ascent</a:t>
            </a:r>
            <a:endParaRPr lang="ko-KR" altLang="en-US" sz="16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ACD890E2-E8B4-4F98-BBB3-B97F12532B21}"/>
              </a:ext>
            </a:extLst>
          </p:cNvPr>
          <p:cNvSpPr/>
          <p:nvPr/>
        </p:nvSpPr>
        <p:spPr>
          <a:xfrm>
            <a:off x="4127187" y="5685632"/>
            <a:ext cx="223440" cy="236724"/>
          </a:xfrm>
          <a:prstGeom prst="ellipse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A1EA8B1-6BC3-4485-84BE-B3E058254C9A}"/>
              </a:ext>
            </a:extLst>
          </p:cNvPr>
          <p:cNvCxnSpPr>
            <a:cxnSpLocks/>
          </p:cNvCxnSpPr>
          <p:nvPr/>
        </p:nvCxnSpPr>
        <p:spPr>
          <a:xfrm flipH="1" flipV="1">
            <a:off x="3800880" y="5050486"/>
            <a:ext cx="366745" cy="635147"/>
          </a:xfrm>
          <a:prstGeom prst="straightConnector1">
            <a:avLst/>
          </a:prstGeom>
          <a:ln w="19050">
            <a:solidFill>
              <a:srgbClr val="658DC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6D5AD0-9877-49F8-AB12-28D4D80B370B}"/>
              </a:ext>
            </a:extLst>
          </p:cNvPr>
          <p:cNvSpPr txBox="1"/>
          <p:nvPr/>
        </p:nvSpPr>
        <p:spPr>
          <a:xfrm>
            <a:off x="3106469" y="4771702"/>
            <a:ext cx="1388823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Policy Gradient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38C4DCA2-CAF2-409F-9813-2D23D444BF81}"/>
                  </a:ext>
                </a:extLst>
              </p:cNvPr>
              <p:cNvSpPr/>
              <p:nvPr/>
            </p:nvSpPr>
            <p:spPr>
              <a:xfrm>
                <a:off x="2539217" y="1800788"/>
                <a:ext cx="74587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ko-KR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ko-KR" altLang="en-US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38C4DCA2-CAF2-409F-9813-2D23D444B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217" y="1800788"/>
                <a:ext cx="74587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C951D9F-8B07-485A-9B5B-E2198AEDC500}"/>
                  </a:ext>
                </a:extLst>
              </p:cNvPr>
              <p:cNvSpPr/>
              <p:nvPr/>
            </p:nvSpPr>
            <p:spPr>
              <a:xfrm>
                <a:off x="236211" y="958994"/>
                <a:ext cx="4114416" cy="7647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unc>
                        <m:func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func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C951D9F-8B07-485A-9B5B-E2198AEDC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1" y="958994"/>
                <a:ext cx="4114416" cy="7647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왼쪽 대괄호 47">
            <a:extLst>
              <a:ext uri="{FF2B5EF4-FFF2-40B4-BE49-F238E27FC236}">
                <a16:creationId xmlns:a16="http://schemas.microsoft.com/office/drawing/2014/main" id="{BE51BAA9-1371-4334-A97A-86DEC26B954F}"/>
              </a:ext>
            </a:extLst>
          </p:cNvPr>
          <p:cNvSpPr/>
          <p:nvPr/>
        </p:nvSpPr>
        <p:spPr>
          <a:xfrm rot="16200000">
            <a:off x="2983819" y="582142"/>
            <a:ext cx="45719" cy="2241036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7442FBC-BB35-4604-875B-57B81BCE4F41}"/>
                  </a:ext>
                </a:extLst>
              </p:cNvPr>
              <p:cNvSpPr/>
              <p:nvPr/>
            </p:nvSpPr>
            <p:spPr>
              <a:xfrm>
                <a:off x="236217" y="2404269"/>
                <a:ext cx="5989329" cy="871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ko-KR" sz="1801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hr m:val="∑"/>
                          <m:ctrlPr>
                            <a:rPr lang="en-US" altLang="ko-KR" sz="1801" b="1" i="1" dirty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1" b="1" i="1" dirty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𝑙𝑜𝑔</m:t>
                              </m:r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ko-KR" sz="1801" b="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)]</m:t>
                          </m:r>
                        </m:e>
                      </m:nary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7442FBC-BB35-4604-875B-57B81BCE4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7" y="2404269"/>
                <a:ext cx="5989329" cy="8715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1FADA725-6D0B-4C40-872A-496BFF4630A7}"/>
                  </a:ext>
                </a:extLst>
              </p:cNvPr>
              <p:cNvSpPr/>
              <p:nvPr/>
            </p:nvSpPr>
            <p:spPr>
              <a:xfrm>
                <a:off x="239133" y="3562633"/>
                <a:ext cx="1894429" cy="369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ko-KR" sz="1801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altLang="ko-KR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1FADA725-6D0B-4C40-872A-496BFF4630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33" y="3562633"/>
                <a:ext cx="1894429" cy="3694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1991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Policy Improvement Theorem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FCC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584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Policy Improvement Theorem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FCC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B105431-BC36-447F-8EB4-0748FB041723}"/>
                  </a:ext>
                </a:extLst>
              </p:cNvPr>
              <p:cNvSpPr/>
              <p:nvPr/>
            </p:nvSpPr>
            <p:spPr>
              <a:xfrm>
                <a:off x="1584964" y="1439054"/>
                <a:ext cx="4625339" cy="43217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B105431-BC36-447F-8EB4-0748FB0417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4" y="1439054"/>
                <a:ext cx="4625339" cy="4321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327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Policy Improvement Theorem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FCC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B105431-BC36-447F-8EB4-0748FB041723}"/>
                  </a:ext>
                </a:extLst>
              </p:cNvPr>
              <p:cNvSpPr/>
              <p:nvPr/>
            </p:nvSpPr>
            <p:spPr>
              <a:xfrm>
                <a:off x="1584964" y="1439054"/>
                <a:ext cx="4625339" cy="43217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B105431-BC36-447F-8EB4-0748FB0417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4" y="1439054"/>
                <a:ext cx="4625339" cy="4321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C812C4E8-7EFD-416A-8C20-D7047EC203AF}"/>
                  </a:ext>
                </a:extLst>
              </p:cNvPr>
              <p:cNvSpPr/>
              <p:nvPr/>
            </p:nvSpPr>
            <p:spPr>
              <a:xfrm>
                <a:off x="1584960" y="1952969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C812C4E8-7EFD-416A-8C20-D7047EC20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1952969"/>
                <a:ext cx="9570720" cy="830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676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Policy Improvement Theorem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FCC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B105431-BC36-447F-8EB4-0748FB041723}"/>
                  </a:ext>
                </a:extLst>
              </p:cNvPr>
              <p:cNvSpPr/>
              <p:nvPr/>
            </p:nvSpPr>
            <p:spPr>
              <a:xfrm>
                <a:off x="1584964" y="1439054"/>
                <a:ext cx="4625339" cy="43217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B105431-BC36-447F-8EB4-0748FB0417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4" y="1439054"/>
                <a:ext cx="4625339" cy="4321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C812C4E8-7EFD-416A-8C20-D7047EC203AF}"/>
                  </a:ext>
                </a:extLst>
              </p:cNvPr>
              <p:cNvSpPr/>
              <p:nvPr/>
            </p:nvSpPr>
            <p:spPr>
              <a:xfrm>
                <a:off x="1584960" y="1952969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C812C4E8-7EFD-416A-8C20-D7047EC20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1952969"/>
                <a:ext cx="9570720" cy="830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B8699868-D00E-4B60-8E5C-49EF3EEEBB5F}"/>
                  </a:ext>
                </a:extLst>
              </p:cNvPr>
              <p:cNvSpPr/>
              <p:nvPr/>
            </p:nvSpPr>
            <p:spPr>
              <a:xfrm>
                <a:off x="1584960" y="2864751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B8699868-D00E-4B60-8E5C-49EF3EEEBB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2864751"/>
                <a:ext cx="9570720" cy="8306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2894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Policy Improvement Theorem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FCC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B105431-BC36-447F-8EB4-0748FB041723}"/>
                  </a:ext>
                </a:extLst>
              </p:cNvPr>
              <p:cNvSpPr/>
              <p:nvPr/>
            </p:nvSpPr>
            <p:spPr>
              <a:xfrm>
                <a:off x="1584964" y="1439054"/>
                <a:ext cx="4625339" cy="43217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B105431-BC36-447F-8EB4-0748FB0417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4" y="1439054"/>
                <a:ext cx="4625339" cy="4321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C812C4E8-7EFD-416A-8C20-D7047EC203AF}"/>
                  </a:ext>
                </a:extLst>
              </p:cNvPr>
              <p:cNvSpPr/>
              <p:nvPr/>
            </p:nvSpPr>
            <p:spPr>
              <a:xfrm>
                <a:off x="1584960" y="1952969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C812C4E8-7EFD-416A-8C20-D7047EC20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1952969"/>
                <a:ext cx="9570720" cy="830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B8699868-D00E-4B60-8E5C-49EF3EEEBB5F}"/>
                  </a:ext>
                </a:extLst>
              </p:cNvPr>
              <p:cNvSpPr/>
              <p:nvPr/>
            </p:nvSpPr>
            <p:spPr>
              <a:xfrm>
                <a:off x="1584960" y="2864751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B8699868-D00E-4B60-8E5C-49EF3EEEBB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2864751"/>
                <a:ext cx="9570720" cy="8306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B1F8F08-686C-4F89-BFDE-0914BD441DBF}"/>
                  </a:ext>
                </a:extLst>
              </p:cNvPr>
              <p:cNvSpPr/>
              <p:nvPr/>
            </p:nvSpPr>
            <p:spPr>
              <a:xfrm>
                <a:off x="1584960" y="3776532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B1F8F08-686C-4F89-BFDE-0914BD441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3776532"/>
                <a:ext cx="9570720" cy="8306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629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Policy Improvement Theorem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FCC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B105431-BC36-447F-8EB4-0748FB041723}"/>
                  </a:ext>
                </a:extLst>
              </p:cNvPr>
              <p:cNvSpPr/>
              <p:nvPr/>
            </p:nvSpPr>
            <p:spPr>
              <a:xfrm>
                <a:off x="1584964" y="1439054"/>
                <a:ext cx="4625339" cy="43217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B105431-BC36-447F-8EB4-0748FB0417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4" y="1439054"/>
                <a:ext cx="4625339" cy="4321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C812C4E8-7EFD-416A-8C20-D7047EC203AF}"/>
                  </a:ext>
                </a:extLst>
              </p:cNvPr>
              <p:cNvSpPr/>
              <p:nvPr/>
            </p:nvSpPr>
            <p:spPr>
              <a:xfrm>
                <a:off x="1584960" y="1952969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C812C4E8-7EFD-416A-8C20-D7047EC20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1952969"/>
                <a:ext cx="9570720" cy="830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B8699868-D00E-4B60-8E5C-49EF3EEEBB5F}"/>
                  </a:ext>
                </a:extLst>
              </p:cNvPr>
              <p:cNvSpPr/>
              <p:nvPr/>
            </p:nvSpPr>
            <p:spPr>
              <a:xfrm>
                <a:off x="1584960" y="2864751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B8699868-D00E-4B60-8E5C-49EF3EEEBB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2864751"/>
                <a:ext cx="9570720" cy="8306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B1F8F08-686C-4F89-BFDE-0914BD441DBF}"/>
                  </a:ext>
                </a:extLst>
              </p:cNvPr>
              <p:cNvSpPr/>
              <p:nvPr/>
            </p:nvSpPr>
            <p:spPr>
              <a:xfrm>
                <a:off x="1584960" y="3776532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B1F8F08-686C-4F89-BFDE-0914BD441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3776532"/>
                <a:ext cx="9570720" cy="8306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B7172112-7C11-4519-8CEA-2DE78840A125}"/>
                  </a:ext>
                </a:extLst>
              </p:cNvPr>
              <p:cNvSpPr/>
              <p:nvPr/>
            </p:nvSpPr>
            <p:spPr>
              <a:xfrm>
                <a:off x="1584960" y="4688313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B7172112-7C11-4519-8CEA-2DE78840A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4688313"/>
                <a:ext cx="9570720" cy="8306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9292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Policy Improvement Theorem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FCC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958998"/>
                <a:ext cx="5974089" cy="3983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B105431-BC36-447F-8EB4-0748FB041723}"/>
                  </a:ext>
                </a:extLst>
              </p:cNvPr>
              <p:cNvSpPr/>
              <p:nvPr/>
            </p:nvSpPr>
            <p:spPr>
              <a:xfrm>
                <a:off x="1584964" y="1439054"/>
                <a:ext cx="4625339" cy="43217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B105431-BC36-447F-8EB4-0748FB0417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4" y="1439054"/>
                <a:ext cx="4625339" cy="4321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C812C4E8-7EFD-416A-8C20-D7047EC203AF}"/>
                  </a:ext>
                </a:extLst>
              </p:cNvPr>
              <p:cNvSpPr/>
              <p:nvPr/>
            </p:nvSpPr>
            <p:spPr>
              <a:xfrm>
                <a:off x="1584960" y="1952969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C812C4E8-7EFD-416A-8C20-D7047EC20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1952969"/>
                <a:ext cx="9570720" cy="830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B8699868-D00E-4B60-8E5C-49EF3EEEBB5F}"/>
                  </a:ext>
                </a:extLst>
              </p:cNvPr>
              <p:cNvSpPr/>
              <p:nvPr/>
            </p:nvSpPr>
            <p:spPr>
              <a:xfrm>
                <a:off x="1584960" y="2864751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B8699868-D00E-4B60-8E5C-49EF3EEEBB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2864751"/>
                <a:ext cx="9570720" cy="8306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B1F8F08-686C-4F89-BFDE-0914BD441DBF}"/>
                  </a:ext>
                </a:extLst>
              </p:cNvPr>
              <p:cNvSpPr/>
              <p:nvPr/>
            </p:nvSpPr>
            <p:spPr>
              <a:xfrm>
                <a:off x="1584960" y="3776532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B1F8F08-686C-4F89-BFDE-0914BD441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3776532"/>
                <a:ext cx="9570720" cy="8306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B7172112-7C11-4519-8CEA-2DE78840A125}"/>
                  </a:ext>
                </a:extLst>
              </p:cNvPr>
              <p:cNvSpPr/>
              <p:nvPr/>
            </p:nvSpPr>
            <p:spPr>
              <a:xfrm>
                <a:off x="1584960" y="4688313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B7172112-7C11-4519-8CEA-2DE78840A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4688313"/>
                <a:ext cx="9570720" cy="8306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66001433-53C7-433D-A3FD-14A84483B850}"/>
                  </a:ext>
                </a:extLst>
              </p:cNvPr>
              <p:cNvSpPr/>
              <p:nvPr/>
            </p:nvSpPr>
            <p:spPr>
              <a:xfrm>
                <a:off x="1584960" y="5600093"/>
                <a:ext cx="9570720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66001433-53C7-433D-A3FD-14A84483B8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960" y="5600093"/>
                <a:ext cx="9570720" cy="8306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518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Policy Improvement Theorem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5" y="958994"/>
                <a:ext cx="5974089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958994"/>
                <a:ext cx="5974089" cy="830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1535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Policy Improvement Theorem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5" y="958994"/>
                <a:ext cx="5974089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958994"/>
                <a:ext cx="5974089" cy="830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1BB38D8-3823-4DF6-ACD1-D9EFD9F04DE2}"/>
                  </a:ext>
                </a:extLst>
              </p:cNvPr>
              <p:cNvSpPr/>
              <p:nvPr/>
            </p:nvSpPr>
            <p:spPr>
              <a:xfrm>
                <a:off x="236215" y="1983106"/>
                <a:ext cx="5974089" cy="76501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1BB38D8-3823-4DF6-ACD1-D9EFD9F04D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1983106"/>
                <a:ext cx="5974089" cy="7650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3234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Policy Improvement Theorem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5" y="958994"/>
                <a:ext cx="5974089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958994"/>
                <a:ext cx="5974089" cy="830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1BB38D8-3823-4DF6-ACD1-D9EFD9F04DE2}"/>
                  </a:ext>
                </a:extLst>
              </p:cNvPr>
              <p:cNvSpPr/>
              <p:nvPr/>
            </p:nvSpPr>
            <p:spPr>
              <a:xfrm>
                <a:off x="236215" y="1983106"/>
                <a:ext cx="5974089" cy="76501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1BB38D8-3823-4DF6-ACD1-D9EFD9F04D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1983106"/>
                <a:ext cx="5974089" cy="7650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B81E226-0F02-4870-BEE4-09C1788313AD}"/>
                  </a:ext>
                </a:extLst>
              </p:cNvPr>
              <p:cNvSpPr/>
              <p:nvPr/>
            </p:nvSpPr>
            <p:spPr>
              <a:xfrm>
                <a:off x="236213" y="2941685"/>
                <a:ext cx="7734311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>
                                    <m:f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altLang="ko-KR" sz="1801" i="1">
                                                  <a:ln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  <a:alpha val="30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ko-KR" altLang="en-US" sz="1801" i="1">
                                                  <a:ln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  <a:alpha val="30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sz="1801" i="1">
                                                  <a:ln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  <a:alpha val="30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B81E226-0F02-4870-BEE4-09C1788313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3" y="2941685"/>
                <a:ext cx="7734311" cy="830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07730FC-28A1-44BC-B290-B0C3E8C489CF}"/>
              </a:ext>
            </a:extLst>
          </p:cNvPr>
          <p:cNvSpPr txBox="1"/>
          <p:nvPr/>
        </p:nvSpPr>
        <p:spPr>
          <a:xfrm>
            <a:off x="7156013" y="3187559"/>
            <a:ext cx="4306343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Importance Sampling</a:t>
            </a:r>
            <a:endParaRPr lang="ko-KR" altLang="en-US" sz="16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9160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Policy Improvement Theorem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5" y="958994"/>
                <a:ext cx="5974089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958994"/>
                <a:ext cx="5974089" cy="830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1BB38D8-3823-4DF6-ACD1-D9EFD9F04DE2}"/>
                  </a:ext>
                </a:extLst>
              </p:cNvPr>
              <p:cNvSpPr/>
              <p:nvPr/>
            </p:nvSpPr>
            <p:spPr>
              <a:xfrm>
                <a:off x="236215" y="1983106"/>
                <a:ext cx="5974089" cy="76501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1BB38D8-3823-4DF6-ACD1-D9EFD9F04D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1983106"/>
                <a:ext cx="5974089" cy="7650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083B80-8275-469F-9C38-EFA5C5F0393D}"/>
                  </a:ext>
                </a:extLst>
              </p:cNvPr>
              <p:cNvSpPr txBox="1"/>
              <p:nvPr/>
            </p:nvSpPr>
            <p:spPr>
              <a:xfrm>
                <a:off x="2473104" y="3900268"/>
                <a:ext cx="7474395" cy="33855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  </m:t>
                    </m:r>
                  </m:oMath>
                </a14:m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we can </a:t>
                </a:r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658DC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guarantee the policy improvement</a:t>
                </a:r>
                <a:endParaRPr lang="ko-KR" altLang="en-US" sz="16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083B80-8275-469F-9C38-EFA5C5F03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104" y="3900268"/>
                <a:ext cx="747439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왼쪽 대괄호 12">
            <a:extLst>
              <a:ext uri="{FF2B5EF4-FFF2-40B4-BE49-F238E27FC236}">
                <a16:creationId xmlns:a16="http://schemas.microsoft.com/office/drawing/2014/main" id="{76B4659A-AB4F-4B14-98E0-158ECD24F3B7}"/>
              </a:ext>
            </a:extLst>
          </p:cNvPr>
          <p:cNvSpPr/>
          <p:nvPr/>
        </p:nvSpPr>
        <p:spPr>
          <a:xfrm rot="16200000">
            <a:off x="4642597" y="1411785"/>
            <a:ext cx="45719" cy="4766110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B81E226-0F02-4870-BEE4-09C1788313AD}"/>
                  </a:ext>
                </a:extLst>
              </p:cNvPr>
              <p:cNvSpPr/>
              <p:nvPr/>
            </p:nvSpPr>
            <p:spPr>
              <a:xfrm>
                <a:off x="236213" y="2941685"/>
                <a:ext cx="7734311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>
                                    <m:f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altLang="ko-KR" sz="1801" i="1">
                                                  <a:ln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  <a:alpha val="30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ko-KR" altLang="en-US" sz="1801" i="1">
                                                  <a:ln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  <a:alpha val="30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sz="1801" i="1">
                                                  <a:ln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  <a:alpha val="30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B81E226-0F02-4870-BEE4-09C1788313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3" y="2941685"/>
                <a:ext cx="7734311" cy="8306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1773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Policy Improvement Theorem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5" y="958994"/>
                <a:ext cx="5974089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958994"/>
                <a:ext cx="5974089" cy="830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1BB38D8-3823-4DF6-ACD1-D9EFD9F04DE2}"/>
                  </a:ext>
                </a:extLst>
              </p:cNvPr>
              <p:cNvSpPr/>
              <p:nvPr/>
            </p:nvSpPr>
            <p:spPr>
              <a:xfrm>
                <a:off x="236215" y="1983106"/>
                <a:ext cx="5974089" cy="76501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1BB38D8-3823-4DF6-ACD1-D9EFD9F04D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1983106"/>
                <a:ext cx="5974089" cy="7650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083B80-8275-469F-9C38-EFA5C5F0393D}"/>
                  </a:ext>
                </a:extLst>
              </p:cNvPr>
              <p:cNvSpPr txBox="1"/>
              <p:nvPr/>
            </p:nvSpPr>
            <p:spPr>
              <a:xfrm>
                <a:off x="2473104" y="3900268"/>
                <a:ext cx="7474395" cy="33855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≥0,  </m:t>
                    </m:r>
                  </m:oMath>
                </a14:m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we can </a:t>
                </a:r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658DC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guarantee the policy improvement</a:t>
                </a:r>
                <a:endParaRPr lang="ko-KR" altLang="en-US" sz="16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083B80-8275-469F-9C38-EFA5C5F03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104" y="3900268"/>
                <a:ext cx="747439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왼쪽 대괄호 12">
            <a:extLst>
              <a:ext uri="{FF2B5EF4-FFF2-40B4-BE49-F238E27FC236}">
                <a16:creationId xmlns:a16="http://schemas.microsoft.com/office/drawing/2014/main" id="{76B4659A-AB4F-4B14-98E0-158ECD24F3B7}"/>
              </a:ext>
            </a:extLst>
          </p:cNvPr>
          <p:cNvSpPr/>
          <p:nvPr/>
        </p:nvSpPr>
        <p:spPr>
          <a:xfrm rot="16200000">
            <a:off x="4642597" y="1411785"/>
            <a:ext cx="45719" cy="4766110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60F610-DF39-430F-9C7E-5EB659E8B704}"/>
                  </a:ext>
                </a:extLst>
              </p:cNvPr>
              <p:cNvSpPr txBox="1"/>
              <p:nvPr/>
            </p:nvSpPr>
            <p:spPr>
              <a:xfrm>
                <a:off x="2473104" y="4321393"/>
                <a:ext cx="7474395" cy="34144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However, sampling the trajectory under the new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p>
                          <m:sSupPr>
                            <m:ctrlPr>
                              <a:rPr lang="en-US" altLang="ko-KR" sz="16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6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sz="16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ko-KR" altLang="en-US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658DC6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</a:t>
                </a:r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is </a:t>
                </a:r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658DC6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impractical</a:t>
                </a:r>
                <a:endParaRPr lang="ko-KR" altLang="en-US" sz="16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60F610-DF39-430F-9C7E-5EB659E8B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104" y="4321393"/>
                <a:ext cx="7474395" cy="3414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B81E226-0F02-4870-BEE4-09C1788313AD}"/>
                  </a:ext>
                </a:extLst>
              </p:cNvPr>
              <p:cNvSpPr/>
              <p:nvPr/>
            </p:nvSpPr>
            <p:spPr>
              <a:xfrm>
                <a:off x="236213" y="2941685"/>
                <a:ext cx="7734311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>
                                    <m:f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altLang="ko-KR" sz="1801" i="1">
                                                  <a:ln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  <a:alpha val="30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ko-KR" altLang="en-US" sz="1801" i="1">
                                                  <a:ln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  <a:alpha val="30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sz="1801" i="1">
                                                  <a:ln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  <a:alpha val="30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B81E226-0F02-4870-BEE4-09C1788313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3" y="2941685"/>
                <a:ext cx="7734311" cy="8306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657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Policy Improvement Theorem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5" y="958994"/>
                <a:ext cx="5974089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958994"/>
                <a:ext cx="5974089" cy="830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1BB38D8-3823-4DF6-ACD1-D9EFD9F04DE2}"/>
                  </a:ext>
                </a:extLst>
              </p:cNvPr>
              <p:cNvSpPr/>
              <p:nvPr/>
            </p:nvSpPr>
            <p:spPr>
              <a:xfrm>
                <a:off x="236215" y="1983106"/>
                <a:ext cx="5974089" cy="76501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1BB38D8-3823-4DF6-ACD1-D9EFD9F04D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5" y="1983106"/>
                <a:ext cx="5974089" cy="7650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B81E226-0F02-4870-BEE4-09C1788313AD}"/>
                  </a:ext>
                </a:extLst>
              </p:cNvPr>
              <p:cNvSpPr/>
              <p:nvPr/>
            </p:nvSpPr>
            <p:spPr>
              <a:xfrm>
                <a:off x="236213" y="2941685"/>
                <a:ext cx="7734311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>
                                    <m:f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sSup>
                                            <m:sSupPr>
                                              <m:ctrlPr>
                                                <a:rPr lang="en-US" altLang="ko-KR" sz="1801" i="1">
                                                  <a:ln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  <a:alpha val="30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ko-KR" altLang="en-US" sz="1801" i="1">
                                                  <a:ln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  <a:alpha val="30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sz="1801" i="1">
                                                  <a:ln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  <a:alpha val="30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B81E226-0F02-4870-BEE4-09C1788313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3" y="2941685"/>
                <a:ext cx="7734311" cy="830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연결선: 구부러짐 2">
            <a:extLst>
              <a:ext uri="{FF2B5EF4-FFF2-40B4-BE49-F238E27FC236}">
                <a16:creationId xmlns:a16="http://schemas.microsoft.com/office/drawing/2014/main" id="{D31D10AE-6C90-4D44-BF32-52D0ED847F0F}"/>
              </a:ext>
            </a:extLst>
          </p:cNvPr>
          <p:cNvCxnSpPr>
            <a:cxnSpLocks/>
          </p:cNvCxnSpPr>
          <p:nvPr/>
        </p:nvCxnSpPr>
        <p:spPr>
          <a:xfrm rot="5400000">
            <a:off x="1832614" y="3775712"/>
            <a:ext cx="891540" cy="701040"/>
          </a:xfrm>
          <a:prstGeom prst="curvedConnector3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888D516-7D97-4200-91FF-DCAE78A67853}"/>
              </a:ext>
            </a:extLst>
          </p:cNvPr>
          <p:cNvSpPr txBox="1"/>
          <p:nvPr/>
        </p:nvSpPr>
        <p:spPr>
          <a:xfrm>
            <a:off x="979582" y="4671912"/>
            <a:ext cx="747439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Can we just </a:t>
            </a:r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ignore the state distribution mismatch?</a:t>
            </a:r>
            <a:endParaRPr lang="ko-KR" altLang="en-US" sz="16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3EDAF2F0-380B-414D-90E1-F4983DF7639B}"/>
                  </a:ext>
                </a:extLst>
              </p:cNvPr>
              <p:cNvSpPr/>
              <p:nvPr/>
            </p:nvSpPr>
            <p:spPr>
              <a:xfrm>
                <a:off x="2278383" y="5013352"/>
                <a:ext cx="1758687" cy="341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6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6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ko-KR" sz="16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6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6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6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 →</m:t>
                      </m:r>
                      <m:sSub>
                        <m:sSubPr>
                          <m:ctrlPr>
                            <a:rPr lang="en-US" altLang="ko-KR" sz="16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sz="16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16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6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3EDAF2F0-380B-414D-90E1-F4983DF763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8383" y="5013352"/>
                <a:ext cx="1758687" cy="3414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16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state distribution change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A77AFA-699B-4280-A7B9-3ED0E7E3A14A}"/>
                  </a:ext>
                </a:extLst>
              </p:cNvPr>
              <p:cNvSpPr txBox="1"/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claim: 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A77AFA-699B-4280-A7B9-3ED0E7E3A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46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state distribution change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2" name="왼쪽 대괄호 121">
            <a:extLst>
              <a:ext uri="{FF2B5EF4-FFF2-40B4-BE49-F238E27FC236}">
                <a16:creationId xmlns:a16="http://schemas.microsoft.com/office/drawing/2014/main" id="{881686E3-A5C7-4150-9058-EACCD84E1819}"/>
              </a:ext>
            </a:extLst>
          </p:cNvPr>
          <p:cNvSpPr/>
          <p:nvPr/>
        </p:nvSpPr>
        <p:spPr>
          <a:xfrm rot="16200000">
            <a:off x="2781043" y="876047"/>
            <a:ext cx="65488" cy="2190546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8FB7D42-5FFC-4064-91FF-909DABD5E299}"/>
              </a:ext>
            </a:extLst>
          </p:cNvPr>
          <p:cNvSpPr txBox="1"/>
          <p:nvPr/>
        </p:nvSpPr>
        <p:spPr>
          <a:xfrm>
            <a:off x="1718516" y="2060016"/>
            <a:ext cx="7474395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Total variation divergence : </a:t>
            </a:r>
            <a:r>
              <a:rPr lang="en-US" altLang="ko-KR" sz="12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summation of difference over all possible states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D4D4426-0AD5-4536-A073-CF380CD87658}"/>
                  </a:ext>
                </a:extLst>
              </p:cNvPr>
              <p:cNvSpPr txBox="1"/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claim: 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D4D4426-0AD5-4536-A073-CF380CD87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256AFB3-89CE-47F8-AA17-4D0591605144}"/>
                  </a:ext>
                </a:extLst>
              </p:cNvPr>
              <p:cNvSpPr txBox="1"/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256AFB3-89CE-47F8-AA17-4D0591605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432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state distribution change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A1E8F0-9284-46AA-99D3-2009095C2EF7}"/>
                  </a:ext>
                </a:extLst>
              </p:cNvPr>
              <p:cNvSpPr txBox="1"/>
              <p:nvPr/>
            </p:nvSpPr>
            <p:spPr>
              <a:xfrm>
                <a:off x="286161" y="2488740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=(1 −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+(1 −(1 −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unknown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A1E8F0-9284-46AA-99D3-2009095C2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2488740"/>
                <a:ext cx="7474395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타원 79">
            <a:extLst>
              <a:ext uri="{FF2B5EF4-FFF2-40B4-BE49-F238E27FC236}">
                <a16:creationId xmlns:a16="http://schemas.microsoft.com/office/drawing/2014/main" id="{3E4AF8EB-6C60-4F3E-83B7-80DB64E6B72A}"/>
              </a:ext>
            </a:extLst>
          </p:cNvPr>
          <p:cNvSpPr/>
          <p:nvPr/>
        </p:nvSpPr>
        <p:spPr>
          <a:xfrm>
            <a:off x="3898375" y="4913293"/>
            <a:ext cx="1260000" cy="1262873"/>
          </a:xfrm>
          <a:prstGeom prst="ellipse">
            <a:avLst/>
          </a:prstGeom>
          <a:solidFill>
            <a:srgbClr val="ADC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0F4C81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A0779921-ED51-4A69-B8A3-AD86946B3189}"/>
              </a:ext>
            </a:extLst>
          </p:cNvPr>
          <p:cNvSpPr>
            <a:spLocks noChangeAspect="1"/>
          </p:cNvSpPr>
          <p:nvPr/>
        </p:nvSpPr>
        <p:spPr>
          <a:xfrm>
            <a:off x="4173001" y="3963449"/>
            <a:ext cx="1080000" cy="1080000"/>
          </a:xfrm>
          <a:prstGeom prst="ellipse">
            <a:avLst/>
          </a:prstGeom>
          <a:solidFill>
            <a:srgbClr val="ADC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0F4C81"/>
              </a:solidFill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ECF8121-F57C-4AF7-ACC3-833492FBD11C}"/>
              </a:ext>
            </a:extLst>
          </p:cNvPr>
          <p:cNvSpPr/>
          <p:nvPr/>
        </p:nvSpPr>
        <p:spPr>
          <a:xfrm>
            <a:off x="552867" y="4554097"/>
            <a:ext cx="1150620" cy="1152000"/>
          </a:xfrm>
          <a:prstGeom prst="ellipse">
            <a:avLst/>
          </a:prstGeom>
          <a:noFill/>
          <a:ln w="22225"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92BDECFB-1247-4E70-A7DF-14EC20AA2531}"/>
              </a:ext>
            </a:extLst>
          </p:cNvPr>
          <p:cNvSpPr>
            <a:spLocks noChangeAspect="1"/>
          </p:cNvSpPr>
          <p:nvPr/>
        </p:nvSpPr>
        <p:spPr>
          <a:xfrm>
            <a:off x="3951383" y="4972200"/>
            <a:ext cx="1150620" cy="1152000"/>
          </a:xfrm>
          <a:prstGeom prst="ellipse">
            <a:avLst/>
          </a:prstGeom>
          <a:noFill/>
          <a:ln w="22225"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2BED5DD3-FCEB-469E-9230-CC49772D0345}"/>
              </a:ext>
            </a:extLst>
          </p:cNvPr>
          <p:cNvSpPr>
            <a:spLocks noChangeAspect="1"/>
          </p:cNvSpPr>
          <p:nvPr/>
        </p:nvSpPr>
        <p:spPr>
          <a:xfrm>
            <a:off x="4226812" y="4014071"/>
            <a:ext cx="970834" cy="972000"/>
          </a:xfrm>
          <a:prstGeom prst="ellipse">
            <a:avLst/>
          </a:prstGeom>
          <a:noFill/>
          <a:ln w="22225"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A5B24DFC-A58E-4585-BAF9-C53635D4C7EF}"/>
              </a:ext>
            </a:extLst>
          </p:cNvPr>
          <p:cNvSpPr/>
          <p:nvPr/>
        </p:nvSpPr>
        <p:spPr>
          <a:xfrm>
            <a:off x="991963" y="5130097"/>
            <a:ext cx="72000" cy="72000"/>
          </a:xfrm>
          <a:prstGeom prst="ellipse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25603D6A-4CF1-48A2-BAFB-58CAED8490C2}"/>
                  </a:ext>
                </a:extLst>
              </p:cNvPr>
              <p:cNvSpPr/>
              <p:nvPr/>
            </p:nvSpPr>
            <p:spPr>
              <a:xfrm>
                <a:off x="941391" y="5130098"/>
                <a:ext cx="37702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25603D6A-4CF1-48A2-BAFB-58CAED8490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391" y="5130098"/>
                <a:ext cx="377026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D87A1841-9A40-4966-8A98-FA2F89598F7E}"/>
                  </a:ext>
                </a:extLst>
              </p:cNvPr>
              <p:cNvSpPr/>
              <p:nvPr/>
            </p:nvSpPr>
            <p:spPr>
              <a:xfrm>
                <a:off x="4275661" y="5588944"/>
                <a:ext cx="37343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D87A1841-9A40-4966-8A98-FA2F89598F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661" y="5588944"/>
                <a:ext cx="373436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타원 87">
            <a:extLst>
              <a:ext uri="{FF2B5EF4-FFF2-40B4-BE49-F238E27FC236}">
                <a16:creationId xmlns:a16="http://schemas.microsoft.com/office/drawing/2014/main" id="{621CAECA-956F-4ABE-9B98-2E745A82FADF}"/>
              </a:ext>
            </a:extLst>
          </p:cNvPr>
          <p:cNvSpPr/>
          <p:nvPr/>
        </p:nvSpPr>
        <p:spPr>
          <a:xfrm>
            <a:off x="4321378" y="5577956"/>
            <a:ext cx="72000" cy="72000"/>
          </a:xfrm>
          <a:prstGeom prst="ellipse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58C77577-A869-49EA-8EED-CC07C701D639}"/>
              </a:ext>
            </a:extLst>
          </p:cNvPr>
          <p:cNvCxnSpPr>
            <a:cxnSpLocks/>
            <a:stCxn id="85" idx="6"/>
            <a:endCxn id="88" idx="1"/>
          </p:cNvCxnSpPr>
          <p:nvPr/>
        </p:nvCxnSpPr>
        <p:spPr>
          <a:xfrm>
            <a:off x="1063968" y="5166098"/>
            <a:ext cx="3267959" cy="422402"/>
          </a:xfrm>
          <a:prstGeom prst="curvedConnector2">
            <a:avLst/>
          </a:prstGeom>
          <a:ln w="12700">
            <a:solidFill>
              <a:srgbClr val="0F4C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E287374B-75AF-4C62-BFC5-EA9F8680FD53}"/>
                  </a:ext>
                </a:extLst>
              </p:cNvPr>
              <p:cNvSpPr/>
              <p:nvPr/>
            </p:nvSpPr>
            <p:spPr>
              <a:xfrm>
                <a:off x="4499126" y="4522109"/>
                <a:ext cx="37343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E287374B-75AF-4C62-BFC5-EA9F8680F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126" y="4522109"/>
                <a:ext cx="37343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타원 90">
            <a:extLst>
              <a:ext uri="{FF2B5EF4-FFF2-40B4-BE49-F238E27FC236}">
                <a16:creationId xmlns:a16="http://schemas.microsoft.com/office/drawing/2014/main" id="{C82F4291-3A1D-4E7B-97BF-FE5FA5F93935}"/>
              </a:ext>
            </a:extLst>
          </p:cNvPr>
          <p:cNvSpPr/>
          <p:nvPr/>
        </p:nvSpPr>
        <p:spPr>
          <a:xfrm>
            <a:off x="4544843" y="4511121"/>
            <a:ext cx="72000" cy="72000"/>
          </a:xfrm>
          <a:prstGeom prst="ellipse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92" name="연결선: 구부러짐 91">
            <a:extLst>
              <a:ext uri="{FF2B5EF4-FFF2-40B4-BE49-F238E27FC236}">
                <a16:creationId xmlns:a16="http://schemas.microsoft.com/office/drawing/2014/main" id="{24531ADC-6425-440D-B512-827C92247E37}"/>
              </a:ext>
            </a:extLst>
          </p:cNvPr>
          <p:cNvCxnSpPr>
            <a:cxnSpLocks/>
            <a:stCxn id="93" idx="3"/>
            <a:endCxn id="91" idx="5"/>
          </p:cNvCxnSpPr>
          <p:nvPr/>
        </p:nvCxnSpPr>
        <p:spPr>
          <a:xfrm flipV="1">
            <a:off x="2523078" y="4572577"/>
            <a:ext cx="2083221" cy="650901"/>
          </a:xfrm>
          <a:prstGeom prst="curvedConnector2">
            <a:avLst/>
          </a:prstGeom>
          <a:ln w="12700">
            <a:solidFill>
              <a:srgbClr val="F76B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B7B841B-0F27-40F1-9B50-73776253923E}"/>
              </a:ext>
            </a:extLst>
          </p:cNvPr>
          <p:cNvSpPr/>
          <p:nvPr/>
        </p:nvSpPr>
        <p:spPr>
          <a:xfrm>
            <a:off x="2417151" y="5069525"/>
            <a:ext cx="105927" cy="307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sz="140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3358E3E0-AEDD-426C-B3F8-30D660A3BC02}"/>
                  </a:ext>
                </a:extLst>
              </p:cNvPr>
              <p:cNvSpPr/>
              <p:nvPr/>
            </p:nvSpPr>
            <p:spPr>
              <a:xfrm>
                <a:off x="735639" y="4804811"/>
                <a:ext cx="69871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200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3358E3E0-AEDD-426C-B3F8-30D660A3BC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39" y="4804811"/>
                <a:ext cx="69871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F0F1228E-745A-4749-A1FD-3FCBABB54762}"/>
                  </a:ext>
                </a:extLst>
              </p:cNvPr>
              <p:cNvSpPr/>
              <p:nvPr/>
            </p:nvSpPr>
            <p:spPr>
              <a:xfrm>
                <a:off x="4206067" y="5232022"/>
                <a:ext cx="69512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200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F0F1228E-745A-4749-A1FD-3FCBABB547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067" y="5232022"/>
                <a:ext cx="695127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9DE61B8E-941B-4E63-A7F6-46916BDD108D}"/>
                  </a:ext>
                </a:extLst>
              </p:cNvPr>
              <p:cNvSpPr/>
              <p:nvPr/>
            </p:nvSpPr>
            <p:spPr>
              <a:xfrm>
                <a:off x="4158233" y="4208822"/>
                <a:ext cx="1105494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unknown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200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9DE61B8E-941B-4E63-A7F6-46916BDD1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233" y="4208822"/>
                <a:ext cx="1105494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AE14F4C2-EA0D-4449-B747-D48E535D8DCF}"/>
                  </a:ext>
                </a:extLst>
              </p:cNvPr>
              <p:cNvSpPr/>
              <p:nvPr/>
            </p:nvSpPr>
            <p:spPr>
              <a:xfrm>
                <a:off x="3024087" y="5331261"/>
                <a:ext cx="689291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ko-KR" altLang="en-US" sz="11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1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AE14F4C2-EA0D-4449-B747-D48E535D8D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087" y="5331261"/>
                <a:ext cx="689291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B12884DF-08A3-4E47-8381-C0FFB05A5554}"/>
                  </a:ext>
                </a:extLst>
              </p:cNvPr>
              <p:cNvSpPr/>
              <p:nvPr/>
            </p:nvSpPr>
            <p:spPr>
              <a:xfrm>
                <a:off x="3414979" y="4841400"/>
                <a:ext cx="323614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1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F76B5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ko-KR" altLang="en-US" sz="1100" dirty="0">
                  <a:solidFill>
                    <a:srgbClr val="F76B5B"/>
                  </a:solidFill>
                </a:endParaRPr>
              </a:p>
            </p:txBody>
          </p:sp>
        </mc:Choice>
        <mc:Fallback xmlns=""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B12884DF-08A3-4E47-8381-C0FFB05A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979" y="4841400"/>
                <a:ext cx="323614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E11E52C0-91FB-4849-83FA-C869288AD3C6}"/>
                  </a:ext>
                </a:extLst>
              </p:cNvPr>
              <p:cNvSpPr/>
              <p:nvPr/>
            </p:nvSpPr>
            <p:spPr>
              <a:xfrm>
                <a:off x="4253762" y="6227110"/>
                <a:ext cx="790793" cy="3104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4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4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altLang="ko-KR" sz="14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4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4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401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E11E52C0-91FB-4849-83FA-C869288AD3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762" y="6227110"/>
                <a:ext cx="790793" cy="3104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왼쪽 대괄호 121">
            <a:extLst>
              <a:ext uri="{FF2B5EF4-FFF2-40B4-BE49-F238E27FC236}">
                <a16:creationId xmlns:a16="http://schemas.microsoft.com/office/drawing/2014/main" id="{881686E3-A5C7-4150-9058-EACCD84E1819}"/>
              </a:ext>
            </a:extLst>
          </p:cNvPr>
          <p:cNvSpPr/>
          <p:nvPr/>
        </p:nvSpPr>
        <p:spPr>
          <a:xfrm rot="16200000">
            <a:off x="2781043" y="876047"/>
            <a:ext cx="65488" cy="2190546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8FB7D42-5FFC-4064-91FF-909DABD5E299}"/>
              </a:ext>
            </a:extLst>
          </p:cNvPr>
          <p:cNvSpPr txBox="1"/>
          <p:nvPr/>
        </p:nvSpPr>
        <p:spPr>
          <a:xfrm>
            <a:off x="1718516" y="2060016"/>
            <a:ext cx="7474395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Total variation divergence : </a:t>
            </a:r>
            <a:r>
              <a:rPr lang="en-US" altLang="ko-KR" sz="12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summation of difference over all possible states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sp>
        <p:nvSpPr>
          <p:cNvPr id="124" name="왼쪽 대괄호 123">
            <a:extLst>
              <a:ext uri="{FF2B5EF4-FFF2-40B4-BE49-F238E27FC236}">
                <a16:creationId xmlns:a16="http://schemas.microsoft.com/office/drawing/2014/main" id="{373262DB-7C1E-41BE-8214-974B9BE921F6}"/>
              </a:ext>
            </a:extLst>
          </p:cNvPr>
          <p:cNvSpPr/>
          <p:nvPr/>
        </p:nvSpPr>
        <p:spPr>
          <a:xfrm rot="16200000">
            <a:off x="1732641" y="2565186"/>
            <a:ext cx="45719" cy="588578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600071A-A44D-4E0B-A28C-C56C202E3EC9}"/>
              </a:ext>
            </a:extLst>
          </p:cNvPr>
          <p:cNvSpPr txBox="1"/>
          <p:nvPr/>
        </p:nvSpPr>
        <p:spPr>
          <a:xfrm>
            <a:off x="474415" y="2927905"/>
            <a:ext cx="2562158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Probability of making mistakes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sp>
        <p:nvSpPr>
          <p:cNvPr id="128" name="왼쪽 대괄호 127">
            <a:extLst>
              <a:ext uri="{FF2B5EF4-FFF2-40B4-BE49-F238E27FC236}">
                <a16:creationId xmlns:a16="http://schemas.microsoft.com/office/drawing/2014/main" id="{9C66A90C-A692-4780-8865-0AB913C30F73}"/>
              </a:ext>
            </a:extLst>
          </p:cNvPr>
          <p:cNvSpPr/>
          <p:nvPr/>
        </p:nvSpPr>
        <p:spPr>
          <a:xfrm rot="16200000">
            <a:off x="5188592" y="2265471"/>
            <a:ext cx="45719" cy="1188000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86F108-8D69-406A-8FC6-2B0E8ABBBB48}"/>
              </a:ext>
            </a:extLst>
          </p:cNvPr>
          <p:cNvSpPr txBox="1"/>
          <p:nvPr/>
        </p:nvSpPr>
        <p:spPr>
          <a:xfrm>
            <a:off x="4018510" y="2920369"/>
            <a:ext cx="2562158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some unknown distribution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D682D01-4769-44FA-9273-390985AA828C}"/>
                  </a:ext>
                </a:extLst>
              </p:cNvPr>
              <p:cNvSpPr txBox="1"/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claim: 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14:m>
                  <m:oMath xmlns:m="http://schemas.openxmlformats.org/officeDocument/2006/math"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D682D01-4769-44FA-9273-390985AA8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D45E736-790A-4B6C-9AF9-5E7F4059084E}"/>
                  </a:ext>
                </a:extLst>
              </p:cNvPr>
              <p:cNvSpPr txBox="1"/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D45E736-790A-4B6C-9AF9-5E7F40590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5795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state distribution change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A1E8F0-9284-46AA-99D3-2009095C2EF7}"/>
                  </a:ext>
                </a:extLst>
              </p:cNvPr>
              <p:cNvSpPr txBox="1"/>
              <p:nvPr/>
            </p:nvSpPr>
            <p:spPr>
              <a:xfrm>
                <a:off x="286161" y="2488740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=(1 −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+(1 −(1 −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unknown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6A1E8F0-9284-46AA-99D3-2009095C2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2488740"/>
                <a:ext cx="7474395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타원 79">
            <a:extLst>
              <a:ext uri="{FF2B5EF4-FFF2-40B4-BE49-F238E27FC236}">
                <a16:creationId xmlns:a16="http://schemas.microsoft.com/office/drawing/2014/main" id="{3E4AF8EB-6C60-4F3E-83B7-80DB64E6B72A}"/>
              </a:ext>
            </a:extLst>
          </p:cNvPr>
          <p:cNvSpPr/>
          <p:nvPr/>
        </p:nvSpPr>
        <p:spPr>
          <a:xfrm>
            <a:off x="3898375" y="4913293"/>
            <a:ext cx="1260000" cy="1262873"/>
          </a:xfrm>
          <a:prstGeom prst="ellipse">
            <a:avLst/>
          </a:prstGeom>
          <a:solidFill>
            <a:srgbClr val="ADC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0F4C81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A0779921-ED51-4A69-B8A3-AD86946B3189}"/>
              </a:ext>
            </a:extLst>
          </p:cNvPr>
          <p:cNvSpPr>
            <a:spLocks noChangeAspect="1"/>
          </p:cNvSpPr>
          <p:nvPr/>
        </p:nvSpPr>
        <p:spPr>
          <a:xfrm>
            <a:off x="4173001" y="3963449"/>
            <a:ext cx="1080000" cy="1080000"/>
          </a:xfrm>
          <a:prstGeom prst="ellipse">
            <a:avLst/>
          </a:prstGeom>
          <a:solidFill>
            <a:srgbClr val="ADC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0F4C81"/>
              </a:solidFill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ECF8121-F57C-4AF7-ACC3-833492FBD11C}"/>
              </a:ext>
            </a:extLst>
          </p:cNvPr>
          <p:cNvSpPr/>
          <p:nvPr/>
        </p:nvSpPr>
        <p:spPr>
          <a:xfrm>
            <a:off x="552867" y="4554097"/>
            <a:ext cx="1150620" cy="1152000"/>
          </a:xfrm>
          <a:prstGeom prst="ellipse">
            <a:avLst/>
          </a:prstGeom>
          <a:noFill/>
          <a:ln w="22225"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92BDECFB-1247-4E70-A7DF-14EC20AA2531}"/>
              </a:ext>
            </a:extLst>
          </p:cNvPr>
          <p:cNvSpPr>
            <a:spLocks noChangeAspect="1"/>
          </p:cNvSpPr>
          <p:nvPr/>
        </p:nvSpPr>
        <p:spPr>
          <a:xfrm>
            <a:off x="3951383" y="4972200"/>
            <a:ext cx="1150620" cy="1152000"/>
          </a:xfrm>
          <a:prstGeom prst="ellipse">
            <a:avLst/>
          </a:prstGeom>
          <a:noFill/>
          <a:ln w="22225"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2BED5DD3-FCEB-469E-9230-CC49772D0345}"/>
              </a:ext>
            </a:extLst>
          </p:cNvPr>
          <p:cNvSpPr>
            <a:spLocks noChangeAspect="1"/>
          </p:cNvSpPr>
          <p:nvPr/>
        </p:nvSpPr>
        <p:spPr>
          <a:xfrm>
            <a:off x="4226812" y="4014071"/>
            <a:ext cx="970834" cy="972000"/>
          </a:xfrm>
          <a:prstGeom prst="ellipse">
            <a:avLst/>
          </a:prstGeom>
          <a:noFill/>
          <a:ln w="22225"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A5B24DFC-A58E-4585-BAF9-C53635D4C7EF}"/>
              </a:ext>
            </a:extLst>
          </p:cNvPr>
          <p:cNvSpPr/>
          <p:nvPr/>
        </p:nvSpPr>
        <p:spPr>
          <a:xfrm>
            <a:off x="991963" y="5130097"/>
            <a:ext cx="72000" cy="72000"/>
          </a:xfrm>
          <a:prstGeom prst="ellipse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25603D6A-4CF1-48A2-BAFB-58CAED8490C2}"/>
                  </a:ext>
                </a:extLst>
              </p:cNvPr>
              <p:cNvSpPr/>
              <p:nvPr/>
            </p:nvSpPr>
            <p:spPr>
              <a:xfrm>
                <a:off x="941391" y="5130098"/>
                <a:ext cx="37702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25603D6A-4CF1-48A2-BAFB-58CAED8490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391" y="5130098"/>
                <a:ext cx="377026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D87A1841-9A40-4966-8A98-FA2F89598F7E}"/>
                  </a:ext>
                </a:extLst>
              </p:cNvPr>
              <p:cNvSpPr/>
              <p:nvPr/>
            </p:nvSpPr>
            <p:spPr>
              <a:xfrm>
                <a:off x="4275661" y="5588944"/>
                <a:ext cx="37343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D87A1841-9A40-4966-8A98-FA2F89598F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661" y="5588944"/>
                <a:ext cx="373436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타원 87">
            <a:extLst>
              <a:ext uri="{FF2B5EF4-FFF2-40B4-BE49-F238E27FC236}">
                <a16:creationId xmlns:a16="http://schemas.microsoft.com/office/drawing/2014/main" id="{621CAECA-956F-4ABE-9B98-2E745A82FADF}"/>
              </a:ext>
            </a:extLst>
          </p:cNvPr>
          <p:cNvSpPr/>
          <p:nvPr/>
        </p:nvSpPr>
        <p:spPr>
          <a:xfrm>
            <a:off x="4321378" y="5577956"/>
            <a:ext cx="72000" cy="72000"/>
          </a:xfrm>
          <a:prstGeom prst="ellipse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58C77577-A869-49EA-8EED-CC07C701D639}"/>
              </a:ext>
            </a:extLst>
          </p:cNvPr>
          <p:cNvCxnSpPr>
            <a:cxnSpLocks/>
            <a:stCxn id="85" idx="6"/>
            <a:endCxn id="88" idx="1"/>
          </p:cNvCxnSpPr>
          <p:nvPr/>
        </p:nvCxnSpPr>
        <p:spPr>
          <a:xfrm>
            <a:off x="1063968" y="5166098"/>
            <a:ext cx="3267959" cy="422402"/>
          </a:xfrm>
          <a:prstGeom prst="curvedConnector2">
            <a:avLst/>
          </a:prstGeom>
          <a:ln w="12700">
            <a:solidFill>
              <a:srgbClr val="0F4C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E287374B-75AF-4C62-BFC5-EA9F8680FD53}"/>
                  </a:ext>
                </a:extLst>
              </p:cNvPr>
              <p:cNvSpPr/>
              <p:nvPr/>
            </p:nvSpPr>
            <p:spPr>
              <a:xfrm>
                <a:off x="4499126" y="4522109"/>
                <a:ext cx="37343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E287374B-75AF-4C62-BFC5-EA9F8680F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126" y="4522109"/>
                <a:ext cx="37343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타원 90">
            <a:extLst>
              <a:ext uri="{FF2B5EF4-FFF2-40B4-BE49-F238E27FC236}">
                <a16:creationId xmlns:a16="http://schemas.microsoft.com/office/drawing/2014/main" id="{C82F4291-3A1D-4E7B-97BF-FE5FA5F93935}"/>
              </a:ext>
            </a:extLst>
          </p:cNvPr>
          <p:cNvSpPr/>
          <p:nvPr/>
        </p:nvSpPr>
        <p:spPr>
          <a:xfrm>
            <a:off x="4544843" y="4511121"/>
            <a:ext cx="72000" cy="72000"/>
          </a:xfrm>
          <a:prstGeom prst="ellipse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92" name="연결선: 구부러짐 91">
            <a:extLst>
              <a:ext uri="{FF2B5EF4-FFF2-40B4-BE49-F238E27FC236}">
                <a16:creationId xmlns:a16="http://schemas.microsoft.com/office/drawing/2014/main" id="{24531ADC-6425-440D-B512-827C92247E37}"/>
              </a:ext>
            </a:extLst>
          </p:cNvPr>
          <p:cNvCxnSpPr>
            <a:cxnSpLocks/>
            <a:stCxn id="93" idx="3"/>
            <a:endCxn id="91" idx="5"/>
          </p:cNvCxnSpPr>
          <p:nvPr/>
        </p:nvCxnSpPr>
        <p:spPr>
          <a:xfrm flipV="1">
            <a:off x="2523078" y="4572577"/>
            <a:ext cx="2083221" cy="650901"/>
          </a:xfrm>
          <a:prstGeom prst="curvedConnector2">
            <a:avLst/>
          </a:prstGeom>
          <a:ln w="12700">
            <a:solidFill>
              <a:srgbClr val="F76B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B7B841B-0F27-40F1-9B50-73776253923E}"/>
              </a:ext>
            </a:extLst>
          </p:cNvPr>
          <p:cNvSpPr/>
          <p:nvPr/>
        </p:nvSpPr>
        <p:spPr>
          <a:xfrm>
            <a:off x="2417151" y="5069525"/>
            <a:ext cx="105927" cy="307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sz="140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3358E3E0-AEDD-426C-B3F8-30D660A3BC02}"/>
                  </a:ext>
                </a:extLst>
              </p:cNvPr>
              <p:cNvSpPr/>
              <p:nvPr/>
            </p:nvSpPr>
            <p:spPr>
              <a:xfrm>
                <a:off x="735639" y="4804811"/>
                <a:ext cx="69871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200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3358E3E0-AEDD-426C-B3F8-30D660A3BC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39" y="4804811"/>
                <a:ext cx="69871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F0F1228E-745A-4749-A1FD-3FCBABB54762}"/>
                  </a:ext>
                </a:extLst>
              </p:cNvPr>
              <p:cNvSpPr/>
              <p:nvPr/>
            </p:nvSpPr>
            <p:spPr>
              <a:xfrm>
                <a:off x="4206067" y="5232022"/>
                <a:ext cx="69512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200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F0F1228E-745A-4749-A1FD-3FCBABB547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067" y="5232022"/>
                <a:ext cx="695127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9DE61B8E-941B-4E63-A7F6-46916BDD108D}"/>
                  </a:ext>
                </a:extLst>
              </p:cNvPr>
              <p:cNvSpPr/>
              <p:nvPr/>
            </p:nvSpPr>
            <p:spPr>
              <a:xfrm>
                <a:off x="4158233" y="4208822"/>
                <a:ext cx="1105494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unknown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200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9DE61B8E-941B-4E63-A7F6-46916BDD1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233" y="4208822"/>
                <a:ext cx="1105494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타원 96">
            <a:extLst>
              <a:ext uri="{FF2B5EF4-FFF2-40B4-BE49-F238E27FC236}">
                <a16:creationId xmlns:a16="http://schemas.microsoft.com/office/drawing/2014/main" id="{20CC0E48-8B87-44D7-A0B5-27D5F8130669}"/>
              </a:ext>
            </a:extLst>
          </p:cNvPr>
          <p:cNvSpPr/>
          <p:nvPr/>
        </p:nvSpPr>
        <p:spPr>
          <a:xfrm>
            <a:off x="7763481" y="4913293"/>
            <a:ext cx="1260000" cy="1262873"/>
          </a:xfrm>
          <a:prstGeom prst="ellipse">
            <a:avLst/>
          </a:prstGeom>
          <a:solidFill>
            <a:srgbClr val="ADC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0F4C81"/>
              </a:solidFill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FD23D645-0442-475A-8162-55CB091D60EA}"/>
              </a:ext>
            </a:extLst>
          </p:cNvPr>
          <p:cNvSpPr>
            <a:spLocks noChangeAspect="1"/>
          </p:cNvSpPr>
          <p:nvPr/>
        </p:nvSpPr>
        <p:spPr>
          <a:xfrm>
            <a:off x="8038107" y="3963449"/>
            <a:ext cx="1080000" cy="1080000"/>
          </a:xfrm>
          <a:prstGeom prst="ellipse">
            <a:avLst/>
          </a:prstGeom>
          <a:solidFill>
            <a:srgbClr val="ADC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0F4C81"/>
              </a:solidFill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E9B268D6-0D85-40E7-A609-26F4E602E048}"/>
              </a:ext>
            </a:extLst>
          </p:cNvPr>
          <p:cNvSpPr>
            <a:spLocks noChangeAspect="1"/>
          </p:cNvSpPr>
          <p:nvPr/>
        </p:nvSpPr>
        <p:spPr>
          <a:xfrm>
            <a:off x="7816489" y="4972200"/>
            <a:ext cx="1150620" cy="1152000"/>
          </a:xfrm>
          <a:prstGeom prst="ellipse">
            <a:avLst/>
          </a:prstGeom>
          <a:noFill/>
          <a:ln w="22225"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C706A9DF-2423-456B-9768-0849803F3396}"/>
              </a:ext>
            </a:extLst>
          </p:cNvPr>
          <p:cNvSpPr>
            <a:spLocks noChangeAspect="1"/>
          </p:cNvSpPr>
          <p:nvPr/>
        </p:nvSpPr>
        <p:spPr>
          <a:xfrm>
            <a:off x="8091917" y="4014071"/>
            <a:ext cx="970834" cy="972000"/>
          </a:xfrm>
          <a:prstGeom prst="ellipse">
            <a:avLst/>
          </a:prstGeom>
          <a:noFill/>
          <a:ln w="22225"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1FBC9E8D-9B5C-406F-B7AA-B6B31015CD92}"/>
                  </a:ext>
                </a:extLst>
              </p:cNvPr>
              <p:cNvSpPr/>
              <p:nvPr/>
            </p:nvSpPr>
            <p:spPr>
              <a:xfrm>
                <a:off x="8140764" y="5588944"/>
                <a:ext cx="37702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1FBC9E8D-9B5C-406F-B7AA-B6B31015C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764" y="5588944"/>
                <a:ext cx="377026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타원 101">
            <a:extLst>
              <a:ext uri="{FF2B5EF4-FFF2-40B4-BE49-F238E27FC236}">
                <a16:creationId xmlns:a16="http://schemas.microsoft.com/office/drawing/2014/main" id="{34A3C34D-897F-4A9E-9E2B-2A05D02697A3}"/>
              </a:ext>
            </a:extLst>
          </p:cNvPr>
          <p:cNvSpPr/>
          <p:nvPr/>
        </p:nvSpPr>
        <p:spPr>
          <a:xfrm>
            <a:off x="8186484" y="5577956"/>
            <a:ext cx="72000" cy="72000"/>
          </a:xfrm>
          <a:prstGeom prst="ellipse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103" name="연결선: 구부러짐 102">
            <a:extLst>
              <a:ext uri="{FF2B5EF4-FFF2-40B4-BE49-F238E27FC236}">
                <a16:creationId xmlns:a16="http://schemas.microsoft.com/office/drawing/2014/main" id="{BAE11CD1-9CEA-407E-B534-FA9C3E206B7C}"/>
              </a:ext>
            </a:extLst>
          </p:cNvPr>
          <p:cNvCxnSpPr>
            <a:cxnSpLocks/>
            <a:stCxn id="88" idx="7"/>
            <a:endCxn id="102" idx="1"/>
          </p:cNvCxnSpPr>
          <p:nvPr/>
        </p:nvCxnSpPr>
        <p:spPr>
          <a:xfrm rot="5400000" flipH="1" flipV="1">
            <a:off x="6289934" y="3681407"/>
            <a:ext cx="12700" cy="3814194"/>
          </a:xfrm>
          <a:prstGeom prst="curvedConnector3">
            <a:avLst>
              <a:gd name="adj1" fmla="val 1883024"/>
            </a:avLst>
          </a:prstGeom>
          <a:ln w="12700">
            <a:solidFill>
              <a:srgbClr val="0F4C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C8786A30-0381-4CFE-9859-93CD205657C2}"/>
                  </a:ext>
                </a:extLst>
              </p:cNvPr>
              <p:cNvSpPr/>
              <p:nvPr/>
            </p:nvSpPr>
            <p:spPr>
              <a:xfrm>
                <a:off x="8364230" y="4522109"/>
                <a:ext cx="37702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C8786A30-0381-4CFE-9859-93CD205657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4230" y="4522109"/>
                <a:ext cx="377026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타원 104">
            <a:extLst>
              <a:ext uri="{FF2B5EF4-FFF2-40B4-BE49-F238E27FC236}">
                <a16:creationId xmlns:a16="http://schemas.microsoft.com/office/drawing/2014/main" id="{EEF8F939-887C-42D1-B858-F6FF4A271247}"/>
              </a:ext>
            </a:extLst>
          </p:cNvPr>
          <p:cNvSpPr/>
          <p:nvPr/>
        </p:nvSpPr>
        <p:spPr>
          <a:xfrm>
            <a:off x="8409950" y="4511121"/>
            <a:ext cx="72000" cy="72000"/>
          </a:xfrm>
          <a:prstGeom prst="ellipse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cxnSp>
        <p:nvCxnSpPr>
          <p:cNvPr id="106" name="연결선: 구부러짐 105">
            <a:extLst>
              <a:ext uri="{FF2B5EF4-FFF2-40B4-BE49-F238E27FC236}">
                <a16:creationId xmlns:a16="http://schemas.microsoft.com/office/drawing/2014/main" id="{E510D6DF-44D8-4B87-B377-B81E5188EE46}"/>
              </a:ext>
            </a:extLst>
          </p:cNvPr>
          <p:cNvCxnSpPr>
            <a:cxnSpLocks/>
            <a:stCxn id="107" idx="3"/>
            <a:endCxn id="105" idx="5"/>
          </p:cNvCxnSpPr>
          <p:nvPr/>
        </p:nvCxnSpPr>
        <p:spPr>
          <a:xfrm flipV="1">
            <a:off x="6326620" y="4572577"/>
            <a:ext cx="2144786" cy="782619"/>
          </a:xfrm>
          <a:prstGeom prst="curvedConnector2">
            <a:avLst/>
          </a:prstGeom>
          <a:ln w="12700">
            <a:solidFill>
              <a:srgbClr val="F76B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710069D9-4938-4C0F-91BB-801B20112023}"/>
              </a:ext>
            </a:extLst>
          </p:cNvPr>
          <p:cNvSpPr/>
          <p:nvPr/>
        </p:nvSpPr>
        <p:spPr>
          <a:xfrm>
            <a:off x="6220693" y="5201243"/>
            <a:ext cx="105927" cy="307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sz="140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8665F064-F99B-4973-97C8-C0081D3F7D18}"/>
                  </a:ext>
                </a:extLst>
              </p:cNvPr>
              <p:cNvSpPr/>
              <p:nvPr/>
            </p:nvSpPr>
            <p:spPr>
              <a:xfrm>
                <a:off x="8071170" y="5232022"/>
                <a:ext cx="69871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200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8665F064-F99B-4973-97C8-C0081D3F7D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170" y="5232022"/>
                <a:ext cx="69871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B10806EC-3EB7-4D8D-BD7D-7ABBE8742FC0}"/>
                  </a:ext>
                </a:extLst>
              </p:cNvPr>
              <p:cNvSpPr/>
              <p:nvPr/>
            </p:nvSpPr>
            <p:spPr>
              <a:xfrm>
                <a:off x="8023334" y="4208822"/>
                <a:ext cx="110908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20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unknown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20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solidFill>
                                    <a:srgbClr val="0F4C8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200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B10806EC-3EB7-4D8D-BD7D-7ABBE8742F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334" y="4208822"/>
                <a:ext cx="110908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연결선: 구부러짐 109">
            <a:extLst>
              <a:ext uri="{FF2B5EF4-FFF2-40B4-BE49-F238E27FC236}">
                <a16:creationId xmlns:a16="http://schemas.microsoft.com/office/drawing/2014/main" id="{650DC889-C666-4ECE-903B-69B51A13B135}"/>
              </a:ext>
            </a:extLst>
          </p:cNvPr>
          <p:cNvCxnSpPr>
            <a:cxnSpLocks/>
            <a:stCxn id="91" idx="7"/>
            <a:endCxn id="105" idx="1"/>
          </p:cNvCxnSpPr>
          <p:nvPr/>
        </p:nvCxnSpPr>
        <p:spPr>
          <a:xfrm rot="5400000" flipH="1" flipV="1">
            <a:off x="6513400" y="2614571"/>
            <a:ext cx="12700" cy="3814194"/>
          </a:xfrm>
          <a:prstGeom prst="curvedConnector3">
            <a:avLst>
              <a:gd name="adj1" fmla="val -2016976"/>
            </a:avLst>
          </a:prstGeom>
          <a:ln w="12700">
            <a:solidFill>
              <a:srgbClr val="F76B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AE14F4C2-EA0D-4449-B747-D48E535D8DCF}"/>
                  </a:ext>
                </a:extLst>
              </p:cNvPr>
              <p:cNvSpPr/>
              <p:nvPr/>
            </p:nvSpPr>
            <p:spPr>
              <a:xfrm>
                <a:off x="3024087" y="5331261"/>
                <a:ext cx="689291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ko-KR" altLang="en-US" sz="11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1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AE14F4C2-EA0D-4449-B747-D48E535D8D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087" y="5331261"/>
                <a:ext cx="689291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B12884DF-08A3-4E47-8381-C0FFB05A5554}"/>
                  </a:ext>
                </a:extLst>
              </p:cNvPr>
              <p:cNvSpPr/>
              <p:nvPr/>
            </p:nvSpPr>
            <p:spPr>
              <a:xfrm>
                <a:off x="3414979" y="4841400"/>
                <a:ext cx="323614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1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F76B5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ko-KR" altLang="en-US" sz="1100" dirty="0">
                  <a:solidFill>
                    <a:srgbClr val="F76B5B"/>
                  </a:solidFill>
                </a:endParaRPr>
              </a:p>
            </p:txBody>
          </p:sp>
        </mc:Choice>
        <mc:Fallback xmlns=""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B12884DF-08A3-4E47-8381-C0FFB05A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979" y="4841400"/>
                <a:ext cx="323614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E11E52C0-91FB-4849-83FA-C869288AD3C6}"/>
                  </a:ext>
                </a:extLst>
              </p:cNvPr>
              <p:cNvSpPr/>
              <p:nvPr/>
            </p:nvSpPr>
            <p:spPr>
              <a:xfrm>
                <a:off x="4253762" y="6227110"/>
                <a:ext cx="790793" cy="3104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4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4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altLang="ko-KR" sz="14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4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4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401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E11E52C0-91FB-4849-83FA-C869288AD3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762" y="6227110"/>
                <a:ext cx="790793" cy="31040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EE4228DA-A325-4797-9927-36C18EB9D516}"/>
                  </a:ext>
                </a:extLst>
              </p:cNvPr>
              <p:cNvSpPr/>
              <p:nvPr/>
            </p:nvSpPr>
            <p:spPr>
              <a:xfrm>
                <a:off x="8140767" y="6227110"/>
                <a:ext cx="794961" cy="3104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4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4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4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altLang="ko-KR" sz="14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4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ko-KR" sz="14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401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EE4228DA-A325-4797-9927-36C18EB9D5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767" y="6227110"/>
                <a:ext cx="794961" cy="31040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5951E128-0093-4C66-A294-DD5E142A260C}"/>
                  </a:ext>
                </a:extLst>
              </p:cNvPr>
              <p:cNvSpPr/>
              <p:nvPr/>
            </p:nvSpPr>
            <p:spPr>
              <a:xfrm>
                <a:off x="7239349" y="4485822"/>
                <a:ext cx="312906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>
                          <a:solidFill>
                            <a:srgbClr val="F76B5B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sz="1100" dirty="0">
                  <a:solidFill>
                    <a:srgbClr val="F76B5B"/>
                  </a:solidFill>
                </a:endParaRPr>
              </a:p>
            </p:txBody>
          </p:sp>
        </mc:Choice>
        <mc:Fallback xmlns=""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5951E128-0093-4C66-A294-DD5E142A2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349" y="4485822"/>
                <a:ext cx="312906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CFC1BC53-1370-4A38-B6B7-03072FFDFEE6}"/>
                  </a:ext>
                </a:extLst>
              </p:cNvPr>
              <p:cNvSpPr/>
              <p:nvPr/>
            </p:nvSpPr>
            <p:spPr>
              <a:xfrm>
                <a:off x="7479137" y="4897997"/>
                <a:ext cx="323614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1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F76B5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ko-KR" altLang="en-US" sz="1100" dirty="0">
                  <a:solidFill>
                    <a:srgbClr val="F76B5B"/>
                  </a:solidFill>
                </a:endParaRPr>
              </a:p>
            </p:txBody>
          </p:sp>
        </mc:Choice>
        <mc:Fallback xmlns=""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CFC1BC53-1370-4A38-B6B7-03072FFDFE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137" y="4897997"/>
                <a:ext cx="323614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0E7CBB28-EA36-45F1-9C1B-8F26CC361D71}"/>
                  </a:ext>
                </a:extLst>
              </p:cNvPr>
              <p:cNvSpPr/>
              <p:nvPr/>
            </p:nvSpPr>
            <p:spPr>
              <a:xfrm>
                <a:off x="6951654" y="5413856"/>
                <a:ext cx="689291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ko-KR" altLang="en-US" sz="11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100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>
                  <a:solidFill>
                    <a:srgbClr val="0F4C81"/>
                  </a:solidFill>
                </a:endParaRPr>
              </a:p>
            </p:txBody>
          </p:sp>
        </mc:Choice>
        <mc:Fallback xmlns=""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0E7CBB28-EA36-45F1-9C1B-8F26CC361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654" y="5413856"/>
                <a:ext cx="689291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7E0F4D4-458C-402C-873D-B252217FB998}"/>
                  </a:ext>
                </a:extLst>
              </p:cNvPr>
              <p:cNvSpPr txBox="1"/>
              <p:nvPr/>
            </p:nvSpPr>
            <p:spPr>
              <a:xfrm>
                <a:off x="286161" y="3336857"/>
                <a:ext cx="7474395" cy="3747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=(1 −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+(1 −(1 −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unknown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7E0F4D4-458C-402C-873D-B252217FB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3336857"/>
                <a:ext cx="7474395" cy="37471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왼쪽 대괄호 121">
            <a:extLst>
              <a:ext uri="{FF2B5EF4-FFF2-40B4-BE49-F238E27FC236}">
                <a16:creationId xmlns:a16="http://schemas.microsoft.com/office/drawing/2014/main" id="{881686E3-A5C7-4150-9058-EACCD84E1819}"/>
              </a:ext>
            </a:extLst>
          </p:cNvPr>
          <p:cNvSpPr/>
          <p:nvPr/>
        </p:nvSpPr>
        <p:spPr>
          <a:xfrm rot="16200000">
            <a:off x="2781043" y="876047"/>
            <a:ext cx="65488" cy="2190546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8FB7D42-5FFC-4064-91FF-909DABD5E299}"/>
              </a:ext>
            </a:extLst>
          </p:cNvPr>
          <p:cNvSpPr txBox="1"/>
          <p:nvPr/>
        </p:nvSpPr>
        <p:spPr>
          <a:xfrm>
            <a:off x="1718516" y="2060016"/>
            <a:ext cx="7474395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Total variation divergence : </a:t>
            </a:r>
            <a:r>
              <a:rPr lang="en-US" altLang="ko-KR" sz="12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summation of difference over all possible states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sp>
        <p:nvSpPr>
          <p:cNvPr id="124" name="왼쪽 대괄호 123">
            <a:extLst>
              <a:ext uri="{FF2B5EF4-FFF2-40B4-BE49-F238E27FC236}">
                <a16:creationId xmlns:a16="http://schemas.microsoft.com/office/drawing/2014/main" id="{373262DB-7C1E-41BE-8214-974B9BE921F6}"/>
              </a:ext>
            </a:extLst>
          </p:cNvPr>
          <p:cNvSpPr/>
          <p:nvPr/>
        </p:nvSpPr>
        <p:spPr>
          <a:xfrm rot="16200000">
            <a:off x="1732641" y="2565186"/>
            <a:ext cx="45719" cy="588578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600071A-A44D-4E0B-A28C-C56C202E3EC9}"/>
              </a:ext>
            </a:extLst>
          </p:cNvPr>
          <p:cNvSpPr txBox="1"/>
          <p:nvPr/>
        </p:nvSpPr>
        <p:spPr>
          <a:xfrm>
            <a:off x="474415" y="2927905"/>
            <a:ext cx="2562158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Probability of making mistakes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sp>
        <p:nvSpPr>
          <p:cNvPr id="128" name="왼쪽 대괄호 127">
            <a:extLst>
              <a:ext uri="{FF2B5EF4-FFF2-40B4-BE49-F238E27FC236}">
                <a16:creationId xmlns:a16="http://schemas.microsoft.com/office/drawing/2014/main" id="{9C66A90C-A692-4780-8865-0AB913C30F73}"/>
              </a:ext>
            </a:extLst>
          </p:cNvPr>
          <p:cNvSpPr/>
          <p:nvPr/>
        </p:nvSpPr>
        <p:spPr>
          <a:xfrm rot="16200000">
            <a:off x="5188592" y="2265471"/>
            <a:ext cx="45719" cy="1188000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86F108-8D69-406A-8FC6-2B0E8ABBBB48}"/>
              </a:ext>
            </a:extLst>
          </p:cNvPr>
          <p:cNvSpPr txBox="1"/>
          <p:nvPr/>
        </p:nvSpPr>
        <p:spPr>
          <a:xfrm>
            <a:off x="4018510" y="2920369"/>
            <a:ext cx="2562158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some unknown distribution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ADB1EFF-D6D9-46F6-A29C-570883C117A3}"/>
                  </a:ext>
                </a:extLst>
              </p:cNvPr>
              <p:cNvSpPr txBox="1"/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claim: 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14:m>
                  <m:oMath xmlns:m="http://schemas.openxmlformats.org/officeDocument/2006/math"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ADB1EFF-D6D9-46F6-A29C-570883C11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098CB42-0535-46E2-95E9-123F88D0ADE6}"/>
                  </a:ext>
                </a:extLst>
              </p:cNvPr>
              <p:cNvSpPr txBox="1"/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098CB42-0535-46E2-95E9-123F88D0A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070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state distribution change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804725-4754-43B5-AB41-D88687F9C82A}"/>
                  </a:ext>
                </a:extLst>
              </p:cNvPr>
              <p:cNvSpPr txBox="1"/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804725-4754-43B5-AB41-D88687F9C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07B119D-B07F-49FF-8CA1-816C86268F82}"/>
                  </a:ext>
                </a:extLst>
              </p:cNvPr>
              <p:cNvSpPr txBox="1"/>
              <p:nvPr/>
            </p:nvSpPr>
            <p:spPr>
              <a:xfrm>
                <a:off x="286161" y="2045197"/>
                <a:ext cx="7474395" cy="3747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=(1 −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+(1 −(1 −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unknown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07B119D-B07F-49FF-8CA1-816C86268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2045197"/>
                <a:ext cx="7474395" cy="3747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9B742D5-98EE-42D7-81FB-11FD42482C16}"/>
                  </a:ext>
                </a:extLst>
              </p:cNvPr>
              <p:cNvSpPr txBox="1"/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claim: 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14:m>
                  <m:oMath xmlns:m="http://schemas.openxmlformats.org/officeDocument/2006/math"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9B742D5-98EE-42D7-81FB-11FD42482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413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state distribution change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804725-4754-43B5-AB41-D88687F9C82A}"/>
                  </a:ext>
                </a:extLst>
              </p:cNvPr>
              <p:cNvSpPr txBox="1"/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804725-4754-43B5-AB41-D88687F9C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07B119D-B07F-49FF-8CA1-816C86268F82}"/>
                  </a:ext>
                </a:extLst>
              </p:cNvPr>
              <p:cNvSpPr txBox="1"/>
              <p:nvPr/>
            </p:nvSpPr>
            <p:spPr>
              <a:xfrm>
                <a:off x="286161" y="2045197"/>
                <a:ext cx="7474395" cy="3747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=(1 −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+(1 −(1 −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unknown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07B119D-B07F-49FF-8CA1-816C86268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2045197"/>
                <a:ext cx="7474395" cy="3747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CF73E49-0248-4164-9886-F331A61A7A8A}"/>
                  </a:ext>
                </a:extLst>
              </p:cNvPr>
              <p:cNvSpPr txBox="1"/>
              <p:nvPr/>
            </p:nvSpPr>
            <p:spPr>
              <a:xfrm>
                <a:off x="286161" y="2536086"/>
                <a:ext cx="7474395" cy="3747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(1 −(1 −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|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unknown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CF73E49-0248-4164-9886-F331A61A7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2536086"/>
                <a:ext cx="7474395" cy="3747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9B742D5-98EE-42D7-81FB-11FD42482C16}"/>
                  </a:ext>
                </a:extLst>
              </p:cNvPr>
              <p:cNvSpPr txBox="1"/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claim: 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14:m>
                  <m:oMath xmlns:m="http://schemas.openxmlformats.org/officeDocument/2006/math"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9B742D5-98EE-42D7-81FB-11FD42482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345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state distribution change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804725-4754-43B5-AB41-D88687F9C82A}"/>
                  </a:ext>
                </a:extLst>
              </p:cNvPr>
              <p:cNvSpPr txBox="1"/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804725-4754-43B5-AB41-D88687F9C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07B119D-B07F-49FF-8CA1-816C86268F82}"/>
                  </a:ext>
                </a:extLst>
              </p:cNvPr>
              <p:cNvSpPr txBox="1"/>
              <p:nvPr/>
            </p:nvSpPr>
            <p:spPr>
              <a:xfrm>
                <a:off x="286161" y="2045197"/>
                <a:ext cx="7474395" cy="3747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=(1 −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+(1 −(1 −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unknown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07B119D-B07F-49FF-8CA1-816C86268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2045197"/>
                <a:ext cx="7474395" cy="3747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CF73E49-0248-4164-9886-F331A61A7A8A}"/>
                  </a:ext>
                </a:extLst>
              </p:cNvPr>
              <p:cNvSpPr txBox="1"/>
              <p:nvPr/>
            </p:nvSpPr>
            <p:spPr>
              <a:xfrm>
                <a:off x="286161" y="2536086"/>
                <a:ext cx="7474395" cy="3747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(1 −(1 −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|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unknown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CF73E49-0248-4164-9886-F331A61A7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2536086"/>
                <a:ext cx="7474395" cy="3747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9B742D5-98EE-42D7-81FB-11FD42482C16}"/>
                  </a:ext>
                </a:extLst>
              </p:cNvPr>
              <p:cNvSpPr txBox="1"/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claim: 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14:m>
                  <m:oMath xmlns:m="http://schemas.openxmlformats.org/officeDocument/2006/math"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9B742D5-98EE-42D7-81FB-11FD42482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FABC4C-D802-4E15-9545-EAC347953F64}"/>
                  </a:ext>
                </a:extLst>
              </p:cNvPr>
              <p:cNvSpPr txBox="1"/>
              <p:nvPr/>
            </p:nvSpPr>
            <p:spPr>
              <a:xfrm>
                <a:off x="2049780" y="3026974"/>
                <a:ext cx="5710777" cy="36946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≤2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(1 −(1 −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≤2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FABC4C-D802-4E15-9545-EAC347953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780" y="3026974"/>
                <a:ext cx="5710777" cy="3694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왼쪽 대괄호 8">
            <a:extLst>
              <a:ext uri="{FF2B5EF4-FFF2-40B4-BE49-F238E27FC236}">
                <a16:creationId xmlns:a16="http://schemas.microsoft.com/office/drawing/2014/main" id="{7BA1D6E6-446A-4971-B40A-597705135911}"/>
              </a:ext>
            </a:extLst>
          </p:cNvPr>
          <p:cNvSpPr/>
          <p:nvPr/>
        </p:nvSpPr>
        <p:spPr>
          <a:xfrm rot="16200000">
            <a:off x="2408764" y="3280024"/>
            <a:ext cx="61554" cy="216000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49521B-01F9-4541-937D-2FEF20D6EB3A}"/>
              </a:ext>
            </a:extLst>
          </p:cNvPr>
          <p:cNvSpPr txBox="1"/>
          <p:nvPr/>
        </p:nvSpPr>
        <p:spPr>
          <a:xfrm>
            <a:off x="143537" y="3525517"/>
            <a:ext cx="4592002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Difference between two distributions are at most 2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0692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state distribution change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804725-4754-43B5-AB41-D88687F9C82A}"/>
                  </a:ext>
                </a:extLst>
              </p:cNvPr>
              <p:cNvSpPr txBox="1"/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804725-4754-43B5-AB41-D88687F9C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556425"/>
                <a:ext cx="7474395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07B119D-B07F-49FF-8CA1-816C86268F82}"/>
                  </a:ext>
                </a:extLst>
              </p:cNvPr>
              <p:cNvSpPr txBox="1"/>
              <p:nvPr/>
            </p:nvSpPr>
            <p:spPr>
              <a:xfrm>
                <a:off x="286161" y="2045197"/>
                <a:ext cx="7474395" cy="3747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=(1 −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+(1 −(1 −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unknown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07B119D-B07F-49FF-8CA1-816C86268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2045197"/>
                <a:ext cx="7474395" cy="3747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CF73E49-0248-4164-9886-F331A61A7A8A}"/>
                  </a:ext>
                </a:extLst>
              </p:cNvPr>
              <p:cNvSpPr txBox="1"/>
              <p:nvPr/>
            </p:nvSpPr>
            <p:spPr>
              <a:xfrm>
                <a:off x="286161" y="2536086"/>
                <a:ext cx="7474395" cy="3747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(1 −(1 −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|</m:t>
                          </m:r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unknown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80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CF73E49-0248-4164-9886-F331A61A7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2536086"/>
                <a:ext cx="7474395" cy="3747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9B742D5-98EE-42D7-81FB-11FD42482C16}"/>
                  </a:ext>
                </a:extLst>
              </p:cNvPr>
              <p:cNvSpPr txBox="1"/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claim: 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14:m>
                  <m:oMath xmlns:m="http://schemas.openxmlformats.org/officeDocument/2006/math"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 </a:t>
                </a:r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9B742D5-98EE-42D7-81FB-11FD42482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61" y="1067652"/>
                <a:ext cx="7474395" cy="3725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FABC4C-D802-4E15-9545-EAC347953F64}"/>
                  </a:ext>
                </a:extLst>
              </p:cNvPr>
              <p:cNvSpPr txBox="1"/>
              <p:nvPr/>
            </p:nvSpPr>
            <p:spPr>
              <a:xfrm>
                <a:off x="2049780" y="3026974"/>
                <a:ext cx="5710777" cy="36946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≤2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(1 −(1 −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≤2</m:t>
                      </m:r>
                      <m:r>
                        <a:rPr lang="ko-KR" altLang="en-US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FABC4C-D802-4E15-9545-EAC347953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780" y="3026974"/>
                <a:ext cx="5710777" cy="3694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왼쪽 대괄호 8">
            <a:extLst>
              <a:ext uri="{FF2B5EF4-FFF2-40B4-BE49-F238E27FC236}">
                <a16:creationId xmlns:a16="http://schemas.microsoft.com/office/drawing/2014/main" id="{7BA1D6E6-446A-4971-B40A-597705135911}"/>
              </a:ext>
            </a:extLst>
          </p:cNvPr>
          <p:cNvSpPr/>
          <p:nvPr/>
        </p:nvSpPr>
        <p:spPr>
          <a:xfrm rot="16200000">
            <a:off x="2408764" y="3280024"/>
            <a:ext cx="61554" cy="216000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49521B-01F9-4541-937D-2FEF20D6EB3A}"/>
              </a:ext>
            </a:extLst>
          </p:cNvPr>
          <p:cNvSpPr txBox="1"/>
          <p:nvPr/>
        </p:nvSpPr>
        <p:spPr>
          <a:xfrm>
            <a:off x="143537" y="3525517"/>
            <a:ext cx="4592002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Difference between two distributions are at most 2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7F928E-54F8-4DFD-9190-F5C04BD77DDF}"/>
                  </a:ext>
                </a:extLst>
              </p:cNvPr>
              <p:cNvSpPr txBox="1"/>
              <p:nvPr/>
            </p:nvSpPr>
            <p:spPr>
              <a:xfrm>
                <a:off x="0" y="4357136"/>
                <a:ext cx="12192000" cy="4037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000" i="1" dirty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</m:oMath>
                </a14:m>
                <a:r>
                  <a:rPr lang="en-US" altLang="ko-KR" sz="20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14:m>
                  <m:oMath xmlns:m="http://schemas.openxmlformats.org/officeDocument/2006/math">
                    <m:r>
                      <a:rPr lang="en-US" altLang="ko-KR" sz="200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200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2000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200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200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200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200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2000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200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20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ko-KR" sz="20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ko-KR" sz="20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20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200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200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20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200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20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20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ko-KR" altLang="en-US" sz="20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ko-KR" sz="20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ko-KR" altLang="en-US" sz="20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7F928E-54F8-4DFD-9190-F5C04BD77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357136"/>
                <a:ext cx="12192000" cy="4037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454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Policy’s Performance difference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FB4BBA4F-796B-4921-ABF5-152D518C5CD4}"/>
              </a:ext>
            </a:extLst>
          </p:cNvPr>
          <p:cNvSpPr/>
          <p:nvPr/>
        </p:nvSpPr>
        <p:spPr>
          <a:xfrm rot="16200000">
            <a:off x="5253739" y="-51201"/>
            <a:ext cx="65487" cy="3615488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/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/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488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Policy’s Performance difference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FB4BBA4F-796B-4921-ABF5-152D518C5CD4}"/>
              </a:ext>
            </a:extLst>
          </p:cNvPr>
          <p:cNvSpPr/>
          <p:nvPr/>
        </p:nvSpPr>
        <p:spPr>
          <a:xfrm rot="16200000">
            <a:off x="5253739" y="-51201"/>
            <a:ext cx="65487" cy="3615488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/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D304E5D-0A2E-4A3B-A8BA-E9564C01A1DA}"/>
                  </a:ext>
                </a:extLst>
              </p:cNvPr>
              <p:cNvSpPr/>
              <p:nvPr/>
            </p:nvSpPr>
            <p:spPr>
              <a:xfrm>
                <a:off x="845820" y="2218442"/>
                <a:ext cx="10546080" cy="43928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D304E5D-0A2E-4A3B-A8BA-E9564C01A1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" y="2218442"/>
                <a:ext cx="10546080" cy="4392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타원 9">
            <a:extLst>
              <a:ext uri="{FF2B5EF4-FFF2-40B4-BE49-F238E27FC236}">
                <a16:creationId xmlns:a16="http://schemas.microsoft.com/office/drawing/2014/main" id="{50625938-7A63-40AF-836B-C2DF782232E2}"/>
              </a:ext>
            </a:extLst>
          </p:cNvPr>
          <p:cNvSpPr/>
          <p:nvPr/>
        </p:nvSpPr>
        <p:spPr>
          <a:xfrm>
            <a:off x="2735584" y="2241306"/>
            <a:ext cx="541020" cy="512831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/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946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Policy’s Performance difference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FB4BBA4F-796B-4921-ABF5-152D518C5CD4}"/>
              </a:ext>
            </a:extLst>
          </p:cNvPr>
          <p:cNvSpPr/>
          <p:nvPr/>
        </p:nvSpPr>
        <p:spPr>
          <a:xfrm rot="16200000">
            <a:off x="5253739" y="-51201"/>
            <a:ext cx="65487" cy="3615488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/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D304E5D-0A2E-4A3B-A8BA-E9564C01A1DA}"/>
                  </a:ext>
                </a:extLst>
              </p:cNvPr>
              <p:cNvSpPr/>
              <p:nvPr/>
            </p:nvSpPr>
            <p:spPr>
              <a:xfrm>
                <a:off x="845820" y="2218442"/>
                <a:ext cx="10546080" cy="43928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D304E5D-0A2E-4A3B-A8BA-E9564C01A1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" y="2218442"/>
                <a:ext cx="10546080" cy="4392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E967727-29F3-40E1-919B-280E0AF5CA67}"/>
                  </a:ext>
                </a:extLst>
              </p:cNvPr>
              <p:cNvSpPr/>
              <p:nvPr/>
            </p:nvSpPr>
            <p:spPr>
              <a:xfrm>
                <a:off x="236210" y="2986507"/>
                <a:ext cx="10546080" cy="47487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E967727-29F3-40E1-919B-280E0AF5CA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0" y="2986507"/>
                <a:ext cx="10546080" cy="4748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타원 9">
            <a:extLst>
              <a:ext uri="{FF2B5EF4-FFF2-40B4-BE49-F238E27FC236}">
                <a16:creationId xmlns:a16="http://schemas.microsoft.com/office/drawing/2014/main" id="{50625938-7A63-40AF-836B-C2DF782232E2}"/>
              </a:ext>
            </a:extLst>
          </p:cNvPr>
          <p:cNvSpPr/>
          <p:nvPr/>
        </p:nvSpPr>
        <p:spPr>
          <a:xfrm>
            <a:off x="2735584" y="2241306"/>
            <a:ext cx="541020" cy="512831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/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8847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Policy’s Performance difference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FB4BBA4F-796B-4921-ABF5-152D518C5CD4}"/>
              </a:ext>
            </a:extLst>
          </p:cNvPr>
          <p:cNvSpPr/>
          <p:nvPr/>
        </p:nvSpPr>
        <p:spPr>
          <a:xfrm rot="16200000">
            <a:off x="5253739" y="-51201"/>
            <a:ext cx="65487" cy="3615488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/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D304E5D-0A2E-4A3B-A8BA-E9564C01A1DA}"/>
                  </a:ext>
                </a:extLst>
              </p:cNvPr>
              <p:cNvSpPr/>
              <p:nvPr/>
            </p:nvSpPr>
            <p:spPr>
              <a:xfrm>
                <a:off x="845820" y="2218442"/>
                <a:ext cx="10546080" cy="43928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D304E5D-0A2E-4A3B-A8BA-E9564C01A1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" y="2218442"/>
                <a:ext cx="10546080" cy="4392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E967727-29F3-40E1-919B-280E0AF5CA67}"/>
                  </a:ext>
                </a:extLst>
              </p:cNvPr>
              <p:cNvSpPr/>
              <p:nvPr/>
            </p:nvSpPr>
            <p:spPr>
              <a:xfrm>
                <a:off x="236210" y="2986507"/>
                <a:ext cx="10546080" cy="47487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E967727-29F3-40E1-919B-280E0AF5CA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0" y="2986507"/>
                <a:ext cx="10546080" cy="4748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타원 9">
            <a:extLst>
              <a:ext uri="{FF2B5EF4-FFF2-40B4-BE49-F238E27FC236}">
                <a16:creationId xmlns:a16="http://schemas.microsoft.com/office/drawing/2014/main" id="{50625938-7A63-40AF-836B-C2DF782232E2}"/>
              </a:ext>
            </a:extLst>
          </p:cNvPr>
          <p:cNvSpPr/>
          <p:nvPr/>
        </p:nvSpPr>
        <p:spPr>
          <a:xfrm>
            <a:off x="2735584" y="2241306"/>
            <a:ext cx="541020" cy="512831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D093072-A4D5-4E37-9F7A-270A4790EB33}"/>
                  </a:ext>
                </a:extLst>
              </p:cNvPr>
              <p:cNvSpPr/>
              <p:nvPr/>
            </p:nvSpPr>
            <p:spPr>
              <a:xfrm>
                <a:off x="845820" y="3790161"/>
                <a:ext cx="10546080" cy="47487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|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lim>
                            </m:limLow>
                          </m:fName>
                          <m:e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D093072-A4D5-4E37-9F7A-270A4790EB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" y="3790161"/>
                <a:ext cx="10546080" cy="4748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연결선: 구부러짐 2">
            <a:extLst>
              <a:ext uri="{FF2B5EF4-FFF2-40B4-BE49-F238E27FC236}">
                <a16:creationId xmlns:a16="http://schemas.microsoft.com/office/drawing/2014/main" id="{C8EFF229-5FC2-48C4-8078-B88B7AB5FE42}"/>
              </a:ext>
            </a:extLst>
          </p:cNvPr>
          <p:cNvCxnSpPr>
            <a:stCxn id="13" idx="1"/>
            <a:endCxn id="11" idx="1"/>
          </p:cNvCxnSpPr>
          <p:nvPr/>
        </p:nvCxnSpPr>
        <p:spPr>
          <a:xfrm rot="10800000" flipV="1">
            <a:off x="845820" y="2438086"/>
            <a:ext cx="12700" cy="1589512"/>
          </a:xfrm>
          <a:prstGeom prst="curvedConnector3">
            <a:avLst>
              <a:gd name="adj1" fmla="val 1800000"/>
            </a:avLst>
          </a:prstGeom>
          <a:ln w="12700">
            <a:solidFill>
              <a:srgbClr val="0F4C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/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4887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Policy’s Performance difference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FB4BBA4F-796B-4921-ABF5-152D518C5CD4}"/>
              </a:ext>
            </a:extLst>
          </p:cNvPr>
          <p:cNvSpPr/>
          <p:nvPr/>
        </p:nvSpPr>
        <p:spPr>
          <a:xfrm rot="16200000">
            <a:off x="5253739" y="-51201"/>
            <a:ext cx="65487" cy="3615488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/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D304E5D-0A2E-4A3B-A8BA-E9564C01A1DA}"/>
                  </a:ext>
                </a:extLst>
              </p:cNvPr>
              <p:cNvSpPr/>
              <p:nvPr/>
            </p:nvSpPr>
            <p:spPr>
              <a:xfrm>
                <a:off x="845820" y="2218442"/>
                <a:ext cx="10546080" cy="43928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D304E5D-0A2E-4A3B-A8BA-E9564C01A1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" y="2218442"/>
                <a:ext cx="10546080" cy="4392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E967727-29F3-40E1-919B-280E0AF5CA67}"/>
                  </a:ext>
                </a:extLst>
              </p:cNvPr>
              <p:cNvSpPr/>
              <p:nvPr/>
            </p:nvSpPr>
            <p:spPr>
              <a:xfrm>
                <a:off x="236210" y="2986507"/>
                <a:ext cx="10546080" cy="47487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E967727-29F3-40E1-919B-280E0AF5CA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0" y="2986507"/>
                <a:ext cx="10546080" cy="4748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타원 9">
            <a:extLst>
              <a:ext uri="{FF2B5EF4-FFF2-40B4-BE49-F238E27FC236}">
                <a16:creationId xmlns:a16="http://schemas.microsoft.com/office/drawing/2014/main" id="{50625938-7A63-40AF-836B-C2DF782232E2}"/>
              </a:ext>
            </a:extLst>
          </p:cNvPr>
          <p:cNvSpPr/>
          <p:nvPr/>
        </p:nvSpPr>
        <p:spPr>
          <a:xfrm>
            <a:off x="2735584" y="2241306"/>
            <a:ext cx="541020" cy="512831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D093072-A4D5-4E37-9F7A-270A4790EB33}"/>
                  </a:ext>
                </a:extLst>
              </p:cNvPr>
              <p:cNvSpPr/>
              <p:nvPr/>
            </p:nvSpPr>
            <p:spPr>
              <a:xfrm>
                <a:off x="845820" y="3790161"/>
                <a:ext cx="10546080" cy="47487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|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lim>
                            </m:limLow>
                          </m:fName>
                          <m:e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D093072-A4D5-4E37-9F7A-270A4790EB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" y="3790161"/>
                <a:ext cx="10546080" cy="4748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연결선: 구부러짐 2">
            <a:extLst>
              <a:ext uri="{FF2B5EF4-FFF2-40B4-BE49-F238E27FC236}">
                <a16:creationId xmlns:a16="http://schemas.microsoft.com/office/drawing/2014/main" id="{C8EFF229-5FC2-48C4-8078-B88B7AB5FE42}"/>
              </a:ext>
            </a:extLst>
          </p:cNvPr>
          <p:cNvCxnSpPr>
            <a:stCxn id="13" idx="1"/>
            <a:endCxn id="11" idx="1"/>
          </p:cNvCxnSpPr>
          <p:nvPr/>
        </p:nvCxnSpPr>
        <p:spPr>
          <a:xfrm rot="10800000" flipV="1">
            <a:off x="845820" y="2438086"/>
            <a:ext cx="12700" cy="1589512"/>
          </a:xfrm>
          <a:prstGeom prst="curvedConnector3">
            <a:avLst>
              <a:gd name="adj1" fmla="val 1800000"/>
            </a:avLst>
          </a:prstGeom>
          <a:ln w="12700">
            <a:solidFill>
              <a:srgbClr val="0F4C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/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845661F-15B7-49D3-AF17-AEFC543530B4}"/>
                  </a:ext>
                </a:extLst>
              </p:cNvPr>
              <p:cNvSpPr/>
              <p:nvPr/>
            </p:nvSpPr>
            <p:spPr>
              <a:xfrm>
                <a:off x="845820" y="4593815"/>
                <a:ext cx="10546080" cy="47487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845661F-15B7-49D3-AF17-AEFC543530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" y="4593815"/>
                <a:ext cx="10546080" cy="4748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4931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Policy’s Performance difference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FB4BBA4F-796B-4921-ABF5-152D518C5CD4}"/>
              </a:ext>
            </a:extLst>
          </p:cNvPr>
          <p:cNvSpPr/>
          <p:nvPr/>
        </p:nvSpPr>
        <p:spPr>
          <a:xfrm rot="16200000">
            <a:off x="5253739" y="-51201"/>
            <a:ext cx="65487" cy="3615488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/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D304E5D-0A2E-4A3B-A8BA-E9564C01A1DA}"/>
                  </a:ext>
                </a:extLst>
              </p:cNvPr>
              <p:cNvSpPr/>
              <p:nvPr/>
            </p:nvSpPr>
            <p:spPr>
              <a:xfrm>
                <a:off x="845820" y="2218442"/>
                <a:ext cx="10546080" cy="43928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D304E5D-0A2E-4A3B-A8BA-E9564C01A1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" y="2218442"/>
                <a:ext cx="10546080" cy="4392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E967727-29F3-40E1-919B-280E0AF5CA67}"/>
                  </a:ext>
                </a:extLst>
              </p:cNvPr>
              <p:cNvSpPr/>
              <p:nvPr/>
            </p:nvSpPr>
            <p:spPr>
              <a:xfrm>
                <a:off x="236210" y="2986507"/>
                <a:ext cx="10546080" cy="47487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E967727-29F3-40E1-919B-280E0AF5CA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0" y="2986507"/>
                <a:ext cx="10546080" cy="4748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타원 9">
            <a:extLst>
              <a:ext uri="{FF2B5EF4-FFF2-40B4-BE49-F238E27FC236}">
                <a16:creationId xmlns:a16="http://schemas.microsoft.com/office/drawing/2014/main" id="{50625938-7A63-40AF-836B-C2DF782232E2}"/>
              </a:ext>
            </a:extLst>
          </p:cNvPr>
          <p:cNvSpPr/>
          <p:nvPr/>
        </p:nvSpPr>
        <p:spPr>
          <a:xfrm>
            <a:off x="2735584" y="2241306"/>
            <a:ext cx="541020" cy="512831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D093072-A4D5-4E37-9F7A-270A4790EB33}"/>
                  </a:ext>
                </a:extLst>
              </p:cNvPr>
              <p:cNvSpPr/>
              <p:nvPr/>
            </p:nvSpPr>
            <p:spPr>
              <a:xfrm>
                <a:off x="845820" y="3790161"/>
                <a:ext cx="10546080" cy="47487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|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lim>
                            </m:limLow>
                          </m:fName>
                          <m:e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D093072-A4D5-4E37-9F7A-270A4790EB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" y="3790161"/>
                <a:ext cx="10546080" cy="4748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연결선: 구부러짐 2">
            <a:extLst>
              <a:ext uri="{FF2B5EF4-FFF2-40B4-BE49-F238E27FC236}">
                <a16:creationId xmlns:a16="http://schemas.microsoft.com/office/drawing/2014/main" id="{C8EFF229-5FC2-48C4-8078-B88B7AB5FE42}"/>
              </a:ext>
            </a:extLst>
          </p:cNvPr>
          <p:cNvCxnSpPr>
            <a:stCxn id="13" idx="1"/>
            <a:endCxn id="11" idx="1"/>
          </p:cNvCxnSpPr>
          <p:nvPr/>
        </p:nvCxnSpPr>
        <p:spPr>
          <a:xfrm rot="10800000" flipV="1">
            <a:off x="845820" y="2438086"/>
            <a:ext cx="12700" cy="1589512"/>
          </a:xfrm>
          <a:prstGeom prst="curvedConnector3">
            <a:avLst>
              <a:gd name="adj1" fmla="val 1800000"/>
            </a:avLst>
          </a:prstGeom>
          <a:ln w="12700">
            <a:solidFill>
              <a:srgbClr val="0F4C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/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845661F-15B7-49D3-AF17-AEFC543530B4}"/>
                  </a:ext>
                </a:extLst>
              </p:cNvPr>
              <p:cNvSpPr/>
              <p:nvPr/>
            </p:nvSpPr>
            <p:spPr>
              <a:xfrm>
                <a:off x="845820" y="4593815"/>
                <a:ext cx="6324600" cy="47487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845661F-15B7-49D3-AF17-AEFC543530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" y="4593815"/>
                <a:ext cx="6324600" cy="4748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F55F050-EB05-4027-852B-66660CF23428}"/>
              </a:ext>
            </a:extLst>
          </p:cNvPr>
          <p:cNvSpPr txBox="1"/>
          <p:nvPr/>
        </p:nvSpPr>
        <p:spPr>
          <a:xfrm>
            <a:off x="7413019" y="4981080"/>
            <a:ext cx="3597881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Take a look at the paper for derivation</a:t>
            </a:r>
            <a:endParaRPr lang="ko-KR" altLang="en-US" sz="16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B8F5955F-199A-4C8A-9914-0DBCBEEB44A6}"/>
              </a:ext>
            </a:extLst>
          </p:cNvPr>
          <p:cNvCxnSpPr>
            <a:cxnSpLocks/>
            <a:stCxn id="21" idx="3"/>
            <a:endCxn id="26" idx="3"/>
          </p:cNvCxnSpPr>
          <p:nvPr/>
        </p:nvCxnSpPr>
        <p:spPr>
          <a:xfrm flipH="1">
            <a:off x="6797040" y="4831252"/>
            <a:ext cx="373380" cy="762871"/>
          </a:xfrm>
          <a:prstGeom prst="curvedConnector3">
            <a:avLst>
              <a:gd name="adj1" fmla="val -61224"/>
            </a:avLst>
          </a:prstGeom>
          <a:ln w="12700">
            <a:solidFill>
              <a:srgbClr val="0F4C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C3E26B1-5990-463D-BCF3-C3F8156B74F6}"/>
                  </a:ext>
                </a:extLst>
              </p:cNvPr>
              <p:cNvSpPr/>
              <p:nvPr/>
            </p:nvSpPr>
            <p:spPr>
              <a:xfrm>
                <a:off x="852170" y="5311577"/>
                <a:ext cx="5944870" cy="565091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ko-KR" sz="180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US" altLang="ko-KR" sz="1801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ko-KR" altLang="en-US" sz="1801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altLang="ko-KR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 b="0" i="0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ko-KR" altLang="en-US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altLang="ko-KR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|)</m:t>
                            </m:r>
                          </m:e>
                        </m:func>
                      </m:num>
                      <m:den>
                        <m:r>
                          <a:rPr lang="en-US" altLang="ko-KR" sz="1801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sSup>
                          <m:sSupPr>
                            <m:ctrlPr>
                              <a:rPr lang="en-US" altLang="ko-KR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1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sSupPr>
                        <m:ctrlPr>
                          <a:rPr lang="en-US" altLang="ko-KR" sz="1801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C3E26B1-5990-463D-BCF3-C3F8156B74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70" y="5311577"/>
                <a:ext cx="5944870" cy="56509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358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Bounding the Policy’s Performance difference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/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801" i="1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ko-KR" altLang="en-US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ko-KR" altLang="en-US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p>
                                          <m:r>
                                            <a:rPr lang="en-US" altLang="ko-KR" sz="1801" i="1">
                                              <a:ln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  <a:alpha val="30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ko-KR" altLang="en-US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1801" i="1">
                                          <a:ln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  <a:alpha val="30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7ED24B86-E304-4446-8EA7-54643D29D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4" y="958994"/>
                <a:ext cx="9395471" cy="830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FB4BBA4F-796B-4921-ABF5-152D518C5CD4}"/>
              </a:ext>
            </a:extLst>
          </p:cNvPr>
          <p:cNvSpPr/>
          <p:nvPr/>
        </p:nvSpPr>
        <p:spPr>
          <a:xfrm rot="16200000">
            <a:off x="5253739" y="-51201"/>
            <a:ext cx="65487" cy="3615488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/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p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ko-KR" altLang="en-US" sz="1801" i="1">
                                  <a:ln>
                                    <a:solidFill>
                                      <a:prstClr val="black">
                                        <a:lumMod val="75000"/>
                                        <a:lumOff val="25000"/>
                                        <a:alpha val="30000"/>
                                      </a:prstClr>
                                    </a:solidFill>
                                  </a:ln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sz="1801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1801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3B551A-2C41-46E1-BB37-CA623F543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536" y="1818916"/>
                <a:ext cx="7474395" cy="3701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D304E5D-0A2E-4A3B-A8BA-E9564C01A1DA}"/>
                  </a:ext>
                </a:extLst>
              </p:cNvPr>
              <p:cNvSpPr/>
              <p:nvPr/>
            </p:nvSpPr>
            <p:spPr>
              <a:xfrm>
                <a:off x="845820" y="2218442"/>
                <a:ext cx="10546080" cy="439287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D304E5D-0A2E-4A3B-A8BA-E9564C01A1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" y="2218442"/>
                <a:ext cx="10546080" cy="4392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E967727-29F3-40E1-919B-280E0AF5CA67}"/>
                  </a:ext>
                </a:extLst>
              </p:cNvPr>
              <p:cNvSpPr/>
              <p:nvPr/>
            </p:nvSpPr>
            <p:spPr>
              <a:xfrm>
                <a:off x="236210" y="2986507"/>
                <a:ext cx="10546080" cy="47487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E967727-29F3-40E1-919B-280E0AF5CA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0" y="2986507"/>
                <a:ext cx="10546080" cy="4748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타원 9">
            <a:extLst>
              <a:ext uri="{FF2B5EF4-FFF2-40B4-BE49-F238E27FC236}">
                <a16:creationId xmlns:a16="http://schemas.microsoft.com/office/drawing/2014/main" id="{50625938-7A63-40AF-836B-C2DF782232E2}"/>
              </a:ext>
            </a:extLst>
          </p:cNvPr>
          <p:cNvSpPr/>
          <p:nvPr/>
        </p:nvSpPr>
        <p:spPr>
          <a:xfrm>
            <a:off x="2735584" y="2241306"/>
            <a:ext cx="541020" cy="512831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D093072-A4D5-4E37-9F7A-270A4790EB33}"/>
                  </a:ext>
                </a:extLst>
              </p:cNvPr>
              <p:cNvSpPr/>
              <p:nvPr/>
            </p:nvSpPr>
            <p:spPr>
              <a:xfrm>
                <a:off x="845820" y="3790161"/>
                <a:ext cx="10546080" cy="47487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|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lim>
                            </m:limLow>
                          </m:fName>
                          <m:e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D093072-A4D5-4E37-9F7A-270A4790EB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" y="3790161"/>
                <a:ext cx="10546080" cy="4748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연결선: 구부러짐 2">
            <a:extLst>
              <a:ext uri="{FF2B5EF4-FFF2-40B4-BE49-F238E27FC236}">
                <a16:creationId xmlns:a16="http://schemas.microsoft.com/office/drawing/2014/main" id="{C8EFF229-5FC2-48C4-8078-B88B7AB5FE42}"/>
              </a:ext>
            </a:extLst>
          </p:cNvPr>
          <p:cNvCxnSpPr>
            <a:stCxn id="13" idx="1"/>
            <a:endCxn id="11" idx="1"/>
          </p:cNvCxnSpPr>
          <p:nvPr/>
        </p:nvCxnSpPr>
        <p:spPr>
          <a:xfrm rot="10800000" flipV="1">
            <a:off x="845820" y="2438086"/>
            <a:ext cx="12700" cy="1589512"/>
          </a:xfrm>
          <a:prstGeom prst="curvedConnector3">
            <a:avLst>
              <a:gd name="adj1" fmla="val 1800000"/>
            </a:avLst>
          </a:prstGeom>
          <a:ln w="12700">
            <a:solidFill>
              <a:srgbClr val="0F4C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/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58E06A-05F9-4FEA-B415-38C49B289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108" y="1187845"/>
                <a:ext cx="4285839" cy="3725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845661F-15B7-49D3-AF17-AEFC543530B4}"/>
                  </a:ext>
                </a:extLst>
              </p:cNvPr>
              <p:cNvSpPr/>
              <p:nvPr/>
            </p:nvSpPr>
            <p:spPr>
              <a:xfrm>
                <a:off x="845820" y="4593815"/>
                <a:ext cx="6324600" cy="47487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845661F-15B7-49D3-AF17-AEFC543530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" y="4593815"/>
                <a:ext cx="6324600" cy="4748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F55F050-EB05-4027-852B-66660CF23428}"/>
              </a:ext>
            </a:extLst>
          </p:cNvPr>
          <p:cNvSpPr txBox="1"/>
          <p:nvPr/>
        </p:nvSpPr>
        <p:spPr>
          <a:xfrm>
            <a:off x="7413019" y="4981080"/>
            <a:ext cx="3597881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Take a look at the paper for derivation</a:t>
            </a:r>
            <a:endParaRPr lang="ko-KR" altLang="en-US" sz="16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B8F5955F-199A-4C8A-9914-0DBCBEEB44A6}"/>
              </a:ext>
            </a:extLst>
          </p:cNvPr>
          <p:cNvCxnSpPr>
            <a:cxnSpLocks/>
            <a:stCxn id="21" idx="3"/>
            <a:endCxn id="26" idx="3"/>
          </p:cNvCxnSpPr>
          <p:nvPr/>
        </p:nvCxnSpPr>
        <p:spPr>
          <a:xfrm flipH="1">
            <a:off x="6797040" y="4831252"/>
            <a:ext cx="373380" cy="762871"/>
          </a:xfrm>
          <a:prstGeom prst="curvedConnector3">
            <a:avLst>
              <a:gd name="adj1" fmla="val -61224"/>
            </a:avLst>
          </a:prstGeom>
          <a:ln w="12700">
            <a:solidFill>
              <a:srgbClr val="0F4C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C3E26B1-5990-463D-BCF3-C3F8156B74F6}"/>
                  </a:ext>
                </a:extLst>
              </p:cNvPr>
              <p:cNvSpPr/>
              <p:nvPr/>
            </p:nvSpPr>
            <p:spPr>
              <a:xfrm>
                <a:off x="852170" y="5311577"/>
                <a:ext cx="5944870" cy="565091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ko-KR" sz="180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US" altLang="ko-KR" sz="1801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ko-KR" altLang="en-US" sz="1801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altLang="ko-KR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 b="0" i="0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ko-KR" altLang="en-US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altLang="ko-KR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|)</m:t>
                            </m:r>
                          </m:e>
                        </m:func>
                      </m:num>
                      <m:den>
                        <m:r>
                          <a:rPr lang="en-US" altLang="ko-KR" sz="1801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sSup>
                          <m:sSupPr>
                            <m:ctrlPr>
                              <a:rPr lang="en-US" altLang="ko-KR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1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sSupPr>
                        <m:ctrlPr>
                          <a:rPr lang="en-US" altLang="ko-KR" sz="1801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C3E26B1-5990-463D-BCF3-C3F8156B74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70" y="5311577"/>
                <a:ext cx="5944870" cy="56509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DE1CBCE2-27A3-45D5-8D31-D4825F537128}"/>
              </a:ext>
            </a:extLst>
          </p:cNvPr>
          <p:cNvSpPr txBox="1"/>
          <p:nvPr/>
        </p:nvSpPr>
        <p:spPr>
          <a:xfrm>
            <a:off x="1367260" y="6119556"/>
            <a:ext cx="5281719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There exists a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lower-bound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 for policy improvement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F4F7513-8C89-446A-BCAB-951566FF03EA}"/>
              </a:ext>
            </a:extLst>
          </p:cNvPr>
          <p:cNvCxnSpPr>
            <a:cxnSpLocks/>
          </p:cNvCxnSpPr>
          <p:nvPr/>
        </p:nvCxnSpPr>
        <p:spPr>
          <a:xfrm>
            <a:off x="1127760" y="5899528"/>
            <a:ext cx="5615940" cy="0"/>
          </a:xfrm>
          <a:prstGeom prst="line">
            <a:avLst/>
          </a:prstGeom>
          <a:ln w="19050">
            <a:solidFill>
              <a:srgbClr val="658D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5335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Summing Up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36BB5-8F8A-47CC-99A4-B72D9608C6DF}"/>
              </a:ext>
            </a:extLst>
          </p:cNvPr>
          <p:cNvSpPr txBox="1"/>
          <p:nvPr/>
        </p:nvSpPr>
        <p:spPr>
          <a:xfrm>
            <a:off x="227018" y="1187842"/>
            <a:ext cx="75987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Can we optimize the policies with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guaranteed monotonic improvement?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80760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Summing Up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36BB5-8F8A-47CC-99A4-B72D9608C6DF}"/>
              </a:ext>
            </a:extLst>
          </p:cNvPr>
          <p:cNvSpPr txBox="1"/>
          <p:nvPr/>
        </p:nvSpPr>
        <p:spPr>
          <a:xfrm>
            <a:off x="227018" y="1187842"/>
            <a:ext cx="75987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Can we optimize the policies with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guaranteed monotonic improvement?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C1E8210-DA4F-461E-A830-7C581C7466A3}"/>
                  </a:ext>
                </a:extLst>
              </p:cNvPr>
              <p:cNvSpPr/>
              <p:nvPr/>
            </p:nvSpPr>
            <p:spPr>
              <a:xfrm>
                <a:off x="739135" y="1626627"/>
                <a:ext cx="9395471" cy="70904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altLang="ko-KR" sz="1801" dirty="0">
                    <a:noFill/>
                    <a:latin typeface="+mj-lt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C1E8210-DA4F-461E-A830-7C581C7466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35" y="1626627"/>
                <a:ext cx="9395471" cy="709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13140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Summing Up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36BB5-8F8A-47CC-99A4-B72D9608C6DF}"/>
              </a:ext>
            </a:extLst>
          </p:cNvPr>
          <p:cNvSpPr txBox="1"/>
          <p:nvPr/>
        </p:nvSpPr>
        <p:spPr>
          <a:xfrm>
            <a:off x="227018" y="1187842"/>
            <a:ext cx="75987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Can we optimize the policies with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guaranteed monotonic improvement?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E4246E3-1037-4106-8F16-CCEE2161B338}"/>
              </a:ext>
            </a:extLst>
          </p:cNvPr>
          <p:cNvSpPr>
            <a:spLocks noChangeAspect="1"/>
          </p:cNvSpPr>
          <p:nvPr/>
        </p:nvSpPr>
        <p:spPr>
          <a:xfrm>
            <a:off x="3230884" y="1804518"/>
            <a:ext cx="607661" cy="576000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DEC326-A4D6-482A-991E-71EB3CC98F8B}"/>
              </a:ext>
            </a:extLst>
          </p:cNvPr>
          <p:cNvSpPr txBox="1"/>
          <p:nvPr/>
        </p:nvSpPr>
        <p:spPr>
          <a:xfrm>
            <a:off x="227018" y="2870708"/>
            <a:ext cx="75987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Can we ignore the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state distribution mismatch?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C1E8210-DA4F-461E-A830-7C581C7466A3}"/>
                  </a:ext>
                </a:extLst>
              </p:cNvPr>
              <p:cNvSpPr/>
              <p:nvPr/>
            </p:nvSpPr>
            <p:spPr>
              <a:xfrm>
                <a:off x="739135" y="1626627"/>
                <a:ext cx="9395471" cy="70904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altLang="ko-KR" sz="1801" dirty="0">
                    <a:noFill/>
                    <a:latin typeface="+mj-lt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C1E8210-DA4F-461E-A830-7C581C7466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35" y="1626627"/>
                <a:ext cx="9395471" cy="709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029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Summing Up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36BB5-8F8A-47CC-99A4-B72D9608C6DF}"/>
              </a:ext>
            </a:extLst>
          </p:cNvPr>
          <p:cNvSpPr txBox="1"/>
          <p:nvPr/>
        </p:nvSpPr>
        <p:spPr>
          <a:xfrm>
            <a:off x="227018" y="1187842"/>
            <a:ext cx="75987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Can we optimize the policies with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guaranteed monotonic improvement?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E4246E3-1037-4106-8F16-CCEE2161B338}"/>
              </a:ext>
            </a:extLst>
          </p:cNvPr>
          <p:cNvSpPr>
            <a:spLocks noChangeAspect="1"/>
          </p:cNvSpPr>
          <p:nvPr/>
        </p:nvSpPr>
        <p:spPr>
          <a:xfrm>
            <a:off x="3230884" y="1804518"/>
            <a:ext cx="607661" cy="576000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DEC326-A4D6-482A-991E-71EB3CC98F8B}"/>
              </a:ext>
            </a:extLst>
          </p:cNvPr>
          <p:cNvSpPr txBox="1"/>
          <p:nvPr/>
        </p:nvSpPr>
        <p:spPr>
          <a:xfrm>
            <a:off x="227018" y="2870708"/>
            <a:ext cx="75987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Can we ignore the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state distribution mismatch?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6C6EE6-FDF6-4F95-9AD5-B4AF11F6237C}"/>
                  </a:ext>
                </a:extLst>
              </p:cNvPr>
              <p:cNvSpPr txBox="1"/>
              <p:nvPr/>
            </p:nvSpPr>
            <p:spPr>
              <a:xfrm>
                <a:off x="739135" y="3345398"/>
                <a:ext cx="3695700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1" b="0" i="0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ko-KR" sz="1801" b="0" i="0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6C6EE6-FDF6-4F95-9AD5-B4AF11F62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35" y="3345398"/>
                <a:ext cx="3695700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C1E8210-DA4F-461E-A830-7C581C7466A3}"/>
                  </a:ext>
                </a:extLst>
              </p:cNvPr>
              <p:cNvSpPr/>
              <p:nvPr/>
            </p:nvSpPr>
            <p:spPr>
              <a:xfrm>
                <a:off x="739135" y="1626627"/>
                <a:ext cx="9395471" cy="70904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altLang="ko-KR" sz="1801" dirty="0">
                    <a:noFill/>
                    <a:latin typeface="+mj-lt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C1E8210-DA4F-461E-A830-7C581C7466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35" y="1626627"/>
                <a:ext cx="9395471" cy="709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6922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Summing Up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36BB5-8F8A-47CC-99A4-B72D9608C6DF}"/>
              </a:ext>
            </a:extLst>
          </p:cNvPr>
          <p:cNvSpPr txBox="1"/>
          <p:nvPr/>
        </p:nvSpPr>
        <p:spPr>
          <a:xfrm>
            <a:off x="227018" y="1187842"/>
            <a:ext cx="75987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Can we optimize the policies with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guaranteed monotonic improvement?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E4246E3-1037-4106-8F16-CCEE2161B338}"/>
              </a:ext>
            </a:extLst>
          </p:cNvPr>
          <p:cNvSpPr>
            <a:spLocks noChangeAspect="1"/>
          </p:cNvSpPr>
          <p:nvPr/>
        </p:nvSpPr>
        <p:spPr>
          <a:xfrm>
            <a:off x="3230884" y="1804518"/>
            <a:ext cx="607661" cy="576000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DEC326-A4D6-482A-991E-71EB3CC98F8B}"/>
              </a:ext>
            </a:extLst>
          </p:cNvPr>
          <p:cNvSpPr txBox="1"/>
          <p:nvPr/>
        </p:nvSpPr>
        <p:spPr>
          <a:xfrm>
            <a:off x="227018" y="2870708"/>
            <a:ext cx="75987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Can we ignore the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state distribution mismatch?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6C6EE6-FDF6-4F95-9AD5-B4AF11F6237C}"/>
                  </a:ext>
                </a:extLst>
              </p:cNvPr>
              <p:cNvSpPr txBox="1"/>
              <p:nvPr/>
            </p:nvSpPr>
            <p:spPr>
              <a:xfrm>
                <a:off x="739135" y="3345398"/>
                <a:ext cx="3695700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1" b="0" i="0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ko-KR" sz="1801" b="0" i="0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6C6EE6-FDF6-4F95-9AD5-B4AF11F62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35" y="3345398"/>
                <a:ext cx="3695700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C1E8210-DA4F-461E-A830-7C581C7466A3}"/>
                  </a:ext>
                </a:extLst>
              </p:cNvPr>
              <p:cNvSpPr/>
              <p:nvPr/>
            </p:nvSpPr>
            <p:spPr>
              <a:xfrm>
                <a:off x="739135" y="1626627"/>
                <a:ext cx="9395471" cy="70904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altLang="ko-KR" sz="1801" dirty="0">
                    <a:noFill/>
                    <a:latin typeface="+mj-lt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C1E8210-DA4F-461E-A830-7C581C7466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35" y="1626627"/>
                <a:ext cx="9395471" cy="709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802FE615-AC07-4884-8905-2CA1D001CAD7}"/>
                  </a:ext>
                </a:extLst>
              </p:cNvPr>
              <p:cNvSpPr/>
              <p:nvPr/>
            </p:nvSpPr>
            <p:spPr>
              <a:xfrm>
                <a:off x="1104892" y="3770773"/>
                <a:ext cx="10576568" cy="71205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80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ko-KR" altLang="en-US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altLang="ko-KR" sz="1801" dirty="0">
                    <a:noFill/>
                    <a:ea typeface="Cambria Math" panose="02040503050406030204" pitchFamily="18" charset="0"/>
                  </a:rPr>
                  <a:t>.</a:t>
                </a:r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802FE615-AC07-4884-8905-2CA1D001CA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92" y="3770773"/>
                <a:ext cx="10576568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103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Summing Up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36BB5-8F8A-47CC-99A4-B72D9608C6DF}"/>
              </a:ext>
            </a:extLst>
          </p:cNvPr>
          <p:cNvSpPr txBox="1"/>
          <p:nvPr/>
        </p:nvSpPr>
        <p:spPr>
          <a:xfrm>
            <a:off x="227018" y="1187842"/>
            <a:ext cx="75987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Can we optimize the policies with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guaranteed monotonic improvement?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E4246E3-1037-4106-8F16-CCEE2161B338}"/>
              </a:ext>
            </a:extLst>
          </p:cNvPr>
          <p:cNvSpPr>
            <a:spLocks noChangeAspect="1"/>
          </p:cNvSpPr>
          <p:nvPr/>
        </p:nvSpPr>
        <p:spPr>
          <a:xfrm>
            <a:off x="3230884" y="1804518"/>
            <a:ext cx="607661" cy="576000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DEC326-A4D6-482A-991E-71EB3CC98F8B}"/>
              </a:ext>
            </a:extLst>
          </p:cNvPr>
          <p:cNvSpPr txBox="1"/>
          <p:nvPr/>
        </p:nvSpPr>
        <p:spPr>
          <a:xfrm>
            <a:off x="227018" y="2870708"/>
            <a:ext cx="75987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Can we ignore the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state distribution mismatch?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6C6EE6-FDF6-4F95-9AD5-B4AF11F6237C}"/>
                  </a:ext>
                </a:extLst>
              </p:cNvPr>
              <p:cNvSpPr txBox="1"/>
              <p:nvPr/>
            </p:nvSpPr>
            <p:spPr>
              <a:xfrm>
                <a:off x="739135" y="3345398"/>
                <a:ext cx="3695700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1" b="0" i="0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ko-KR" sz="1801" b="0" i="0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6C6EE6-FDF6-4F95-9AD5-B4AF11F62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35" y="3345398"/>
                <a:ext cx="3695700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C1E8210-DA4F-461E-A830-7C581C7466A3}"/>
                  </a:ext>
                </a:extLst>
              </p:cNvPr>
              <p:cNvSpPr/>
              <p:nvPr/>
            </p:nvSpPr>
            <p:spPr>
              <a:xfrm>
                <a:off x="739135" y="1626627"/>
                <a:ext cx="9395471" cy="70904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altLang="ko-KR" sz="1801" dirty="0">
                    <a:noFill/>
                    <a:latin typeface="+mj-lt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C1E8210-DA4F-461E-A830-7C581C7466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35" y="1626627"/>
                <a:ext cx="9395471" cy="709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FE3C9F5-A3C6-4B1A-A581-1E3DBDA329C2}"/>
              </a:ext>
            </a:extLst>
          </p:cNvPr>
          <p:cNvSpPr txBox="1"/>
          <p:nvPr/>
        </p:nvSpPr>
        <p:spPr>
          <a:xfrm>
            <a:off x="1828008" y="4619259"/>
            <a:ext cx="7217723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Maximizing this </a:t>
            </a:r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objective</a:t>
            </a:r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 is guaranteed to improve the policy’s performance</a:t>
            </a:r>
            <a:endParaRPr lang="ko-KR" altLang="en-US" sz="16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93BFED0-B96E-432A-90D9-4D1A577A7910}"/>
              </a:ext>
            </a:extLst>
          </p:cNvPr>
          <p:cNvCxnSpPr>
            <a:cxnSpLocks/>
          </p:cNvCxnSpPr>
          <p:nvPr/>
        </p:nvCxnSpPr>
        <p:spPr>
          <a:xfrm>
            <a:off x="2743200" y="4498067"/>
            <a:ext cx="5184000" cy="0"/>
          </a:xfrm>
          <a:prstGeom prst="line">
            <a:avLst/>
          </a:prstGeom>
          <a:ln w="19050">
            <a:solidFill>
              <a:srgbClr val="658D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5BCBC270-2A3D-45F9-A89A-E7F12775AA76}"/>
                  </a:ext>
                </a:extLst>
              </p:cNvPr>
              <p:cNvSpPr/>
              <p:nvPr/>
            </p:nvSpPr>
            <p:spPr>
              <a:xfrm>
                <a:off x="1104892" y="3770773"/>
                <a:ext cx="10576568" cy="71205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80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ko-KR" altLang="en-US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altLang="ko-KR" sz="1801" dirty="0">
                    <a:noFill/>
                    <a:ea typeface="Cambria Math" panose="02040503050406030204" pitchFamily="18" charset="0"/>
                  </a:rPr>
                  <a:t>.</a:t>
                </a:r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5BCBC270-2A3D-45F9-A89A-E7F12775A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92" y="3770773"/>
                <a:ext cx="10576568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3298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Summing Up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36BB5-8F8A-47CC-99A4-B72D9608C6DF}"/>
              </a:ext>
            </a:extLst>
          </p:cNvPr>
          <p:cNvSpPr txBox="1"/>
          <p:nvPr/>
        </p:nvSpPr>
        <p:spPr>
          <a:xfrm>
            <a:off x="227018" y="1187842"/>
            <a:ext cx="75987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Can we optimize the policies with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guaranteed monotonic improvement?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E4246E3-1037-4106-8F16-CCEE2161B338}"/>
              </a:ext>
            </a:extLst>
          </p:cNvPr>
          <p:cNvSpPr>
            <a:spLocks noChangeAspect="1"/>
          </p:cNvSpPr>
          <p:nvPr/>
        </p:nvSpPr>
        <p:spPr>
          <a:xfrm>
            <a:off x="3230884" y="1804518"/>
            <a:ext cx="607661" cy="576000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DEC326-A4D6-482A-991E-71EB3CC98F8B}"/>
              </a:ext>
            </a:extLst>
          </p:cNvPr>
          <p:cNvSpPr txBox="1"/>
          <p:nvPr/>
        </p:nvSpPr>
        <p:spPr>
          <a:xfrm>
            <a:off x="227018" y="2870708"/>
            <a:ext cx="75987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Can we ignore the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state distribution mismatch?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6C6EE6-FDF6-4F95-9AD5-B4AF11F6237C}"/>
                  </a:ext>
                </a:extLst>
              </p:cNvPr>
              <p:cNvSpPr txBox="1"/>
              <p:nvPr/>
            </p:nvSpPr>
            <p:spPr>
              <a:xfrm>
                <a:off x="739135" y="3345398"/>
                <a:ext cx="3695700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1" b="0" i="0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ko-KR" sz="1801" b="0" i="0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6C6EE6-FDF6-4F95-9AD5-B4AF11F62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35" y="3345398"/>
                <a:ext cx="3695700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C1E8210-DA4F-461E-A830-7C581C7466A3}"/>
                  </a:ext>
                </a:extLst>
              </p:cNvPr>
              <p:cNvSpPr/>
              <p:nvPr/>
            </p:nvSpPr>
            <p:spPr>
              <a:xfrm>
                <a:off x="739135" y="1626627"/>
                <a:ext cx="9395471" cy="70904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altLang="ko-KR" sz="1801" dirty="0">
                    <a:noFill/>
                    <a:latin typeface="+mj-lt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C1E8210-DA4F-461E-A830-7C581C7466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35" y="1626627"/>
                <a:ext cx="9395471" cy="709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FE3C9F5-A3C6-4B1A-A581-1E3DBDA329C2}"/>
              </a:ext>
            </a:extLst>
          </p:cNvPr>
          <p:cNvSpPr txBox="1"/>
          <p:nvPr/>
        </p:nvSpPr>
        <p:spPr>
          <a:xfrm>
            <a:off x="1828008" y="4619259"/>
            <a:ext cx="7217723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Maximizing this </a:t>
            </a:r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objective</a:t>
            </a:r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 is guaranteed to improve the policy’s performance</a:t>
            </a:r>
            <a:endParaRPr lang="ko-KR" altLang="en-US" sz="16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93BFED0-B96E-432A-90D9-4D1A577A7910}"/>
              </a:ext>
            </a:extLst>
          </p:cNvPr>
          <p:cNvCxnSpPr>
            <a:cxnSpLocks/>
          </p:cNvCxnSpPr>
          <p:nvPr/>
        </p:nvCxnSpPr>
        <p:spPr>
          <a:xfrm>
            <a:off x="2743200" y="4498067"/>
            <a:ext cx="5184000" cy="0"/>
          </a:xfrm>
          <a:prstGeom prst="line">
            <a:avLst/>
          </a:prstGeom>
          <a:ln w="19050">
            <a:solidFill>
              <a:srgbClr val="658D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BB95B7-DF93-480D-879D-502575E24135}"/>
              </a:ext>
            </a:extLst>
          </p:cNvPr>
          <p:cNvSpPr txBox="1"/>
          <p:nvPr/>
        </p:nvSpPr>
        <p:spPr>
          <a:xfrm>
            <a:off x="0" y="5532998"/>
            <a:ext cx="121920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So, how can we </a:t>
            </a:r>
            <a:r>
              <a:rPr lang="en-US" altLang="ko-KR" sz="2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optimize </a:t>
            </a:r>
            <a:r>
              <a:rPr lang="en-US" altLang="ko-KR" sz="2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this</a:t>
            </a:r>
            <a:r>
              <a:rPr lang="en-US" altLang="ko-KR" sz="2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objective?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F0AD567-8F0B-4429-AA2D-CBEAE46BF87E}"/>
                  </a:ext>
                </a:extLst>
              </p:cNvPr>
              <p:cNvSpPr/>
              <p:nvPr/>
            </p:nvSpPr>
            <p:spPr>
              <a:xfrm>
                <a:off x="1104892" y="3770773"/>
                <a:ext cx="10576568" cy="712054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80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ko-KR" altLang="en-US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ko-KR" altLang="en-US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(1−</m:t>
                        </m:r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8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US" altLang="ko-KR" sz="1801" dirty="0">
                    <a:noFill/>
                    <a:ea typeface="Cambria Math" panose="02040503050406030204" pitchFamily="18" charset="0"/>
                  </a:rPr>
                  <a:t>.</a:t>
                </a:r>
                <a:endParaRPr lang="en-US" altLang="ko-KR" sz="1801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FCC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F0AD567-8F0B-4429-AA2D-CBEAE46BF8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92" y="3770773"/>
                <a:ext cx="10576568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9881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/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5F0EC4D3-5806-47DB-83C6-A7A7C9798811}"/>
              </a:ext>
            </a:extLst>
          </p:cNvPr>
          <p:cNvSpPr/>
          <p:nvPr/>
        </p:nvSpPr>
        <p:spPr>
          <a:xfrm rot="16200000">
            <a:off x="2705735" y="479945"/>
            <a:ext cx="65487" cy="2196000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7B0B19-278E-43EC-A1B5-7D6A18E49F25}"/>
              </a:ext>
            </a:extLst>
          </p:cNvPr>
          <p:cNvSpPr txBox="1"/>
          <p:nvPr/>
        </p:nvSpPr>
        <p:spPr>
          <a:xfrm>
            <a:off x="1006022" y="1675328"/>
            <a:ext cx="3464898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Total variation divergence is intractable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7196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/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assumption: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5F0EC4D3-5806-47DB-83C6-A7A7C9798811}"/>
              </a:ext>
            </a:extLst>
          </p:cNvPr>
          <p:cNvSpPr/>
          <p:nvPr/>
        </p:nvSpPr>
        <p:spPr>
          <a:xfrm rot="16200000">
            <a:off x="2705735" y="479945"/>
            <a:ext cx="65487" cy="2196000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7B0B19-278E-43EC-A1B5-7D6A18E49F25}"/>
              </a:ext>
            </a:extLst>
          </p:cNvPr>
          <p:cNvSpPr txBox="1"/>
          <p:nvPr/>
        </p:nvSpPr>
        <p:spPr>
          <a:xfrm>
            <a:off x="1006022" y="1675328"/>
            <a:ext cx="3464898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Total variation divergence is intractable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B54678-8712-477B-92C0-03BC27BCE9EF}"/>
                  </a:ext>
                </a:extLst>
              </p:cNvPr>
              <p:cNvSpPr txBox="1"/>
              <p:nvPr/>
            </p:nvSpPr>
            <p:spPr>
              <a:xfrm>
                <a:off x="227014" y="2087002"/>
                <a:ext cx="9358946" cy="6562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convenient constraint: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180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𝐾𝐿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ko-KR" altLang="en-US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B54678-8712-477B-92C0-03BC27BCE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4" y="2087002"/>
                <a:ext cx="9358946" cy="656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008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/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constraint:</a:t>
                </a:r>
                <a14:m>
                  <m:oMath xmlns:m="http://schemas.openxmlformats.org/officeDocument/2006/math"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6771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2AA47AB-B54E-4FB1-86C5-AE977D1B3429}"/>
                  </a:ext>
                </a:extLst>
              </p:cNvPr>
              <p:cNvSpPr/>
              <p:nvPr/>
            </p:nvSpPr>
            <p:spPr>
              <a:xfrm>
                <a:off x="227014" y="1628519"/>
                <a:ext cx="7983981" cy="7090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objective: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r>
                              <a:rPr lang="ko-KR" altLang="en-US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</m:e>
                        </m:nary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ko-KR" altLang="en-US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2AA47AB-B54E-4FB1-86C5-AE977D1B34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4" y="1628519"/>
                <a:ext cx="7983981" cy="709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/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constraint:</a:t>
                </a:r>
                <a14:m>
                  <m:oMath xmlns:m="http://schemas.openxmlformats.org/officeDocument/2006/math"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07165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2AA47AB-B54E-4FB1-86C5-AE977D1B3429}"/>
                  </a:ext>
                </a:extLst>
              </p:cNvPr>
              <p:cNvSpPr/>
              <p:nvPr/>
            </p:nvSpPr>
            <p:spPr>
              <a:xfrm>
                <a:off x="227014" y="1628519"/>
                <a:ext cx="7983981" cy="7090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objective: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r>
                              <a:rPr lang="ko-KR" altLang="en-US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</m:e>
                        </m:nary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ko-KR" altLang="en-US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2AA47AB-B54E-4FB1-86C5-AE977D1B34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4" y="1628519"/>
                <a:ext cx="7983981" cy="709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/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constraint:</a:t>
                </a:r>
                <a14:m>
                  <m:oMath xmlns:m="http://schemas.openxmlformats.org/officeDocument/2006/math"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왼쪽 대괄호 6">
            <a:extLst>
              <a:ext uri="{FF2B5EF4-FFF2-40B4-BE49-F238E27FC236}">
                <a16:creationId xmlns:a16="http://schemas.microsoft.com/office/drawing/2014/main" id="{DE09F924-EF50-4B23-8786-5956FD893C8F}"/>
              </a:ext>
            </a:extLst>
          </p:cNvPr>
          <p:cNvSpPr/>
          <p:nvPr/>
        </p:nvSpPr>
        <p:spPr>
          <a:xfrm rot="16200000">
            <a:off x="5374395" y="-190557"/>
            <a:ext cx="65487" cy="5076000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7BA386-01A5-4204-A533-629258ADD52C}"/>
                  </a:ext>
                </a:extLst>
              </p:cNvPr>
              <p:cNvSpPr txBox="1"/>
              <p:nvPr/>
            </p:nvSpPr>
            <p:spPr>
              <a:xfrm>
                <a:off x="4834042" y="2405698"/>
                <a:ext cx="1146191" cy="36933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ko-KR" i="1" smtClean="0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altLang="ko-KR" b="0" i="1" smtClean="0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ko-KR" b="0" i="1" smtClean="0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7BA386-01A5-4204-A533-629258ADD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042" y="2405698"/>
                <a:ext cx="114619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4FE53D8F-30FB-4C89-854D-2C9DC1D38509}"/>
              </a:ext>
            </a:extLst>
          </p:cNvPr>
          <p:cNvSpPr txBox="1"/>
          <p:nvPr/>
        </p:nvSpPr>
        <p:spPr>
          <a:xfrm>
            <a:off x="5288462" y="2450420"/>
            <a:ext cx="3464898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Different from original RL objective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63949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2AA47AB-B54E-4FB1-86C5-AE977D1B3429}"/>
                  </a:ext>
                </a:extLst>
              </p:cNvPr>
              <p:cNvSpPr/>
              <p:nvPr/>
            </p:nvSpPr>
            <p:spPr>
              <a:xfrm>
                <a:off x="227014" y="1628519"/>
                <a:ext cx="7983981" cy="7090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objective: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r>
                              <a:rPr lang="ko-KR" altLang="en-US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</m:e>
                        </m:nary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ko-KR" altLang="en-US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2AA47AB-B54E-4FB1-86C5-AE977D1B34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4" y="1628519"/>
                <a:ext cx="7983981" cy="709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/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constraint:</a:t>
                </a:r>
                <a14:m>
                  <m:oMath xmlns:m="http://schemas.openxmlformats.org/officeDocument/2006/math"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왼쪽 대괄호 6">
            <a:extLst>
              <a:ext uri="{FF2B5EF4-FFF2-40B4-BE49-F238E27FC236}">
                <a16:creationId xmlns:a16="http://schemas.microsoft.com/office/drawing/2014/main" id="{DE09F924-EF50-4B23-8786-5956FD893C8F}"/>
              </a:ext>
            </a:extLst>
          </p:cNvPr>
          <p:cNvSpPr/>
          <p:nvPr/>
        </p:nvSpPr>
        <p:spPr>
          <a:xfrm rot="16200000">
            <a:off x="5374395" y="-190557"/>
            <a:ext cx="65487" cy="5076000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3D2BD5-F5E7-4C5D-9895-3512E767595C}"/>
              </a:ext>
            </a:extLst>
          </p:cNvPr>
          <p:cNvSpPr txBox="1"/>
          <p:nvPr/>
        </p:nvSpPr>
        <p:spPr>
          <a:xfrm>
            <a:off x="227018" y="3066367"/>
            <a:ext cx="6440487" cy="369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801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Unconstrained</a:t>
            </a:r>
            <a:r>
              <a:rPr lang="en-US" altLang="ko-KR" sz="18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 objective with Lagrange multiplier</a:t>
            </a:r>
            <a:endParaRPr lang="ko-KR" altLang="en-US" sz="18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BD1473D-F26E-41D3-A62A-8D7B4D67A503}"/>
                  </a:ext>
                </a:extLst>
              </p:cNvPr>
              <p:cNvSpPr/>
              <p:nvPr/>
            </p:nvSpPr>
            <p:spPr>
              <a:xfrm>
                <a:off x="759824" y="3567957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BD1473D-F26E-41D3-A62A-8D7B4D67A5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24" y="3567957"/>
                <a:ext cx="6121041" cy="463973"/>
              </a:xfrm>
              <a:prstGeom prst="rect">
                <a:avLst/>
              </a:prstGeom>
              <a:blipFill>
                <a:blip r:embed="rId4"/>
                <a:stretch>
                  <a:fillRect t="-65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480CFC-9B2A-4CCB-8B4B-49A52B10EEA2}"/>
                  </a:ext>
                </a:extLst>
              </p:cNvPr>
              <p:cNvSpPr txBox="1"/>
              <p:nvPr/>
            </p:nvSpPr>
            <p:spPr>
              <a:xfrm>
                <a:off x="4834042" y="2405698"/>
                <a:ext cx="1146191" cy="37548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ko-KR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altLang="ko-KR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ko-KR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480CFC-9B2A-4CCB-8B4B-49A52B10E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042" y="2405698"/>
                <a:ext cx="1146191" cy="3754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FF036FA-5599-4BFA-A7DA-76A3292EF78C}"/>
              </a:ext>
            </a:extLst>
          </p:cNvPr>
          <p:cNvSpPr txBox="1"/>
          <p:nvPr/>
        </p:nvSpPr>
        <p:spPr>
          <a:xfrm>
            <a:off x="5288462" y="2450420"/>
            <a:ext cx="3464898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Different from original RL objective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71121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7C18468-68D4-4CA6-AE10-AEC4334F678B}"/>
              </a:ext>
            </a:extLst>
          </p:cNvPr>
          <p:cNvSpPr/>
          <p:nvPr/>
        </p:nvSpPr>
        <p:spPr>
          <a:xfrm>
            <a:off x="3524253" y="3560320"/>
            <a:ext cx="149733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69E9866-1981-48D8-B7A0-CC32CB76A870}"/>
              </a:ext>
            </a:extLst>
          </p:cNvPr>
          <p:cNvSpPr/>
          <p:nvPr/>
        </p:nvSpPr>
        <p:spPr>
          <a:xfrm>
            <a:off x="2133604" y="3560320"/>
            <a:ext cx="952500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AEDDBE-FFCC-47EF-9BA5-171394826978}"/>
              </a:ext>
            </a:extLst>
          </p:cNvPr>
          <p:cNvSpPr txBox="1"/>
          <p:nvPr/>
        </p:nvSpPr>
        <p:spPr>
          <a:xfrm>
            <a:off x="957812" y="4040207"/>
            <a:ext cx="2398005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0F4C81"/>
                </a:solidFill>
                <a:latin typeface="Cambria Math" panose="02040503050406030204" pitchFamily="18" charset="0"/>
                <a:ea typeface="나눔스퀘어 Bold" panose="020B0600000101010101" pitchFamily="50" charset="-127"/>
              </a:rPr>
              <a:t>First-order Taylor expansion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0F4C81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87B6EA-B3D8-452E-9F23-94073A60E2AF}"/>
              </a:ext>
            </a:extLst>
          </p:cNvPr>
          <p:cNvSpPr txBox="1"/>
          <p:nvPr/>
        </p:nvSpPr>
        <p:spPr>
          <a:xfrm>
            <a:off x="3304461" y="4064794"/>
            <a:ext cx="4151799" cy="5234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F76B5B"/>
                </a:solidFill>
                <a:latin typeface="Cambria Math" panose="02040503050406030204" pitchFamily="18" charset="0"/>
                <a:ea typeface="나눔스퀘어 Bold" panose="020B0600000101010101" pitchFamily="50" charset="-127"/>
              </a:rPr>
              <a:t>Second-order Taylor expansion </a:t>
            </a:r>
          </a:p>
          <a:p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F76B5B"/>
                </a:solidFill>
                <a:latin typeface="Cambria Math" panose="02040503050406030204" pitchFamily="18" charset="0"/>
                <a:ea typeface="나눔스퀘어 Bold" panose="020B0600000101010101" pitchFamily="50" charset="-127"/>
              </a:rPr>
              <a:t>(First-order Taylor expansion for KL-divergence is 0)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F76B5B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2AA47AB-B54E-4FB1-86C5-AE977D1B3429}"/>
                  </a:ext>
                </a:extLst>
              </p:cNvPr>
              <p:cNvSpPr/>
              <p:nvPr/>
            </p:nvSpPr>
            <p:spPr>
              <a:xfrm>
                <a:off x="227014" y="1628519"/>
                <a:ext cx="7983981" cy="7090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objective: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r>
                              <a:rPr lang="ko-KR" altLang="en-US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</m:e>
                        </m:nary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ko-KR" altLang="en-US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2AA47AB-B54E-4FB1-86C5-AE977D1B34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4" y="1628519"/>
                <a:ext cx="7983981" cy="709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/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801" b="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constraint:</a:t>
                </a:r>
                <a14:m>
                  <m:oMath xmlns:m="http://schemas.openxmlformats.org/officeDocument/2006/math">
                    <m:r>
                      <a:rPr lang="en-US" altLang="ko-KR" sz="1801" b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ko-KR" altLang="en-US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ko-KR" altLang="en-US" sz="18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536BB5-8F8A-47CC-99A4-B72D9608C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8" y="1187842"/>
                <a:ext cx="4285839" cy="3725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왼쪽 대괄호 6">
            <a:extLst>
              <a:ext uri="{FF2B5EF4-FFF2-40B4-BE49-F238E27FC236}">
                <a16:creationId xmlns:a16="http://schemas.microsoft.com/office/drawing/2014/main" id="{DE09F924-EF50-4B23-8786-5956FD893C8F}"/>
              </a:ext>
            </a:extLst>
          </p:cNvPr>
          <p:cNvSpPr/>
          <p:nvPr/>
        </p:nvSpPr>
        <p:spPr>
          <a:xfrm rot="16200000">
            <a:off x="5374395" y="-190557"/>
            <a:ext cx="65487" cy="5076000"/>
          </a:xfrm>
          <a:prstGeom prst="leftBracket">
            <a:avLst>
              <a:gd name="adj" fmla="val 1754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3D2BD5-F5E7-4C5D-9895-3512E767595C}"/>
              </a:ext>
            </a:extLst>
          </p:cNvPr>
          <p:cNvSpPr txBox="1"/>
          <p:nvPr/>
        </p:nvSpPr>
        <p:spPr>
          <a:xfrm>
            <a:off x="227018" y="3066367"/>
            <a:ext cx="6440487" cy="369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801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Unconstrained</a:t>
            </a:r>
            <a:r>
              <a:rPr lang="en-US" altLang="ko-KR" sz="18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 objective with Lagrange multiplier</a:t>
            </a:r>
            <a:endParaRPr lang="ko-KR" altLang="en-US" sz="18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BD1473D-F26E-41D3-A62A-8D7B4D67A503}"/>
                  </a:ext>
                </a:extLst>
              </p:cNvPr>
              <p:cNvSpPr/>
              <p:nvPr/>
            </p:nvSpPr>
            <p:spPr>
              <a:xfrm>
                <a:off x="759824" y="3567957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BD1473D-F26E-41D3-A62A-8D7B4D67A5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24" y="3567957"/>
                <a:ext cx="6121041" cy="463973"/>
              </a:xfrm>
              <a:prstGeom prst="rect">
                <a:avLst/>
              </a:prstGeom>
              <a:blipFill>
                <a:blip r:embed="rId4"/>
                <a:stretch>
                  <a:fillRect t="-65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480CFC-9B2A-4CCB-8B4B-49A52B10EEA2}"/>
                  </a:ext>
                </a:extLst>
              </p:cNvPr>
              <p:cNvSpPr txBox="1"/>
              <p:nvPr/>
            </p:nvSpPr>
            <p:spPr>
              <a:xfrm>
                <a:off x="4834042" y="2405698"/>
                <a:ext cx="1146191" cy="37548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ko-KR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n>
                                <a:solidFill>
                                  <a:prstClr val="black">
                                    <a:lumMod val="75000"/>
                                    <a:lumOff val="25000"/>
                                    <a:alpha val="30000"/>
                                  </a:prstClr>
                                </a:solidFill>
                              </a:ln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altLang="ko-KR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ko-KR" i="1">
                          <a:ln>
                            <a:solidFill>
                              <a:prstClr val="black">
                                <a:lumMod val="75000"/>
                                <a:lumOff val="25000"/>
                                <a:alpha val="3000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480CFC-9B2A-4CCB-8B4B-49A52B10E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042" y="2405698"/>
                <a:ext cx="1146191" cy="3754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FF036FA-5599-4BFA-A7DA-76A3292EF78C}"/>
              </a:ext>
            </a:extLst>
          </p:cNvPr>
          <p:cNvSpPr txBox="1"/>
          <p:nvPr/>
        </p:nvSpPr>
        <p:spPr>
          <a:xfrm>
            <a:off x="5288462" y="2450420"/>
            <a:ext cx="3464898" cy="30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40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Different from original RL objective</a:t>
            </a:r>
            <a:endParaRPr lang="ko-KR" altLang="en-US" sz="140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96048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FE957B3-4279-4B31-AC38-7274F447F6AB}"/>
              </a:ext>
            </a:extLst>
          </p:cNvPr>
          <p:cNvSpPr/>
          <p:nvPr/>
        </p:nvSpPr>
        <p:spPr>
          <a:xfrm>
            <a:off x="1623064" y="1187839"/>
            <a:ext cx="952500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  <a:blipFill>
                <a:blip r:embed="rId2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396C9-5ABD-4AEA-AA9E-7FA9608B5A1D}"/>
                  </a:ext>
                </a:extLst>
              </p:cNvPr>
              <p:cNvSpPr txBox="1"/>
              <p:nvPr/>
            </p:nvSpPr>
            <p:spPr>
              <a:xfrm>
                <a:off x="583509" y="1675709"/>
                <a:ext cx="3031609" cy="3079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0F4C8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First-order Taylor expansion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4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𝑜𝑙𝑑</m:t>
                        </m:r>
                      </m:sub>
                    </m:sSub>
                  </m:oMath>
                </a14:m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0F4C81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396C9-5ABD-4AEA-AA9E-7FA9608B5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09" y="1675709"/>
                <a:ext cx="3031609" cy="3079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6931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4097BA5-6C72-4442-B0AF-9C55BB585016}"/>
              </a:ext>
            </a:extLst>
          </p:cNvPr>
          <p:cNvSpPr/>
          <p:nvPr/>
        </p:nvSpPr>
        <p:spPr>
          <a:xfrm>
            <a:off x="241664" y="2338463"/>
            <a:ext cx="952500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FE957B3-4279-4B31-AC38-7274F447F6AB}"/>
              </a:ext>
            </a:extLst>
          </p:cNvPr>
          <p:cNvSpPr/>
          <p:nvPr/>
        </p:nvSpPr>
        <p:spPr>
          <a:xfrm>
            <a:off x="1623064" y="1187839"/>
            <a:ext cx="952500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  <a:blipFill>
                <a:blip r:embed="rId2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396C9-5ABD-4AEA-AA9E-7FA9608B5A1D}"/>
                  </a:ext>
                </a:extLst>
              </p:cNvPr>
              <p:cNvSpPr txBox="1"/>
              <p:nvPr/>
            </p:nvSpPr>
            <p:spPr>
              <a:xfrm>
                <a:off x="583509" y="1675709"/>
                <a:ext cx="3031609" cy="3079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0F4C8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First-order Taylor expansion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4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𝑜𝑙𝑑</m:t>
                        </m:r>
                      </m:sub>
                    </m:sSub>
                  </m:oMath>
                </a14:m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0F4C81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396C9-5ABD-4AEA-AA9E-7FA9608B5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09" y="1675709"/>
                <a:ext cx="3031609" cy="3079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7D5E109-8636-4FEF-A061-3A4B45D094D7}"/>
                  </a:ext>
                </a:extLst>
              </p:cNvPr>
              <p:cNvSpPr/>
              <p:nvPr/>
            </p:nvSpPr>
            <p:spPr>
              <a:xfrm>
                <a:off x="241664" y="2353703"/>
                <a:ext cx="6121041" cy="400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s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7D5E109-8636-4FEF-A061-3A4B45D09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353703"/>
                <a:ext cx="6121041" cy="400815"/>
              </a:xfrm>
              <a:prstGeom prst="rect">
                <a:avLst/>
              </a:prstGeom>
              <a:blipFill>
                <a:blip r:embed="rId4"/>
                <a:stretch>
                  <a:fillRect t="-7576" b="-15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87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CA75BA8-C6EA-428E-ADDA-CE63C272C951}"/>
              </a:ext>
            </a:extLst>
          </p:cNvPr>
          <p:cNvSpPr/>
          <p:nvPr/>
        </p:nvSpPr>
        <p:spPr>
          <a:xfrm>
            <a:off x="241664" y="3211411"/>
            <a:ext cx="1480456" cy="435177"/>
          </a:xfrm>
          <a:prstGeom prst="roundRect">
            <a:avLst/>
          </a:prstGeom>
          <a:solidFill>
            <a:srgbClr val="8489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8DEA5E0-0507-42C1-A326-FD64FEA80E07}"/>
              </a:ext>
            </a:extLst>
          </p:cNvPr>
          <p:cNvSpPr/>
          <p:nvPr/>
        </p:nvSpPr>
        <p:spPr>
          <a:xfrm>
            <a:off x="2380164" y="2336002"/>
            <a:ext cx="1406976" cy="435177"/>
          </a:xfrm>
          <a:prstGeom prst="roundRect">
            <a:avLst/>
          </a:prstGeom>
          <a:solidFill>
            <a:srgbClr val="8489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4097BA5-6C72-4442-B0AF-9C55BB585016}"/>
              </a:ext>
            </a:extLst>
          </p:cNvPr>
          <p:cNvSpPr/>
          <p:nvPr/>
        </p:nvSpPr>
        <p:spPr>
          <a:xfrm>
            <a:off x="241664" y="2338463"/>
            <a:ext cx="952500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FE957B3-4279-4B31-AC38-7274F447F6AB}"/>
              </a:ext>
            </a:extLst>
          </p:cNvPr>
          <p:cNvSpPr/>
          <p:nvPr/>
        </p:nvSpPr>
        <p:spPr>
          <a:xfrm>
            <a:off x="1623064" y="1187839"/>
            <a:ext cx="952500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  <a:blipFill>
                <a:blip r:embed="rId2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396C9-5ABD-4AEA-AA9E-7FA9608B5A1D}"/>
                  </a:ext>
                </a:extLst>
              </p:cNvPr>
              <p:cNvSpPr txBox="1"/>
              <p:nvPr/>
            </p:nvSpPr>
            <p:spPr>
              <a:xfrm>
                <a:off x="583509" y="1675709"/>
                <a:ext cx="3031609" cy="3079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0F4C8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First-order Taylor expansion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4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𝑜𝑙𝑑</m:t>
                        </m:r>
                      </m:sub>
                    </m:sSub>
                  </m:oMath>
                </a14:m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0F4C81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396C9-5ABD-4AEA-AA9E-7FA9608B5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09" y="1675709"/>
                <a:ext cx="3031609" cy="3079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7D5E109-8636-4FEF-A061-3A4B45D094D7}"/>
                  </a:ext>
                </a:extLst>
              </p:cNvPr>
              <p:cNvSpPr/>
              <p:nvPr/>
            </p:nvSpPr>
            <p:spPr>
              <a:xfrm>
                <a:off x="241664" y="2353703"/>
                <a:ext cx="6121041" cy="400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s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7D5E109-8636-4FEF-A061-3A4B45D09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353703"/>
                <a:ext cx="6121041" cy="400815"/>
              </a:xfrm>
              <a:prstGeom prst="rect">
                <a:avLst/>
              </a:prstGeom>
              <a:blipFill>
                <a:blip r:embed="rId4"/>
                <a:stretch>
                  <a:fillRect t="-7576" b="-15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846D227-EEAE-4A5A-92AB-E505E5C9C8F7}"/>
                  </a:ext>
                </a:extLst>
              </p:cNvPr>
              <p:cNvSpPr/>
              <p:nvPr/>
            </p:nvSpPr>
            <p:spPr>
              <a:xfrm>
                <a:off x="241664" y="3033507"/>
                <a:ext cx="9420496" cy="7150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</m:e>
                        </m:nary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𝑜𝑙𝑑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𝑜𝑙𝑑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 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846D227-EEAE-4A5A-92AB-E505E5C9C8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3033507"/>
                <a:ext cx="9420496" cy="7150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5241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CA75BA8-C6EA-428E-ADDA-CE63C272C951}"/>
              </a:ext>
            </a:extLst>
          </p:cNvPr>
          <p:cNvSpPr/>
          <p:nvPr/>
        </p:nvSpPr>
        <p:spPr>
          <a:xfrm>
            <a:off x="241664" y="3211411"/>
            <a:ext cx="1480456" cy="435177"/>
          </a:xfrm>
          <a:prstGeom prst="roundRect">
            <a:avLst/>
          </a:prstGeom>
          <a:solidFill>
            <a:srgbClr val="8489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8DEA5E0-0507-42C1-A326-FD64FEA80E07}"/>
              </a:ext>
            </a:extLst>
          </p:cNvPr>
          <p:cNvSpPr/>
          <p:nvPr/>
        </p:nvSpPr>
        <p:spPr>
          <a:xfrm>
            <a:off x="2380164" y="2336002"/>
            <a:ext cx="1406976" cy="435177"/>
          </a:xfrm>
          <a:prstGeom prst="roundRect">
            <a:avLst/>
          </a:prstGeom>
          <a:solidFill>
            <a:srgbClr val="8489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4097BA5-6C72-4442-B0AF-9C55BB585016}"/>
              </a:ext>
            </a:extLst>
          </p:cNvPr>
          <p:cNvSpPr/>
          <p:nvPr/>
        </p:nvSpPr>
        <p:spPr>
          <a:xfrm>
            <a:off x="241664" y="2338463"/>
            <a:ext cx="952500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FE957B3-4279-4B31-AC38-7274F447F6AB}"/>
              </a:ext>
            </a:extLst>
          </p:cNvPr>
          <p:cNvSpPr/>
          <p:nvPr/>
        </p:nvSpPr>
        <p:spPr>
          <a:xfrm>
            <a:off x="1623064" y="1187839"/>
            <a:ext cx="952500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  <a:blipFill>
                <a:blip r:embed="rId2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396C9-5ABD-4AEA-AA9E-7FA9608B5A1D}"/>
                  </a:ext>
                </a:extLst>
              </p:cNvPr>
              <p:cNvSpPr txBox="1"/>
              <p:nvPr/>
            </p:nvSpPr>
            <p:spPr>
              <a:xfrm>
                <a:off x="583509" y="1675709"/>
                <a:ext cx="3031609" cy="3079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0F4C8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First-order Taylor expansion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4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𝑜𝑙𝑑</m:t>
                        </m:r>
                      </m:sub>
                    </m:sSub>
                  </m:oMath>
                </a14:m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0F4C81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396C9-5ABD-4AEA-AA9E-7FA9608B5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09" y="1675709"/>
                <a:ext cx="3031609" cy="3079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7D5E109-8636-4FEF-A061-3A4B45D094D7}"/>
                  </a:ext>
                </a:extLst>
              </p:cNvPr>
              <p:cNvSpPr/>
              <p:nvPr/>
            </p:nvSpPr>
            <p:spPr>
              <a:xfrm>
                <a:off x="241664" y="2353703"/>
                <a:ext cx="6121041" cy="400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s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7D5E109-8636-4FEF-A061-3A4B45D09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353703"/>
                <a:ext cx="6121041" cy="400815"/>
              </a:xfrm>
              <a:prstGeom prst="rect">
                <a:avLst/>
              </a:prstGeom>
              <a:blipFill>
                <a:blip r:embed="rId4"/>
                <a:stretch>
                  <a:fillRect t="-7576" b="-15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846D227-EEAE-4A5A-92AB-E505E5C9C8F7}"/>
                  </a:ext>
                </a:extLst>
              </p:cNvPr>
              <p:cNvSpPr/>
              <p:nvPr/>
            </p:nvSpPr>
            <p:spPr>
              <a:xfrm>
                <a:off x="241664" y="3033507"/>
                <a:ext cx="9420496" cy="7150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</m:e>
                        </m:nary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𝑜𝑙𝑑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𝑜𝑙𝑑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 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846D227-EEAE-4A5A-92AB-E505E5C9C8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3033507"/>
                <a:ext cx="9420496" cy="7150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524762F-1FC2-45EE-BB6B-897B12FE97DF}"/>
              </a:ext>
            </a:extLst>
          </p:cNvPr>
          <p:cNvCxnSpPr>
            <a:cxnSpLocks/>
          </p:cNvCxnSpPr>
          <p:nvPr/>
        </p:nvCxnSpPr>
        <p:spPr>
          <a:xfrm>
            <a:off x="6035040" y="2998843"/>
            <a:ext cx="998220" cy="784331"/>
          </a:xfrm>
          <a:prstGeom prst="line">
            <a:avLst/>
          </a:prstGeom>
          <a:ln w="19050">
            <a:solidFill>
              <a:srgbClr val="F76B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8977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CA75BA8-C6EA-428E-ADDA-CE63C272C951}"/>
              </a:ext>
            </a:extLst>
          </p:cNvPr>
          <p:cNvSpPr/>
          <p:nvPr/>
        </p:nvSpPr>
        <p:spPr>
          <a:xfrm>
            <a:off x="241664" y="3211411"/>
            <a:ext cx="1480456" cy="435177"/>
          </a:xfrm>
          <a:prstGeom prst="roundRect">
            <a:avLst/>
          </a:prstGeom>
          <a:solidFill>
            <a:srgbClr val="8489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8DEA5E0-0507-42C1-A326-FD64FEA80E07}"/>
              </a:ext>
            </a:extLst>
          </p:cNvPr>
          <p:cNvSpPr/>
          <p:nvPr/>
        </p:nvSpPr>
        <p:spPr>
          <a:xfrm>
            <a:off x="2380164" y="2336002"/>
            <a:ext cx="1406976" cy="435177"/>
          </a:xfrm>
          <a:prstGeom prst="roundRect">
            <a:avLst/>
          </a:prstGeom>
          <a:solidFill>
            <a:srgbClr val="8489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4097BA5-6C72-4442-B0AF-9C55BB585016}"/>
              </a:ext>
            </a:extLst>
          </p:cNvPr>
          <p:cNvSpPr/>
          <p:nvPr/>
        </p:nvSpPr>
        <p:spPr>
          <a:xfrm>
            <a:off x="241664" y="2338463"/>
            <a:ext cx="952500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FE957B3-4279-4B31-AC38-7274F447F6AB}"/>
              </a:ext>
            </a:extLst>
          </p:cNvPr>
          <p:cNvSpPr/>
          <p:nvPr/>
        </p:nvSpPr>
        <p:spPr>
          <a:xfrm>
            <a:off x="1623064" y="1187839"/>
            <a:ext cx="952500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  <a:blipFill>
                <a:blip r:embed="rId2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396C9-5ABD-4AEA-AA9E-7FA9608B5A1D}"/>
                  </a:ext>
                </a:extLst>
              </p:cNvPr>
              <p:cNvSpPr txBox="1"/>
              <p:nvPr/>
            </p:nvSpPr>
            <p:spPr>
              <a:xfrm>
                <a:off x="583509" y="1675709"/>
                <a:ext cx="3031609" cy="3079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0F4C8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First-order Taylor expansion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4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𝑜𝑙𝑑</m:t>
                        </m:r>
                      </m:sub>
                    </m:sSub>
                  </m:oMath>
                </a14:m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0F4C81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396C9-5ABD-4AEA-AA9E-7FA9608B5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09" y="1675709"/>
                <a:ext cx="3031609" cy="3079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7D5E109-8636-4FEF-A061-3A4B45D094D7}"/>
                  </a:ext>
                </a:extLst>
              </p:cNvPr>
              <p:cNvSpPr/>
              <p:nvPr/>
            </p:nvSpPr>
            <p:spPr>
              <a:xfrm>
                <a:off x="241664" y="2353703"/>
                <a:ext cx="6121041" cy="400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s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7D5E109-8636-4FEF-A061-3A4B45D09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353703"/>
                <a:ext cx="6121041" cy="400815"/>
              </a:xfrm>
              <a:prstGeom prst="rect">
                <a:avLst/>
              </a:prstGeom>
              <a:blipFill>
                <a:blip r:embed="rId4"/>
                <a:stretch>
                  <a:fillRect t="-7576" b="-15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846D227-EEAE-4A5A-92AB-E505E5C9C8F7}"/>
                  </a:ext>
                </a:extLst>
              </p:cNvPr>
              <p:cNvSpPr/>
              <p:nvPr/>
            </p:nvSpPr>
            <p:spPr>
              <a:xfrm>
                <a:off x="241664" y="3033507"/>
                <a:ext cx="9420496" cy="7150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</m:e>
                        </m:nary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𝑜𝑙𝑑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𝑜𝑙𝑑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 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846D227-EEAE-4A5A-92AB-E505E5C9C8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3033507"/>
                <a:ext cx="9420496" cy="7150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2966C72-C702-4FAA-BB29-9F3C39016CA1}"/>
                  </a:ext>
                </a:extLst>
              </p:cNvPr>
              <p:cNvSpPr/>
              <p:nvPr/>
            </p:nvSpPr>
            <p:spPr>
              <a:xfrm>
                <a:off x="1699260" y="4008378"/>
                <a:ext cx="7940040" cy="400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sz="1801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2966C72-C702-4FAA-BB29-9F3C39016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260" y="4008378"/>
                <a:ext cx="7940040" cy="4008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D51F74D-A1C1-43BE-9351-592AEDDFDD67}"/>
              </a:ext>
            </a:extLst>
          </p:cNvPr>
          <p:cNvCxnSpPr>
            <a:cxnSpLocks/>
          </p:cNvCxnSpPr>
          <p:nvPr/>
        </p:nvCxnSpPr>
        <p:spPr>
          <a:xfrm>
            <a:off x="6035040" y="2998843"/>
            <a:ext cx="998220" cy="784331"/>
          </a:xfrm>
          <a:prstGeom prst="line">
            <a:avLst/>
          </a:prstGeom>
          <a:ln w="19050">
            <a:solidFill>
              <a:srgbClr val="F76B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8522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CA75BA8-C6EA-428E-ADDA-CE63C272C951}"/>
              </a:ext>
            </a:extLst>
          </p:cNvPr>
          <p:cNvSpPr/>
          <p:nvPr/>
        </p:nvSpPr>
        <p:spPr>
          <a:xfrm>
            <a:off x="241664" y="3211411"/>
            <a:ext cx="1480456" cy="435177"/>
          </a:xfrm>
          <a:prstGeom prst="roundRect">
            <a:avLst/>
          </a:prstGeom>
          <a:solidFill>
            <a:srgbClr val="8489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8DEA5E0-0507-42C1-A326-FD64FEA80E07}"/>
              </a:ext>
            </a:extLst>
          </p:cNvPr>
          <p:cNvSpPr/>
          <p:nvPr/>
        </p:nvSpPr>
        <p:spPr>
          <a:xfrm>
            <a:off x="2380164" y="2336002"/>
            <a:ext cx="1406976" cy="435177"/>
          </a:xfrm>
          <a:prstGeom prst="roundRect">
            <a:avLst/>
          </a:prstGeom>
          <a:solidFill>
            <a:srgbClr val="8489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4097BA5-6C72-4442-B0AF-9C55BB585016}"/>
              </a:ext>
            </a:extLst>
          </p:cNvPr>
          <p:cNvSpPr/>
          <p:nvPr/>
        </p:nvSpPr>
        <p:spPr>
          <a:xfrm>
            <a:off x="241664" y="2338463"/>
            <a:ext cx="952500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FE957B3-4279-4B31-AC38-7274F447F6AB}"/>
              </a:ext>
            </a:extLst>
          </p:cNvPr>
          <p:cNvSpPr/>
          <p:nvPr/>
        </p:nvSpPr>
        <p:spPr>
          <a:xfrm>
            <a:off x="1623064" y="1187839"/>
            <a:ext cx="952500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  <a:blipFill>
                <a:blip r:embed="rId2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396C9-5ABD-4AEA-AA9E-7FA9608B5A1D}"/>
                  </a:ext>
                </a:extLst>
              </p:cNvPr>
              <p:cNvSpPr txBox="1"/>
              <p:nvPr/>
            </p:nvSpPr>
            <p:spPr>
              <a:xfrm>
                <a:off x="583509" y="1675709"/>
                <a:ext cx="3031609" cy="3079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0F4C8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First-order Taylor expansion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</m:ctrlPr>
                      </m:sSubPr>
                      <m:e>
                        <m:r>
                          <a:rPr lang="ko-KR" altLang="en-US" sz="14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0F4C81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𝑜𝑙𝑑</m:t>
                        </m:r>
                      </m:sub>
                    </m:sSub>
                  </m:oMath>
                </a14:m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0F4C81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396C9-5ABD-4AEA-AA9E-7FA9608B5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09" y="1675709"/>
                <a:ext cx="3031609" cy="3079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7D5E109-8636-4FEF-A061-3A4B45D094D7}"/>
                  </a:ext>
                </a:extLst>
              </p:cNvPr>
              <p:cNvSpPr/>
              <p:nvPr/>
            </p:nvSpPr>
            <p:spPr>
              <a:xfrm>
                <a:off x="241664" y="2353703"/>
                <a:ext cx="6121041" cy="400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s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7D5E109-8636-4FEF-A061-3A4B45D09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353703"/>
                <a:ext cx="6121041" cy="400815"/>
              </a:xfrm>
              <a:prstGeom prst="rect">
                <a:avLst/>
              </a:prstGeom>
              <a:blipFill>
                <a:blip r:embed="rId4"/>
                <a:stretch>
                  <a:fillRect t="-7576" b="-15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846D227-EEAE-4A5A-92AB-E505E5C9C8F7}"/>
                  </a:ext>
                </a:extLst>
              </p:cNvPr>
              <p:cNvSpPr/>
              <p:nvPr/>
            </p:nvSpPr>
            <p:spPr>
              <a:xfrm>
                <a:off x="241664" y="3033507"/>
                <a:ext cx="9420496" cy="7150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</m:e>
                        </m:nary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~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𝑜𝑙𝑑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ko-KR" altLang="en-US" sz="1801" i="1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801" b="0" i="1" smtClean="0">
                                                <a:ln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  <a:alpha val="30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𝑜𝑙𝑑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 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846D227-EEAE-4A5A-92AB-E505E5C9C8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3033507"/>
                <a:ext cx="9420496" cy="7150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2966C72-C702-4FAA-BB29-9F3C39016CA1}"/>
                  </a:ext>
                </a:extLst>
              </p:cNvPr>
              <p:cNvSpPr/>
              <p:nvPr/>
            </p:nvSpPr>
            <p:spPr>
              <a:xfrm>
                <a:off x="1699260" y="4008378"/>
                <a:ext cx="7940040" cy="400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</m:oMath>
                </a14:m>
                <a:r>
                  <a:rPr lang="ko-KR" altLang="en-US" sz="1801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2966C72-C702-4FAA-BB29-9F3C39016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260" y="4008378"/>
                <a:ext cx="7940040" cy="4008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8766760-A558-4BE2-9D53-DD7238E69C51}"/>
              </a:ext>
            </a:extLst>
          </p:cNvPr>
          <p:cNvSpPr txBox="1"/>
          <p:nvPr/>
        </p:nvSpPr>
        <p:spPr>
          <a:xfrm>
            <a:off x="898768" y="4677942"/>
            <a:ext cx="411519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Exactly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identical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 to the </a:t>
            </a:r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rgbClr val="658DC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policy gradient! 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D51F74D-A1C1-43BE-9351-592AEDDFDD67}"/>
              </a:ext>
            </a:extLst>
          </p:cNvPr>
          <p:cNvCxnSpPr>
            <a:cxnSpLocks/>
          </p:cNvCxnSpPr>
          <p:nvPr/>
        </p:nvCxnSpPr>
        <p:spPr>
          <a:xfrm>
            <a:off x="6035040" y="2998843"/>
            <a:ext cx="998220" cy="784331"/>
          </a:xfrm>
          <a:prstGeom prst="line">
            <a:avLst/>
          </a:prstGeom>
          <a:ln w="19050">
            <a:solidFill>
              <a:srgbClr val="F76B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432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E771F5F-3DBE-455A-B577-EE1EC79E41EF}"/>
              </a:ext>
            </a:extLst>
          </p:cNvPr>
          <p:cNvSpPr/>
          <p:nvPr/>
        </p:nvSpPr>
        <p:spPr>
          <a:xfrm>
            <a:off x="2998473" y="1157673"/>
            <a:ext cx="149733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59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59806"/>
              </a:xfrm>
              <a:prstGeom prst="rect">
                <a:avLst/>
              </a:prstGeom>
              <a:blipFill>
                <a:blip r:embed="rId2"/>
                <a:stretch>
                  <a:fillRect t="-8000" b="-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0724B3-3FC2-42C2-81BC-F85B9A2EB064}"/>
                  </a:ext>
                </a:extLst>
              </p:cNvPr>
              <p:cNvSpPr txBox="1"/>
              <p:nvPr/>
            </p:nvSpPr>
            <p:spPr>
              <a:xfrm>
                <a:off x="1671238" y="1642583"/>
                <a:ext cx="4151799" cy="5234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Second-order Taylor expansion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</a:t>
                </a:r>
              </a:p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(First-order Taylor expansion for KL-divergence is 0)</a:t>
                </a:r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76B5B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0724B3-3FC2-42C2-81BC-F85B9A2EB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238" y="1642583"/>
                <a:ext cx="4151799" cy="523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5756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18C9D51-462E-468D-8564-FC93F0060912}"/>
              </a:ext>
            </a:extLst>
          </p:cNvPr>
          <p:cNvSpPr/>
          <p:nvPr/>
        </p:nvSpPr>
        <p:spPr>
          <a:xfrm>
            <a:off x="262893" y="2414563"/>
            <a:ext cx="149733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E771F5F-3DBE-455A-B577-EE1EC79E41EF}"/>
              </a:ext>
            </a:extLst>
          </p:cNvPr>
          <p:cNvSpPr/>
          <p:nvPr/>
        </p:nvSpPr>
        <p:spPr>
          <a:xfrm>
            <a:off x="2998473" y="1157673"/>
            <a:ext cx="149733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59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59806"/>
              </a:xfrm>
              <a:prstGeom prst="rect">
                <a:avLst/>
              </a:prstGeom>
              <a:blipFill>
                <a:blip r:embed="rId2"/>
                <a:stretch>
                  <a:fillRect t="-8000" b="-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0724B3-3FC2-42C2-81BC-F85B9A2EB064}"/>
                  </a:ext>
                </a:extLst>
              </p:cNvPr>
              <p:cNvSpPr txBox="1"/>
              <p:nvPr/>
            </p:nvSpPr>
            <p:spPr>
              <a:xfrm>
                <a:off x="1671238" y="1642583"/>
                <a:ext cx="4151799" cy="5234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Second-order Taylor expansion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</a:t>
                </a:r>
              </a:p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(First-order Taylor expansion for KL-divergence is 0)</a:t>
                </a:r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76B5B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0724B3-3FC2-42C2-81BC-F85B9A2EB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238" y="1642583"/>
                <a:ext cx="4151799" cy="523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4625B278-EA0D-4E5D-BA3C-0E06B1F3E307}"/>
                  </a:ext>
                </a:extLst>
              </p:cNvPr>
              <p:cNvSpPr/>
              <p:nvPr/>
            </p:nvSpPr>
            <p:spPr>
              <a:xfrm>
                <a:off x="241664" y="2353703"/>
                <a:ext cx="11112136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≈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𝐾𝐿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altLang="ko-KR" sz="1801" b="0" i="0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𝐾𝐿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s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4625B278-EA0D-4E5D-BA3C-0E06B1F3E3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353703"/>
                <a:ext cx="11112136" cy="483466"/>
              </a:xfrm>
              <a:prstGeom prst="rect">
                <a:avLst/>
              </a:prstGeom>
              <a:blipFill>
                <a:blip r:embed="rId4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1337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18C9D51-462E-468D-8564-FC93F0060912}"/>
              </a:ext>
            </a:extLst>
          </p:cNvPr>
          <p:cNvSpPr/>
          <p:nvPr/>
        </p:nvSpPr>
        <p:spPr>
          <a:xfrm>
            <a:off x="262893" y="2414563"/>
            <a:ext cx="149733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E771F5F-3DBE-455A-B577-EE1EC79E41EF}"/>
              </a:ext>
            </a:extLst>
          </p:cNvPr>
          <p:cNvSpPr/>
          <p:nvPr/>
        </p:nvSpPr>
        <p:spPr>
          <a:xfrm>
            <a:off x="2998473" y="1157673"/>
            <a:ext cx="149733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59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59806"/>
              </a:xfrm>
              <a:prstGeom prst="rect">
                <a:avLst/>
              </a:prstGeom>
              <a:blipFill>
                <a:blip r:embed="rId2"/>
                <a:stretch>
                  <a:fillRect t="-8000" b="-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0724B3-3FC2-42C2-81BC-F85B9A2EB064}"/>
                  </a:ext>
                </a:extLst>
              </p:cNvPr>
              <p:cNvSpPr txBox="1"/>
              <p:nvPr/>
            </p:nvSpPr>
            <p:spPr>
              <a:xfrm>
                <a:off x="1671238" y="1642583"/>
                <a:ext cx="4151799" cy="5234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Second-order Taylor expansion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</a:t>
                </a:r>
              </a:p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(First-order Taylor expansion for KL-divergence is 0)</a:t>
                </a:r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76B5B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0724B3-3FC2-42C2-81BC-F85B9A2EB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238" y="1642583"/>
                <a:ext cx="4151799" cy="523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AD9CC50-6DA9-40AC-B1F2-672C86800F7E}"/>
                  </a:ext>
                </a:extLst>
              </p:cNvPr>
              <p:cNvSpPr/>
              <p:nvPr/>
            </p:nvSpPr>
            <p:spPr>
              <a:xfrm>
                <a:off x="241664" y="3064823"/>
                <a:ext cx="11112136" cy="415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𝑜𝑙𝑑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𝑜𝑙𝑑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80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AD9CC50-6DA9-40AC-B1F2-672C86800F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3064823"/>
                <a:ext cx="11112136" cy="4153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122DBFAE-F083-4731-8405-E07F26BAC27C}"/>
                  </a:ext>
                </a:extLst>
              </p:cNvPr>
              <p:cNvSpPr/>
              <p:nvPr/>
            </p:nvSpPr>
            <p:spPr>
              <a:xfrm>
                <a:off x="241664" y="2353703"/>
                <a:ext cx="11112136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≈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𝐾𝐿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altLang="ko-KR" sz="1801" b="0" i="0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𝐾𝐿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s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122DBFAE-F083-4731-8405-E07F26BAC2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353703"/>
                <a:ext cx="11112136" cy="483466"/>
              </a:xfrm>
              <a:prstGeom prst="rect">
                <a:avLst/>
              </a:prstGeom>
              <a:blipFill>
                <a:blip r:embed="rId5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20939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18C9D51-462E-468D-8564-FC93F0060912}"/>
              </a:ext>
            </a:extLst>
          </p:cNvPr>
          <p:cNvSpPr/>
          <p:nvPr/>
        </p:nvSpPr>
        <p:spPr>
          <a:xfrm>
            <a:off x="262893" y="2414563"/>
            <a:ext cx="149733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E771F5F-3DBE-455A-B577-EE1EC79E41EF}"/>
              </a:ext>
            </a:extLst>
          </p:cNvPr>
          <p:cNvSpPr/>
          <p:nvPr/>
        </p:nvSpPr>
        <p:spPr>
          <a:xfrm>
            <a:off x="2998473" y="1157673"/>
            <a:ext cx="149733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59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59806"/>
              </a:xfrm>
              <a:prstGeom prst="rect">
                <a:avLst/>
              </a:prstGeom>
              <a:blipFill>
                <a:blip r:embed="rId2"/>
                <a:stretch>
                  <a:fillRect t="-8000" b="-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0724B3-3FC2-42C2-81BC-F85B9A2EB064}"/>
                  </a:ext>
                </a:extLst>
              </p:cNvPr>
              <p:cNvSpPr txBox="1"/>
              <p:nvPr/>
            </p:nvSpPr>
            <p:spPr>
              <a:xfrm>
                <a:off x="1671238" y="1642583"/>
                <a:ext cx="4151799" cy="5234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Second-order Taylor expansion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</a:t>
                </a:r>
              </a:p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(First-order Taylor expansion for KL-divergence is 0)</a:t>
                </a:r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76B5B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0724B3-3FC2-42C2-81BC-F85B9A2EB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238" y="1642583"/>
                <a:ext cx="4151799" cy="523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AD9CC50-6DA9-40AC-B1F2-672C86800F7E}"/>
                  </a:ext>
                </a:extLst>
              </p:cNvPr>
              <p:cNvSpPr/>
              <p:nvPr/>
            </p:nvSpPr>
            <p:spPr>
              <a:xfrm>
                <a:off x="241664" y="3064823"/>
                <a:ext cx="11112136" cy="415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𝑜𝑙𝑑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𝑜𝑙𝑑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80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AD9CC50-6DA9-40AC-B1F2-672C86800F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3064823"/>
                <a:ext cx="11112136" cy="4153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9A807A1-4DCA-4DA0-BDE6-6FEE4A0E69A3}"/>
                  </a:ext>
                </a:extLst>
              </p:cNvPr>
              <p:cNvSpPr/>
              <p:nvPr/>
            </p:nvSpPr>
            <p:spPr>
              <a:xfrm>
                <a:off x="241664" y="3744264"/>
                <a:ext cx="11112136" cy="415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801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9A807A1-4DCA-4DA0-BDE6-6FEE4A0E69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3744264"/>
                <a:ext cx="11112136" cy="4153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F3D8D190-9000-4463-8DEE-7E9C258114C3}"/>
                  </a:ext>
                </a:extLst>
              </p:cNvPr>
              <p:cNvSpPr/>
              <p:nvPr/>
            </p:nvSpPr>
            <p:spPr>
              <a:xfrm>
                <a:off x="241664" y="2353703"/>
                <a:ext cx="11112136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≈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𝐾𝐿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altLang="ko-KR" sz="1801" b="0" i="0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𝐾𝐿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s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F3D8D190-9000-4463-8DEE-7E9C258114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353703"/>
                <a:ext cx="11112136" cy="483466"/>
              </a:xfrm>
              <a:prstGeom prst="rect">
                <a:avLst/>
              </a:prstGeom>
              <a:blipFill>
                <a:blip r:embed="rId6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77693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A723B0C-B940-4523-B884-74D5D4BDB32A}"/>
              </a:ext>
            </a:extLst>
          </p:cNvPr>
          <p:cNvSpPr/>
          <p:nvPr/>
        </p:nvSpPr>
        <p:spPr>
          <a:xfrm>
            <a:off x="7124704" y="2401992"/>
            <a:ext cx="2346956" cy="435177"/>
          </a:xfrm>
          <a:prstGeom prst="roundRect">
            <a:avLst/>
          </a:prstGeom>
          <a:solidFill>
            <a:srgbClr val="8489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18C9D51-462E-468D-8564-FC93F0060912}"/>
              </a:ext>
            </a:extLst>
          </p:cNvPr>
          <p:cNvSpPr/>
          <p:nvPr/>
        </p:nvSpPr>
        <p:spPr>
          <a:xfrm>
            <a:off x="262893" y="2414563"/>
            <a:ext cx="149733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E771F5F-3DBE-455A-B577-EE1EC79E41EF}"/>
              </a:ext>
            </a:extLst>
          </p:cNvPr>
          <p:cNvSpPr/>
          <p:nvPr/>
        </p:nvSpPr>
        <p:spPr>
          <a:xfrm>
            <a:off x="2998473" y="1157673"/>
            <a:ext cx="149733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59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59806"/>
              </a:xfrm>
              <a:prstGeom prst="rect">
                <a:avLst/>
              </a:prstGeom>
              <a:blipFill>
                <a:blip r:embed="rId2"/>
                <a:stretch>
                  <a:fillRect t="-8000" b="-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0724B3-3FC2-42C2-81BC-F85B9A2EB064}"/>
                  </a:ext>
                </a:extLst>
              </p:cNvPr>
              <p:cNvSpPr txBox="1"/>
              <p:nvPr/>
            </p:nvSpPr>
            <p:spPr>
              <a:xfrm>
                <a:off x="1671238" y="1642583"/>
                <a:ext cx="4151799" cy="5234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Second-order Taylor expansion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</a:t>
                </a:r>
              </a:p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(First-order Taylor expansion for KL-divergence is 0)</a:t>
                </a:r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76B5B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0724B3-3FC2-42C2-81BC-F85B9A2EB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238" y="1642583"/>
                <a:ext cx="4151799" cy="523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AD9CC50-6DA9-40AC-B1F2-672C86800F7E}"/>
                  </a:ext>
                </a:extLst>
              </p:cNvPr>
              <p:cNvSpPr/>
              <p:nvPr/>
            </p:nvSpPr>
            <p:spPr>
              <a:xfrm>
                <a:off x="241664" y="3064823"/>
                <a:ext cx="11112136" cy="415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𝑜𝑙𝑑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𝑜𝑙𝑑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80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AD9CC50-6DA9-40AC-B1F2-672C86800F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3064823"/>
                <a:ext cx="11112136" cy="4153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9A807A1-4DCA-4DA0-BDE6-6FEE4A0E69A3}"/>
                  </a:ext>
                </a:extLst>
              </p:cNvPr>
              <p:cNvSpPr/>
              <p:nvPr/>
            </p:nvSpPr>
            <p:spPr>
              <a:xfrm>
                <a:off x="241664" y="3744264"/>
                <a:ext cx="11112136" cy="415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801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9A807A1-4DCA-4DA0-BDE6-6FEE4A0E69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3744264"/>
                <a:ext cx="11112136" cy="4153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1A24BA5-89BE-4281-A01D-5E2382FAB1A3}"/>
              </a:ext>
            </a:extLst>
          </p:cNvPr>
          <p:cNvSpPr/>
          <p:nvPr/>
        </p:nvSpPr>
        <p:spPr>
          <a:xfrm>
            <a:off x="318956" y="4426087"/>
            <a:ext cx="2346956" cy="435177"/>
          </a:xfrm>
          <a:prstGeom prst="roundRect">
            <a:avLst/>
          </a:prstGeom>
          <a:solidFill>
            <a:srgbClr val="8489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8E700181-B42D-4561-9016-46E72ECAD8F4}"/>
                  </a:ext>
                </a:extLst>
              </p:cNvPr>
              <p:cNvSpPr/>
              <p:nvPr/>
            </p:nvSpPr>
            <p:spPr>
              <a:xfrm>
                <a:off x="241664" y="4426087"/>
                <a:ext cx="11112136" cy="4643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b="0" i="0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</m:sub>
                    </m:sSub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</m:e>
                    </m:func>
                  </m:oMath>
                </a14:m>
                <a:r>
                  <a:rPr lang="en-US" altLang="ko-KR" sz="180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ko-KR" altLang="en-US" sz="180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8E700181-B42D-4561-9016-46E72ECAD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4426087"/>
                <a:ext cx="11112136" cy="464358"/>
              </a:xfrm>
              <a:prstGeom prst="rect">
                <a:avLst/>
              </a:prstGeom>
              <a:blipFill>
                <a:blip r:embed="rId6"/>
                <a:stretch>
                  <a:fillRect t="-3947" b="-26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3B652438-C67C-4B01-9450-6BBAE459B0CC}"/>
                  </a:ext>
                </a:extLst>
              </p:cNvPr>
              <p:cNvSpPr/>
              <p:nvPr/>
            </p:nvSpPr>
            <p:spPr>
              <a:xfrm>
                <a:off x="241664" y="2353703"/>
                <a:ext cx="11112136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≈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𝐾𝐿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altLang="ko-KR" sz="1801" b="0" i="0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𝐾𝐿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s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3B652438-C67C-4B01-9450-6BBAE459B0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353703"/>
                <a:ext cx="11112136" cy="483466"/>
              </a:xfrm>
              <a:prstGeom prst="rect">
                <a:avLst/>
              </a:prstGeom>
              <a:blipFill>
                <a:blip r:embed="rId7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26989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A723B0C-B940-4523-B884-74D5D4BDB32A}"/>
              </a:ext>
            </a:extLst>
          </p:cNvPr>
          <p:cNvSpPr/>
          <p:nvPr/>
        </p:nvSpPr>
        <p:spPr>
          <a:xfrm>
            <a:off x="7124704" y="2401992"/>
            <a:ext cx="2346956" cy="435177"/>
          </a:xfrm>
          <a:prstGeom prst="roundRect">
            <a:avLst/>
          </a:prstGeom>
          <a:solidFill>
            <a:srgbClr val="8489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18C9D51-462E-468D-8564-FC93F0060912}"/>
              </a:ext>
            </a:extLst>
          </p:cNvPr>
          <p:cNvSpPr/>
          <p:nvPr/>
        </p:nvSpPr>
        <p:spPr>
          <a:xfrm>
            <a:off x="262893" y="2414563"/>
            <a:ext cx="149733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E771F5F-3DBE-455A-B577-EE1EC79E41EF}"/>
              </a:ext>
            </a:extLst>
          </p:cNvPr>
          <p:cNvSpPr/>
          <p:nvPr/>
        </p:nvSpPr>
        <p:spPr>
          <a:xfrm>
            <a:off x="2998473" y="1157673"/>
            <a:ext cx="149733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59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59806"/>
              </a:xfrm>
              <a:prstGeom prst="rect">
                <a:avLst/>
              </a:prstGeom>
              <a:blipFill>
                <a:blip r:embed="rId2"/>
                <a:stretch>
                  <a:fillRect t="-8000" b="-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0724B3-3FC2-42C2-81BC-F85B9A2EB064}"/>
                  </a:ext>
                </a:extLst>
              </p:cNvPr>
              <p:cNvSpPr txBox="1"/>
              <p:nvPr/>
            </p:nvSpPr>
            <p:spPr>
              <a:xfrm>
                <a:off x="1671238" y="1642583"/>
                <a:ext cx="4151799" cy="5234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Second-order Taylor expansion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𝜃</m:t>
                        </m:r>
                      </m:e>
                      <m:sub>
                        <m:r>
                          <a:rPr lang="en-US" altLang="ko-KR" sz="14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rgbClr val="F76B5B"/>
                            </a:solidFill>
                            <a:latin typeface="Cambria Math" panose="02040503050406030204" pitchFamily="18" charset="0"/>
                            <a:ea typeface="나눔스퀘어 Bold" panose="020B0600000101010101" pitchFamily="50" charset="-127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</a:t>
                </a:r>
              </a:p>
              <a:p>
                <a:pPr algn="ctr"/>
                <a:r>
                  <a:rPr lang="en-US" altLang="ko-KR" sz="1401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rgbClr val="F76B5B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(First-order Taylor expansion for KL-divergence is 0)</a:t>
                </a:r>
                <a:endParaRPr lang="ko-KR" altLang="en-US" sz="140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76B5B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0724B3-3FC2-42C2-81BC-F85B9A2EB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238" y="1642583"/>
                <a:ext cx="4151799" cy="523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0292FCD-438A-4F18-B39F-7A6955284DD9}"/>
                  </a:ext>
                </a:extLst>
              </p:cNvPr>
              <p:cNvSpPr/>
              <p:nvPr/>
            </p:nvSpPr>
            <p:spPr>
              <a:xfrm>
                <a:off x="241664" y="2353703"/>
                <a:ext cx="11112136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ko-KR" sz="1801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≈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𝐾𝐿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b="0" i="1" smtClean="0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altLang="ko-KR" sz="1801" b="0" i="0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𝐾𝐿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𝑜𝑙𝑑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altLang="ko-KR" sz="1801" b="0" i="1" smtClean="0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801" dirty="0">
                    <a:solidFill>
                      <a:schemeClr val="bg1"/>
                    </a:solidFill>
                  </a:rPr>
                  <a:t>s</a:t>
                </a:r>
                <a:endParaRPr lang="ko-KR" altLang="en-US" sz="180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0292FCD-438A-4F18-B39F-7A6955284D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353703"/>
                <a:ext cx="11112136" cy="483466"/>
              </a:xfrm>
              <a:prstGeom prst="rect">
                <a:avLst/>
              </a:prstGeom>
              <a:blipFill>
                <a:blip r:embed="rId4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AD9CC50-6DA9-40AC-B1F2-672C86800F7E}"/>
                  </a:ext>
                </a:extLst>
              </p:cNvPr>
              <p:cNvSpPr/>
              <p:nvPr/>
            </p:nvSpPr>
            <p:spPr>
              <a:xfrm>
                <a:off x="241664" y="3064823"/>
                <a:ext cx="11112136" cy="415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𝑜𝑙𝑑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𝑜𝑙𝑑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80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5AD9CC50-6DA9-40AC-B1F2-672C86800F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3064823"/>
                <a:ext cx="11112136" cy="4153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9A807A1-4DCA-4DA0-BDE6-6FEE4A0E69A3}"/>
                  </a:ext>
                </a:extLst>
              </p:cNvPr>
              <p:cNvSpPr/>
              <p:nvPr/>
            </p:nvSpPr>
            <p:spPr>
              <a:xfrm>
                <a:off x="241664" y="3744264"/>
                <a:ext cx="11112136" cy="4153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801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9A807A1-4DCA-4DA0-BDE6-6FEE4A0E69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3744264"/>
                <a:ext cx="11112136" cy="4153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1A24BA5-89BE-4281-A01D-5E2382FAB1A3}"/>
              </a:ext>
            </a:extLst>
          </p:cNvPr>
          <p:cNvSpPr/>
          <p:nvPr/>
        </p:nvSpPr>
        <p:spPr>
          <a:xfrm>
            <a:off x="318956" y="4426087"/>
            <a:ext cx="2346956" cy="435177"/>
          </a:xfrm>
          <a:prstGeom prst="roundRect">
            <a:avLst/>
          </a:prstGeom>
          <a:solidFill>
            <a:srgbClr val="8489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8E700181-B42D-4561-9016-46E72ECAD8F4}"/>
                  </a:ext>
                </a:extLst>
              </p:cNvPr>
              <p:cNvSpPr/>
              <p:nvPr/>
            </p:nvSpPr>
            <p:spPr>
              <a:xfrm>
                <a:off x="241664" y="4426087"/>
                <a:ext cx="11112136" cy="4643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b="0" i="0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</m:sub>
                    </m:sSub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</m:e>
                    </m:func>
                  </m:oMath>
                </a14:m>
                <a:r>
                  <a:rPr lang="en-US" altLang="ko-KR" sz="180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ko-KR" altLang="en-US" sz="180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8E700181-B42D-4561-9016-46E72ECAD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4426087"/>
                <a:ext cx="11112136" cy="464358"/>
              </a:xfrm>
              <a:prstGeom prst="rect">
                <a:avLst/>
              </a:prstGeom>
              <a:blipFill>
                <a:blip r:embed="rId7"/>
                <a:stretch>
                  <a:fillRect t="-3947" b="-26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D9D76E8E-EA81-4AEF-BF56-DDD61B56CAC1}"/>
                  </a:ext>
                </a:extLst>
              </p:cNvPr>
              <p:cNvSpPr/>
              <p:nvPr/>
            </p:nvSpPr>
            <p:spPr>
              <a:xfrm>
                <a:off x="2621280" y="5156961"/>
                <a:ext cx="8747760" cy="4502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b="0" i="0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func>
                      <m:func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en-US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</m:e>
                    </m:func>
                  </m:oMath>
                </a14:m>
                <a:r>
                  <a:rPr lang="ko-KR" altLang="en-US" sz="1801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D9D76E8E-EA81-4AEF-BF56-DDD61B56CA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280" y="5156961"/>
                <a:ext cx="8747760" cy="4502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191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5223182-C625-4F4E-B9B5-931356D3D19C}"/>
              </a:ext>
            </a:extLst>
          </p:cNvPr>
          <p:cNvSpPr/>
          <p:nvPr/>
        </p:nvSpPr>
        <p:spPr>
          <a:xfrm>
            <a:off x="2998472" y="1157673"/>
            <a:ext cx="1916428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658FEE1-2BD0-4BD1-8225-819E1F7DD54F}"/>
              </a:ext>
            </a:extLst>
          </p:cNvPr>
          <p:cNvSpPr/>
          <p:nvPr/>
        </p:nvSpPr>
        <p:spPr>
          <a:xfrm>
            <a:off x="1623064" y="1201642"/>
            <a:ext cx="929636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  <a:blipFill>
                <a:blip r:embed="rId2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8167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C73F295-02D3-46B5-9CD4-DC4CA7598284}"/>
              </a:ext>
            </a:extLst>
          </p:cNvPr>
          <p:cNvSpPr/>
          <p:nvPr/>
        </p:nvSpPr>
        <p:spPr>
          <a:xfrm>
            <a:off x="1623064" y="1863868"/>
            <a:ext cx="2697476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5223182-C625-4F4E-B9B5-931356D3D19C}"/>
              </a:ext>
            </a:extLst>
          </p:cNvPr>
          <p:cNvSpPr/>
          <p:nvPr/>
        </p:nvSpPr>
        <p:spPr>
          <a:xfrm>
            <a:off x="2998472" y="1157673"/>
            <a:ext cx="1916428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DD04CBF-B9E2-4926-A9D4-54513817F700}"/>
              </a:ext>
            </a:extLst>
          </p:cNvPr>
          <p:cNvSpPr/>
          <p:nvPr/>
        </p:nvSpPr>
        <p:spPr>
          <a:xfrm>
            <a:off x="4648200" y="1850109"/>
            <a:ext cx="342138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658FEE1-2BD0-4BD1-8225-819E1F7DD54F}"/>
              </a:ext>
            </a:extLst>
          </p:cNvPr>
          <p:cNvSpPr/>
          <p:nvPr/>
        </p:nvSpPr>
        <p:spPr>
          <a:xfrm>
            <a:off x="1623064" y="1201642"/>
            <a:ext cx="929636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  <a:blipFill>
                <a:blip r:embed="rId2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28265D55-5FB1-4F7F-AE0A-81C435D607D6}"/>
                  </a:ext>
                </a:extLst>
              </p:cNvPr>
              <p:cNvSpPr/>
              <p:nvPr/>
            </p:nvSpPr>
            <p:spPr>
              <a:xfrm>
                <a:off x="556260" y="1845844"/>
                <a:ext cx="10332720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28265D55-5FB1-4F7F-AE0A-81C435D607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" y="1845844"/>
                <a:ext cx="10332720" cy="483466"/>
              </a:xfrm>
              <a:prstGeom prst="rect">
                <a:avLst/>
              </a:prstGeom>
              <a:blipFill>
                <a:blip r:embed="rId3"/>
                <a:stretch>
                  <a:fillRect t="-1266" b="-25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7131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C73F295-02D3-46B5-9CD4-DC4CA7598284}"/>
              </a:ext>
            </a:extLst>
          </p:cNvPr>
          <p:cNvSpPr/>
          <p:nvPr/>
        </p:nvSpPr>
        <p:spPr>
          <a:xfrm>
            <a:off x="1623064" y="1863868"/>
            <a:ext cx="2697476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5223182-C625-4F4E-B9B5-931356D3D19C}"/>
              </a:ext>
            </a:extLst>
          </p:cNvPr>
          <p:cNvSpPr/>
          <p:nvPr/>
        </p:nvSpPr>
        <p:spPr>
          <a:xfrm>
            <a:off x="2998472" y="1157673"/>
            <a:ext cx="1916428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DD04CBF-B9E2-4926-A9D4-54513817F700}"/>
              </a:ext>
            </a:extLst>
          </p:cNvPr>
          <p:cNvSpPr/>
          <p:nvPr/>
        </p:nvSpPr>
        <p:spPr>
          <a:xfrm>
            <a:off x="4648200" y="1850109"/>
            <a:ext cx="342138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658FEE1-2BD0-4BD1-8225-819E1F7DD54F}"/>
              </a:ext>
            </a:extLst>
          </p:cNvPr>
          <p:cNvSpPr/>
          <p:nvPr/>
        </p:nvSpPr>
        <p:spPr>
          <a:xfrm>
            <a:off x="1623064" y="1201642"/>
            <a:ext cx="929636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  <a:blipFill>
                <a:blip r:embed="rId2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28265D55-5FB1-4F7F-AE0A-81C435D607D6}"/>
                  </a:ext>
                </a:extLst>
              </p:cNvPr>
              <p:cNvSpPr/>
              <p:nvPr/>
            </p:nvSpPr>
            <p:spPr>
              <a:xfrm>
                <a:off x="556260" y="1845844"/>
                <a:ext cx="10332720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28265D55-5FB1-4F7F-AE0A-81C435D607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" y="1845844"/>
                <a:ext cx="10332720" cy="483466"/>
              </a:xfrm>
              <a:prstGeom prst="rect">
                <a:avLst/>
              </a:prstGeom>
              <a:blipFill>
                <a:blip r:embed="rId3"/>
                <a:stretch>
                  <a:fillRect t="-1266" b="-25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65A62BD-4A34-457B-95A1-FD314120E98C}"/>
                  </a:ext>
                </a:extLst>
              </p:cNvPr>
              <p:cNvSpPr/>
              <p:nvPr/>
            </p:nvSpPr>
            <p:spPr>
              <a:xfrm>
                <a:off x="556260" y="2519983"/>
                <a:ext cx="10332720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ko-KR" sz="180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65A62BD-4A34-457B-95A1-FD314120E9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" y="2519983"/>
                <a:ext cx="10332720" cy="483466"/>
              </a:xfrm>
              <a:prstGeom prst="rect">
                <a:avLst/>
              </a:prstGeom>
              <a:blipFill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3750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C73F295-02D3-46B5-9CD4-DC4CA7598284}"/>
              </a:ext>
            </a:extLst>
          </p:cNvPr>
          <p:cNvSpPr/>
          <p:nvPr/>
        </p:nvSpPr>
        <p:spPr>
          <a:xfrm>
            <a:off x="1623064" y="1863868"/>
            <a:ext cx="2697476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5223182-C625-4F4E-B9B5-931356D3D19C}"/>
              </a:ext>
            </a:extLst>
          </p:cNvPr>
          <p:cNvSpPr/>
          <p:nvPr/>
        </p:nvSpPr>
        <p:spPr>
          <a:xfrm>
            <a:off x="2998472" y="1157673"/>
            <a:ext cx="1916428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DD04CBF-B9E2-4926-A9D4-54513817F700}"/>
              </a:ext>
            </a:extLst>
          </p:cNvPr>
          <p:cNvSpPr/>
          <p:nvPr/>
        </p:nvSpPr>
        <p:spPr>
          <a:xfrm>
            <a:off x="4648200" y="1850109"/>
            <a:ext cx="3421380" cy="435177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658FEE1-2BD0-4BD1-8225-819E1F7DD54F}"/>
              </a:ext>
            </a:extLst>
          </p:cNvPr>
          <p:cNvSpPr/>
          <p:nvPr/>
        </p:nvSpPr>
        <p:spPr>
          <a:xfrm>
            <a:off x="1623064" y="1201642"/>
            <a:ext cx="929636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87843"/>
                <a:ext cx="6121041" cy="463973"/>
              </a:xfrm>
              <a:prstGeom prst="rect">
                <a:avLst/>
              </a:prstGeom>
              <a:blipFill>
                <a:blip r:embed="rId2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28265D55-5FB1-4F7F-AE0A-81C435D607D6}"/>
                  </a:ext>
                </a:extLst>
              </p:cNvPr>
              <p:cNvSpPr/>
              <p:nvPr/>
            </p:nvSpPr>
            <p:spPr>
              <a:xfrm>
                <a:off x="556260" y="1845844"/>
                <a:ext cx="10332720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n>
                                          <a:solidFill>
                                            <a:prstClr val="black">
                                              <a:lumMod val="75000"/>
                                              <a:lumOff val="25000"/>
                                              <a:alpha val="30000"/>
                                            </a:prstClr>
                                          </a:solidFill>
                                        </a:ln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b="0" i="1" smtClean="0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28265D55-5FB1-4F7F-AE0A-81C435D607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" y="1845844"/>
                <a:ext cx="10332720" cy="483466"/>
              </a:xfrm>
              <a:prstGeom prst="rect">
                <a:avLst/>
              </a:prstGeom>
              <a:blipFill>
                <a:blip r:embed="rId3"/>
                <a:stretch>
                  <a:fillRect t="-1266" b="-25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65A62BD-4A34-457B-95A1-FD314120E98C}"/>
                  </a:ext>
                </a:extLst>
              </p:cNvPr>
              <p:cNvSpPr/>
              <p:nvPr/>
            </p:nvSpPr>
            <p:spPr>
              <a:xfrm>
                <a:off x="556260" y="2519983"/>
                <a:ext cx="10332720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ko-KR" sz="180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65A62BD-4A34-457B-95A1-FD314120E9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" y="2519983"/>
                <a:ext cx="10332720" cy="483466"/>
              </a:xfrm>
              <a:prstGeom prst="rect">
                <a:avLst/>
              </a:prstGeom>
              <a:blipFill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AC9EEB7B-E1D1-4C68-BB92-938965BC7F5C}"/>
                  </a:ext>
                </a:extLst>
              </p:cNvPr>
              <p:cNvSpPr/>
              <p:nvPr/>
            </p:nvSpPr>
            <p:spPr>
              <a:xfrm>
                <a:off x="556260" y="3194122"/>
                <a:ext cx="10332720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ko-KR" sz="180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801" b="0" i="0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in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AC9EEB7B-E1D1-4C68-BB92-938965BC7F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" y="3194122"/>
                <a:ext cx="10332720" cy="483466"/>
              </a:xfrm>
              <a:prstGeom prst="rect">
                <a:avLst/>
              </a:prstGeom>
              <a:blipFill>
                <a:blip r:embed="rId5"/>
                <a:stretch>
                  <a:fillRect t="-1266" b="-25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28684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  <a:blipFill>
                <a:blip r:embed="rId2"/>
                <a:stretch>
                  <a:fillRect t="-1266" b="-25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03118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  <a:blipFill>
                <a:blip r:embed="rId2"/>
                <a:stretch>
                  <a:fillRect t="-1266" b="-25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517509A-61D7-4CB2-970E-A1035FFB5EFE}"/>
                  </a:ext>
                </a:extLst>
              </p:cNvPr>
              <p:cNvSpPr/>
              <p:nvPr/>
            </p:nvSpPr>
            <p:spPr>
              <a:xfrm>
                <a:off x="241664" y="2473438"/>
                <a:ext cx="10647316" cy="4996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0=</m:t>
                        </m:r>
                        <m:f>
                          <m:f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fName>
                      <m:e>
                        <m:r>
                          <a:rPr lang="en-US" altLang="ko-KR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517509A-61D7-4CB2-970E-A1035FFB5E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473438"/>
                <a:ext cx="10647316" cy="499624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A03FEC5-648A-40BC-A2E8-6D799EC41858}"/>
              </a:ext>
            </a:extLst>
          </p:cNvPr>
          <p:cNvSpPr txBox="1"/>
          <p:nvPr/>
        </p:nvSpPr>
        <p:spPr>
          <a:xfrm>
            <a:off x="227013" y="1972051"/>
            <a:ext cx="313340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Solve it analytically </a:t>
            </a:r>
            <a:endParaRPr lang="ko-KR" altLang="en-US" b="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10852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  <a:blipFill>
                <a:blip r:embed="rId2"/>
                <a:stretch>
                  <a:fillRect t="-1266" b="-25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517509A-61D7-4CB2-970E-A1035FFB5EFE}"/>
                  </a:ext>
                </a:extLst>
              </p:cNvPr>
              <p:cNvSpPr/>
              <p:nvPr/>
            </p:nvSpPr>
            <p:spPr>
              <a:xfrm>
                <a:off x="241664" y="2473438"/>
                <a:ext cx="10647316" cy="4996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0=</m:t>
                        </m:r>
                        <m:f>
                          <m:f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fName>
                      <m:e>
                        <m:r>
                          <a:rPr lang="en-US" altLang="ko-KR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517509A-61D7-4CB2-970E-A1035FFB5E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473438"/>
                <a:ext cx="10647316" cy="499624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E184C6F7-C176-4B52-905B-5656D149C4CC}"/>
                  </a:ext>
                </a:extLst>
              </p:cNvPr>
              <p:cNvSpPr/>
              <p:nvPr/>
            </p:nvSpPr>
            <p:spPr>
              <a:xfrm>
                <a:off x="441960" y="3163735"/>
                <a:ext cx="4206240" cy="4996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</m:fName>
                      <m:e>
                        <m:r>
                          <a:rPr lang="en-US" altLang="ko-KR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E184C6F7-C176-4B52-905B-5656D149C4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163735"/>
                <a:ext cx="4206240" cy="499624"/>
              </a:xfrm>
              <a:prstGeom prst="rect">
                <a:avLst/>
              </a:prstGeom>
              <a:blipFill>
                <a:blip r:embed="rId4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A03FEC5-648A-40BC-A2E8-6D799EC41858}"/>
              </a:ext>
            </a:extLst>
          </p:cNvPr>
          <p:cNvSpPr txBox="1"/>
          <p:nvPr/>
        </p:nvSpPr>
        <p:spPr>
          <a:xfrm>
            <a:off x="227013" y="1972051"/>
            <a:ext cx="313340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Solve it analytically </a:t>
            </a:r>
            <a:endParaRPr lang="ko-KR" altLang="en-US" b="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12659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  <a:blipFill>
                <a:blip r:embed="rId2"/>
                <a:stretch>
                  <a:fillRect t="-1266" b="-25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517509A-61D7-4CB2-970E-A1035FFB5EFE}"/>
                  </a:ext>
                </a:extLst>
              </p:cNvPr>
              <p:cNvSpPr/>
              <p:nvPr/>
            </p:nvSpPr>
            <p:spPr>
              <a:xfrm>
                <a:off x="241664" y="2473438"/>
                <a:ext cx="10647316" cy="4996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0=</m:t>
                        </m:r>
                        <m:f>
                          <m:f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fName>
                      <m:e>
                        <m:r>
                          <a:rPr lang="en-US" altLang="ko-KR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517509A-61D7-4CB2-970E-A1035FFB5E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473438"/>
                <a:ext cx="10647316" cy="499624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E184C6F7-C176-4B52-905B-5656D149C4CC}"/>
                  </a:ext>
                </a:extLst>
              </p:cNvPr>
              <p:cNvSpPr/>
              <p:nvPr/>
            </p:nvSpPr>
            <p:spPr>
              <a:xfrm>
                <a:off x="441960" y="3163735"/>
                <a:ext cx="4206240" cy="4996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</m:fName>
                      <m:e>
                        <m:r>
                          <a:rPr lang="en-US" altLang="ko-KR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E184C6F7-C176-4B52-905B-5656D149C4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163735"/>
                <a:ext cx="4206240" cy="499624"/>
              </a:xfrm>
              <a:prstGeom prst="rect">
                <a:avLst/>
              </a:prstGeom>
              <a:blipFill>
                <a:blip r:embed="rId4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AB1F56D8-4F00-4D5B-A10C-57F12CD7237A}"/>
                  </a:ext>
                </a:extLst>
              </p:cNvPr>
              <p:cNvSpPr/>
              <p:nvPr/>
            </p:nvSpPr>
            <p:spPr>
              <a:xfrm>
                <a:off x="227013" y="3854032"/>
                <a:ext cx="10647316" cy="4855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acc>
                  </m:oMath>
                </a14:m>
                <a:r>
                  <a:rPr lang="ko-KR" altLang="en-US" sz="1801" dirty="0"/>
                  <a:t> </a:t>
                </a:r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AB1F56D8-4F00-4D5B-A10C-57F12CD723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3" y="3854032"/>
                <a:ext cx="10647316" cy="485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A03FEC5-648A-40BC-A2E8-6D799EC41858}"/>
              </a:ext>
            </a:extLst>
          </p:cNvPr>
          <p:cNvSpPr txBox="1"/>
          <p:nvPr/>
        </p:nvSpPr>
        <p:spPr>
          <a:xfrm>
            <a:off x="227013" y="1972051"/>
            <a:ext cx="313340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Solve it analytically </a:t>
            </a:r>
            <a:endParaRPr lang="ko-KR" altLang="en-US" b="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34741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  <a:blipFill>
                <a:blip r:embed="rId2"/>
                <a:stretch>
                  <a:fillRect t="-1266" b="-25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517509A-61D7-4CB2-970E-A1035FFB5EFE}"/>
                  </a:ext>
                </a:extLst>
              </p:cNvPr>
              <p:cNvSpPr/>
              <p:nvPr/>
            </p:nvSpPr>
            <p:spPr>
              <a:xfrm>
                <a:off x="241664" y="2473438"/>
                <a:ext cx="10647316" cy="4996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0=</m:t>
                        </m:r>
                        <m:f>
                          <m:f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fName>
                      <m:e>
                        <m:r>
                          <a:rPr lang="en-US" altLang="ko-KR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517509A-61D7-4CB2-970E-A1035FFB5E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473438"/>
                <a:ext cx="10647316" cy="499624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E184C6F7-C176-4B52-905B-5656D149C4CC}"/>
                  </a:ext>
                </a:extLst>
              </p:cNvPr>
              <p:cNvSpPr/>
              <p:nvPr/>
            </p:nvSpPr>
            <p:spPr>
              <a:xfrm>
                <a:off x="441960" y="3163735"/>
                <a:ext cx="4206240" cy="4996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</m:fName>
                      <m:e>
                        <m:r>
                          <a:rPr lang="en-US" altLang="ko-KR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E184C6F7-C176-4B52-905B-5656D149C4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163735"/>
                <a:ext cx="4206240" cy="499624"/>
              </a:xfrm>
              <a:prstGeom prst="rect">
                <a:avLst/>
              </a:prstGeom>
              <a:blipFill>
                <a:blip r:embed="rId4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AB1F56D8-4F00-4D5B-A10C-57F12CD7237A}"/>
                  </a:ext>
                </a:extLst>
              </p:cNvPr>
              <p:cNvSpPr/>
              <p:nvPr/>
            </p:nvSpPr>
            <p:spPr>
              <a:xfrm>
                <a:off x="227013" y="3854032"/>
                <a:ext cx="10647316" cy="4855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acc>
                  </m:oMath>
                </a14:m>
                <a:r>
                  <a:rPr lang="ko-KR" altLang="en-US" sz="1801" dirty="0"/>
                  <a:t> </a:t>
                </a:r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AB1F56D8-4F00-4D5B-A10C-57F12CD723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3" y="3854032"/>
                <a:ext cx="10647316" cy="485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C512783-EA87-4BF1-866A-EEA62CB8FAF8}"/>
              </a:ext>
            </a:extLst>
          </p:cNvPr>
          <p:cNvSpPr txBox="1"/>
          <p:nvPr/>
        </p:nvSpPr>
        <p:spPr>
          <a:xfrm>
            <a:off x="227013" y="4775398"/>
            <a:ext cx="313340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Determining the learning rate</a:t>
            </a:r>
            <a:endParaRPr lang="ko-KR" altLang="en-US" b="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563E639-696B-46A8-AE61-24A1178FA993}"/>
              </a:ext>
            </a:extLst>
          </p:cNvPr>
          <p:cNvSpPr>
            <a:spLocks noChangeAspect="1"/>
          </p:cNvSpPr>
          <p:nvPr/>
        </p:nvSpPr>
        <p:spPr>
          <a:xfrm>
            <a:off x="3421384" y="3966091"/>
            <a:ext cx="324000" cy="307120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03FEC5-648A-40BC-A2E8-6D799EC41858}"/>
              </a:ext>
            </a:extLst>
          </p:cNvPr>
          <p:cNvSpPr txBox="1"/>
          <p:nvPr/>
        </p:nvSpPr>
        <p:spPr>
          <a:xfrm>
            <a:off x="227013" y="1972051"/>
            <a:ext cx="313340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Solve it analytically </a:t>
            </a:r>
            <a:endParaRPr lang="ko-KR" altLang="en-US" b="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5221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  <a:blipFill>
                <a:blip r:embed="rId2"/>
                <a:stretch>
                  <a:fillRect t="-1266" b="-25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517509A-61D7-4CB2-970E-A1035FFB5EFE}"/>
                  </a:ext>
                </a:extLst>
              </p:cNvPr>
              <p:cNvSpPr/>
              <p:nvPr/>
            </p:nvSpPr>
            <p:spPr>
              <a:xfrm>
                <a:off x="241664" y="2473438"/>
                <a:ext cx="10647316" cy="4996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0=</m:t>
                        </m:r>
                        <m:f>
                          <m:f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fName>
                      <m:e>
                        <m:r>
                          <a:rPr lang="en-US" altLang="ko-KR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517509A-61D7-4CB2-970E-A1035FFB5E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473438"/>
                <a:ext cx="10647316" cy="499624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E184C6F7-C176-4B52-905B-5656D149C4CC}"/>
                  </a:ext>
                </a:extLst>
              </p:cNvPr>
              <p:cNvSpPr/>
              <p:nvPr/>
            </p:nvSpPr>
            <p:spPr>
              <a:xfrm>
                <a:off x="441960" y="3163735"/>
                <a:ext cx="4206240" cy="4996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</m:fName>
                      <m:e>
                        <m:r>
                          <a:rPr lang="en-US" altLang="ko-KR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E184C6F7-C176-4B52-905B-5656D149C4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163735"/>
                <a:ext cx="4206240" cy="499624"/>
              </a:xfrm>
              <a:prstGeom prst="rect">
                <a:avLst/>
              </a:prstGeom>
              <a:blipFill>
                <a:blip r:embed="rId4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AB1F56D8-4F00-4D5B-A10C-57F12CD7237A}"/>
                  </a:ext>
                </a:extLst>
              </p:cNvPr>
              <p:cNvSpPr/>
              <p:nvPr/>
            </p:nvSpPr>
            <p:spPr>
              <a:xfrm>
                <a:off x="227013" y="3854032"/>
                <a:ext cx="10647316" cy="4855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acc>
                  </m:oMath>
                </a14:m>
                <a:r>
                  <a:rPr lang="ko-KR" altLang="en-US" sz="1801" dirty="0"/>
                  <a:t> </a:t>
                </a:r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AB1F56D8-4F00-4D5B-A10C-57F12CD723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3" y="3854032"/>
                <a:ext cx="10647316" cy="485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C512783-EA87-4BF1-866A-EEA62CB8FAF8}"/>
              </a:ext>
            </a:extLst>
          </p:cNvPr>
          <p:cNvSpPr txBox="1"/>
          <p:nvPr/>
        </p:nvSpPr>
        <p:spPr>
          <a:xfrm>
            <a:off x="227013" y="4775398"/>
            <a:ext cx="313340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Determining the learning rate</a:t>
            </a:r>
            <a:endParaRPr lang="ko-KR" altLang="en-US" b="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5EDCECD7-97AB-4851-BF2A-8418B54257AE}"/>
                  </a:ext>
                </a:extLst>
              </p:cNvPr>
              <p:cNvSpPr/>
              <p:nvPr/>
            </p:nvSpPr>
            <p:spPr>
              <a:xfrm>
                <a:off x="241664" y="5191257"/>
                <a:ext cx="3789316" cy="6110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𝑜𝑙𝑑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b="0" i="1" smtClean="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b="0" i="1" smtClean="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801" b="0" i="1" smtClean="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𝑜𝑙𝑑</m:t>
                              </m:r>
                            </m:sub>
                          </m:sSub>
                        </m:e>
                      </m:d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5EDCECD7-97AB-4851-BF2A-8418B54257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5191257"/>
                <a:ext cx="3789316" cy="6110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타원 12">
            <a:extLst>
              <a:ext uri="{FF2B5EF4-FFF2-40B4-BE49-F238E27FC236}">
                <a16:creationId xmlns:a16="http://schemas.microsoft.com/office/drawing/2014/main" id="{8563E639-696B-46A8-AE61-24A1178FA993}"/>
              </a:ext>
            </a:extLst>
          </p:cNvPr>
          <p:cNvSpPr>
            <a:spLocks noChangeAspect="1"/>
          </p:cNvSpPr>
          <p:nvPr/>
        </p:nvSpPr>
        <p:spPr>
          <a:xfrm>
            <a:off x="3421384" y="3966091"/>
            <a:ext cx="324000" cy="307120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03FEC5-648A-40BC-A2E8-6D799EC41858}"/>
              </a:ext>
            </a:extLst>
          </p:cNvPr>
          <p:cNvSpPr txBox="1"/>
          <p:nvPr/>
        </p:nvSpPr>
        <p:spPr>
          <a:xfrm>
            <a:off x="227013" y="1972051"/>
            <a:ext cx="313340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Solve it analytically </a:t>
            </a:r>
            <a:endParaRPr lang="ko-KR" altLang="en-US" b="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061919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/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B7AFBD5-9265-413F-904C-F4BE865380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1157363"/>
                <a:ext cx="10205356" cy="483466"/>
              </a:xfrm>
              <a:prstGeom prst="rect">
                <a:avLst/>
              </a:prstGeom>
              <a:blipFill>
                <a:blip r:embed="rId2"/>
                <a:stretch>
                  <a:fillRect t="-1266" b="-25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Optimizing the Objective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517509A-61D7-4CB2-970E-A1035FFB5EFE}"/>
                  </a:ext>
                </a:extLst>
              </p:cNvPr>
              <p:cNvSpPr/>
              <p:nvPr/>
            </p:nvSpPr>
            <p:spPr>
              <a:xfrm>
                <a:off x="241664" y="2473438"/>
                <a:ext cx="10647316" cy="4996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0=</m:t>
                        </m:r>
                        <m:f>
                          <m:f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fName>
                      <m:e>
                        <m:r>
                          <a:rPr lang="en-US" altLang="ko-KR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5517509A-61D7-4CB2-970E-A1035FFB5E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2473438"/>
                <a:ext cx="10647316" cy="499624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E184C6F7-C176-4B52-905B-5656D149C4CC}"/>
                  </a:ext>
                </a:extLst>
              </p:cNvPr>
              <p:cNvSpPr/>
              <p:nvPr/>
            </p:nvSpPr>
            <p:spPr>
              <a:xfrm>
                <a:off x="441960" y="3163735"/>
                <a:ext cx="4206240" cy="4996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</m:fName>
                      <m:e>
                        <m:r>
                          <a:rPr lang="en-US" altLang="ko-KR" b="0" i="1" smtClean="0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E184C6F7-C176-4B52-905B-5656D149C4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163735"/>
                <a:ext cx="4206240" cy="499624"/>
              </a:xfrm>
              <a:prstGeom prst="rect">
                <a:avLst/>
              </a:prstGeom>
              <a:blipFill>
                <a:blip r:embed="rId4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AB1F56D8-4F00-4D5B-A10C-57F12CD7237A}"/>
                  </a:ext>
                </a:extLst>
              </p:cNvPr>
              <p:cNvSpPr/>
              <p:nvPr/>
            </p:nvSpPr>
            <p:spPr>
              <a:xfrm>
                <a:off x="227013" y="3854032"/>
                <a:ext cx="10647316" cy="4855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1" b="0" i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sSub>
                      <m:sSub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acc>
                  </m:oMath>
                </a14:m>
                <a:r>
                  <a:rPr lang="ko-KR" altLang="en-US" sz="1801" dirty="0"/>
                  <a:t> </a:t>
                </a:r>
              </a:p>
            </p:txBody>
          </p:sp>
        </mc:Choice>
        <mc:Fallback xmlns=""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AB1F56D8-4F00-4D5B-A10C-57F12CD723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3" y="3854032"/>
                <a:ext cx="10647316" cy="485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C512783-EA87-4BF1-866A-EEA62CB8FAF8}"/>
              </a:ext>
            </a:extLst>
          </p:cNvPr>
          <p:cNvSpPr txBox="1"/>
          <p:nvPr/>
        </p:nvSpPr>
        <p:spPr>
          <a:xfrm>
            <a:off x="227013" y="4775398"/>
            <a:ext cx="313340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Determining the learning rate</a:t>
            </a:r>
            <a:endParaRPr lang="ko-KR" altLang="en-US" b="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5EDCECD7-97AB-4851-BF2A-8418B54257AE}"/>
                  </a:ext>
                </a:extLst>
              </p:cNvPr>
              <p:cNvSpPr/>
              <p:nvPr/>
            </p:nvSpPr>
            <p:spPr>
              <a:xfrm>
                <a:off x="241664" y="5191257"/>
                <a:ext cx="3789316" cy="6110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1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ctrlP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801" i="1">
                                      <a:ln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  <a:alpha val="30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𝑜𝑙𝑑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ko-KR" sz="1801" i="1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1" b="0" i="1" smtClean="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1" b="0" i="1" smtClean="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801" b="0" i="1" smtClean="0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𝑜𝑙𝑑</m:t>
                              </m:r>
                            </m:sub>
                          </m:sSub>
                        </m:e>
                      </m:d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5EDCECD7-97AB-4851-BF2A-8418B54257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4" y="5191257"/>
                <a:ext cx="3789316" cy="6110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A7F45F1-99D5-4418-B4D3-DA0A319528A5}"/>
                  </a:ext>
                </a:extLst>
              </p:cNvPr>
              <p:cNvSpPr/>
              <p:nvPr/>
            </p:nvSpPr>
            <p:spPr>
              <a:xfrm>
                <a:off x="1958340" y="5975257"/>
                <a:ext cx="1988820" cy="3694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1" i="1">
                                  <a:ln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  <a:alpha val="30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</m:e>
                        <m:sup>
                          <m: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sz="1801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altLang="ko-KR" sz="1801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A7F45F1-99D5-4418-B4D3-DA0A31952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340" y="5975257"/>
                <a:ext cx="1988820" cy="3694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04A3159-5877-4421-AAD5-15B9CACA4F54}"/>
                  </a:ext>
                </a:extLst>
              </p:cNvPr>
              <p:cNvSpPr/>
              <p:nvPr/>
            </p:nvSpPr>
            <p:spPr>
              <a:xfrm>
                <a:off x="4004464" y="5831852"/>
                <a:ext cx="1569720" cy="656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ko-KR" altLang="en-US" sz="1801" dirty="0"/>
                  <a:t> </a:t>
                </a: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E04A3159-5877-4421-AAD5-15B9CACA4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464" y="5831852"/>
                <a:ext cx="1569720" cy="6562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타원 12">
            <a:extLst>
              <a:ext uri="{FF2B5EF4-FFF2-40B4-BE49-F238E27FC236}">
                <a16:creationId xmlns:a16="http://schemas.microsoft.com/office/drawing/2014/main" id="{8563E639-696B-46A8-AE61-24A1178FA993}"/>
              </a:ext>
            </a:extLst>
          </p:cNvPr>
          <p:cNvSpPr>
            <a:spLocks noChangeAspect="1"/>
          </p:cNvSpPr>
          <p:nvPr/>
        </p:nvSpPr>
        <p:spPr>
          <a:xfrm>
            <a:off x="3421384" y="3966091"/>
            <a:ext cx="324000" cy="307120"/>
          </a:xfrm>
          <a:prstGeom prst="ellipse">
            <a:avLst/>
          </a:prstGeom>
          <a:noFill/>
          <a:ln w="19050">
            <a:solidFill>
              <a:srgbClr val="658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rgbClr val="658DC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03FEC5-648A-40BC-A2E8-6D799EC41858}"/>
              </a:ext>
            </a:extLst>
          </p:cNvPr>
          <p:cNvSpPr txBox="1"/>
          <p:nvPr/>
        </p:nvSpPr>
        <p:spPr>
          <a:xfrm>
            <a:off x="227013" y="1972051"/>
            <a:ext cx="313340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나눔스퀘어 Bold" panose="020B0600000101010101" pitchFamily="50" charset="-127"/>
              </a:rPr>
              <a:t>Solve it analytically </a:t>
            </a:r>
            <a:endParaRPr lang="ko-KR" altLang="en-US" b="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57606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Again... Summing Up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7D914F2A-2264-419B-B633-6F5BF419B552}"/>
                  </a:ext>
                </a:extLst>
              </p:cNvPr>
              <p:cNvSpPr/>
              <p:nvPr/>
            </p:nvSpPr>
            <p:spPr>
              <a:xfrm>
                <a:off x="805544" y="1625313"/>
                <a:ext cx="7002780" cy="7090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7D914F2A-2264-419B-B633-6F5BF419B5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44" y="1625313"/>
                <a:ext cx="7002780" cy="709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ED7E7A4-FF7D-4739-B8D2-EFCAD19F5B11}"/>
              </a:ext>
            </a:extLst>
          </p:cNvPr>
          <p:cNvSpPr txBox="1"/>
          <p:nvPr/>
        </p:nvSpPr>
        <p:spPr>
          <a:xfrm>
            <a:off x="227018" y="1187842"/>
            <a:ext cx="86655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Maximizing the following objective is guaranteed to improve the policy’s performance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68200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Again... Summing Up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7D914F2A-2264-419B-B633-6F5BF419B552}"/>
                  </a:ext>
                </a:extLst>
              </p:cNvPr>
              <p:cNvSpPr/>
              <p:nvPr/>
            </p:nvSpPr>
            <p:spPr>
              <a:xfrm>
                <a:off x="805544" y="1625313"/>
                <a:ext cx="7002780" cy="7090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7D914F2A-2264-419B-B633-6F5BF419B5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44" y="1625313"/>
                <a:ext cx="7002780" cy="709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ED7E7A4-FF7D-4739-B8D2-EFCAD19F5B11}"/>
              </a:ext>
            </a:extLst>
          </p:cNvPr>
          <p:cNvSpPr txBox="1"/>
          <p:nvPr/>
        </p:nvSpPr>
        <p:spPr>
          <a:xfrm>
            <a:off x="227018" y="1187842"/>
            <a:ext cx="86655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Maximizing the following objective is guaranteed to improve the policy’s performance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22811-589C-4555-AF66-E6BF84FCDEDA}"/>
                  </a:ext>
                </a:extLst>
              </p:cNvPr>
              <p:cNvSpPr txBox="1"/>
              <p:nvPr/>
            </p:nvSpPr>
            <p:spPr>
              <a:xfrm>
                <a:off x="227018" y="2849002"/>
                <a:ext cx="8665522" cy="40825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Sampling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p>
                          <m:sSupPr>
                            <m:ctrlPr>
                              <a:rPr lang="en-US" altLang="ko-KR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</m:oMath>
                </a14:m>
                <a:r>
                  <a:rPr lang="ko-KR" altLang="en-US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</a:t>
                </a:r>
                <a:r>
                  <a:rPr lang="en-US" altLang="ko-KR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is impractical, maximize the following lower-bound instead</a:t>
                </a:r>
                <a:endParaRPr lang="ko-KR" altLang="en-US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tx1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22811-589C-4555-AF66-E6BF84FCD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8" y="2849002"/>
                <a:ext cx="8665522" cy="4082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7A8D67F2-C839-41FC-BB12-561835C57DE3}"/>
                  </a:ext>
                </a:extLst>
              </p:cNvPr>
              <p:cNvSpPr/>
              <p:nvPr/>
            </p:nvSpPr>
            <p:spPr>
              <a:xfrm>
                <a:off x="805544" y="3399239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7A8D67F2-C839-41FC-BB12-561835C57D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44" y="3399239"/>
                <a:ext cx="6121041" cy="463973"/>
              </a:xfrm>
              <a:prstGeom prst="rect">
                <a:avLst/>
              </a:prstGeom>
              <a:blipFill>
                <a:blip r:embed="rId4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15738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8449ABB-B116-464F-964A-8655F1DB42D7}"/>
              </a:ext>
            </a:extLst>
          </p:cNvPr>
          <p:cNvSpPr/>
          <p:nvPr/>
        </p:nvSpPr>
        <p:spPr>
          <a:xfrm>
            <a:off x="2404112" y="1740645"/>
            <a:ext cx="5299708" cy="478375"/>
          </a:xfrm>
          <a:prstGeom prst="roundRect">
            <a:avLst/>
          </a:prstGeom>
          <a:solidFill>
            <a:srgbClr val="F76B5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7BAEDAC-AFCF-46A1-B8EF-C7780E659B66}"/>
              </a:ext>
            </a:extLst>
          </p:cNvPr>
          <p:cNvSpPr/>
          <p:nvPr/>
        </p:nvSpPr>
        <p:spPr>
          <a:xfrm>
            <a:off x="2202184" y="3383157"/>
            <a:ext cx="3352796" cy="435177"/>
          </a:xfrm>
          <a:prstGeom prst="roundRect">
            <a:avLst/>
          </a:prstGeom>
          <a:solidFill>
            <a:srgbClr val="658DC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Again... Summing Up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7D914F2A-2264-419B-B633-6F5BF419B552}"/>
                  </a:ext>
                </a:extLst>
              </p:cNvPr>
              <p:cNvSpPr/>
              <p:nvPr/>
            </p:nvSpPr>
            <p:spPr>
              <a:xfrm>
                <a:off x="805544" y="1625313"/>
                <a:ext cx="7002780" cy="7090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7D914F2A-2264-419B-B633-6F5BF419B5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44" y="1625313"/>
                <a:ext cx="7002780" cy="709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ED7E7A4-FF7D-4739-B8D2-EFCAD19F5B11}"/>
              </a:ext>
            </a:extLst>
          </p:cNvPr>
          <p:cNvSpPr txBox="1"/>
          <p:nvPr/>
        </p:nvSpPr>
        <p:spPr>
          <a:xfrm>
            <a:off x="227018" y="1187842"/>
            <a:ext cx="86655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Maximizing the following objective is guaranteed to improve the policy’s performance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22811-589C-4555-AF66-E6BF84FCDEDA}"/>
                  </a:ext>
                </a:extLst>
              </p:cNvPr>
              <p:cNvSpPr txBox="1"/>
              <p:nvPr/>
            </p:nvSpPr>
            <p:spPr>
              <a:xfrm>
                <a:off x="227018" y="2849002"/>
                <a:ext cx="8665522" cy="40825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Sampling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p>
                          <m:sSupPr>
                            <m:ctrlPr>
                              <a:rPr lang="en-US" altLang="ko-KR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</m:oMath>
                </a14:m>
                <a:r>
                  <a:rPr lang="ko-KR" altLang="en-US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</a:t>
                </a:r>
                <a:r>
                  <a:rPr lang="en-US" altLang="ko-KR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is impractical, maximize the following lower-bound instead</a:t>
                </a:r>
                <a:endParaRPr lang="ko-KR" altLang="en-US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tx1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22811-589C-4555-AF66-E6BF84FCD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8" y="2849002"/>
                <a:ext cx="8665522" cy="4082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7A8D67F2-C839-41FC-BB12-561835C57DE3}"/>
                  </a:ext>
                </a:extLst>
              </p:cNvPr>
              <p:cNvSpPr/>
              <p:nvPr/>
            </p:nvSpPr>
            <p:spPr>
              <a:xfrm>
                <a:off x="805544" y="3399239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7A8D67F2-C839-41FC-BB12-561835C57D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44" y="3399239"/>
                <a:ext cx="6121041" cy="463973"/>
              </a:xfrm>
              <a:prstGeom prst="rect">
                <a:avLst/>
              </a:prstGeom>
              <a:blipFill>
                <a:blip r:embed="rId4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8BA695F2-47E3-4CB4-A10B-88E92E229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43" y="4549083"/>
            <a:ext cx="7422853" cy="17602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ACF096-F0DB-46A1-BE3A-039A74DE6B39}"/>
                  </a:ext>
                </a:extLst>
              </p:cNvPr>
              <p:cNvSpPr txBox="1"/>
              <p:nvPr/>
            </p:nvSpPr>
            <p:spPr>
              <a:xfrm>
                <a:off x="5323971" y="3415645"/>
                <a:ext cx="915405" cy="33855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658DC6"/>
                              </a:solidFill>
                              <a:latin typeface="Cambria Math" panose="02040503050406030204" pitchFamily="18" charset="0"/>
                              <a:ea typeface="나눔스퀘어 Bold" panose="020B0600000101010101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658DC6"/>
                              </a:solidFill>
                              <a:latin typeface="Cambria Math" panose="02040503050406030204" pitchFamily="18" charset="0"/>
                              <a:ea typeface="나눔스퀘어 Bold" panose="020B0600000101010101" pitchFamily="50" charset="-127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600" b="0" i="1" smtClean="0">
                              <a:ln>
                                <a:solidFill>
                                  <a:schemeClr val="tx1">
                                    <a:lumMod val="75000"/>
                                    <a:lumOff val="25000"/>
                                    <a:alpha val="30000"/>
                                  </a:schemeClr>
                                </a:solidFill>
                              </a:ln>
                              <a:solidFill>
                                <a:srgbClr val="658DC6"/>
                              </a:solidFill>
                              <a:latin typeface="Cambria Math" panose="02040503050406030204" pitchFamily="18" charset="0"/>
                              <a:ea typeface="나눔스퀘어 Bold" panose="020B0600000101010101" pitchFamily="50" charset="-127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sz="16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658DC6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ACF096-F0DB-46A1-BE3A-039A74DE6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971" y="3415645"/>
                <a:ext cx="915405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C257B7C-73CA-4F52-8A22-2D71F409FC64}"/>
                  </a:ext>
                </a:extLst>
              </p:cNvPr>
              <p:cNvSpPr txBox="1"/>
              <p:nvPr/>
            </p:nvSpPr>
            <p:spPr>
              <a:xfrm>
                <a:off x="7599543" y="1810154"/>
                <a:ext cx="944880" cy="33855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F76B5B"/>
                          </a:solidFill>
                          <a:latin typeface="Cambria Math" panose="02040503050406030204" pitchFamily="18" charset="0"/>
                          <a:ea typeface="나눔스퀘어 Bold" panose="020B0600000101010101" pitchFamily="50" charset="-127"/>
                        </a:rPr>
                        <m:t>𝜂</m:t>
                      </m:r>
                      <m:r>
                        <a:rPr lang="en-US" altLang="ko-KR" sz="1600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F76B5B"/>
                          </a:solidFill>
                          <a:latin typeface="Cambria Math" panose="02040503050406030204" pitchFamily="18" charset="0"/>
                          <a:ea typeface="나눔스퀘어 Bold" panose="020B0600000101010101" pitchFamily="50" charset="-127"/>
                        </a:rPr>
                        <m:t>(</m:t>
                      </m:r>
                      <m:r>
                        <a:rPr lang="en-US" altLang="ko-KR" sz="1600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F76B5B"/>
                          </a:solidFill>
                          <a:latin typeface="Cambria Math" panose="02040503050406030204" pitchFamily="18" charset="0"/>
                          <a:ea typeface="나눔스퀘어 Bold" panose="020B0600000101010101" pitchFamily="50" charset="-127"/>
                        </a:rPr>
                        <m:t>𝜃</m:t>
                      </m:r>
                      <m:r>
                        <a:rPr lang="en-US" altLang="ko-KR" sz="1600" b="0" i="1" smtClean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30000"/>
                              </a:schemeClr>
                            </a:solidFill>
                          </a:ln>
                          <a:solidFill>
                            <a:srgbClr val="F76B5B"/>
                          </a:solidFill>
                          <a:latin typeface="Cambria Math" panose="02040503050406030204" pitchFamily="18" charset="0"/>
                          <a:ea typeface="나눔스퀘어 Bold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sz="16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rgbClr val="F76B5B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C257B7C-73CA-4F52-8A22-2D71F409F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9543" y="1810154"/>
                <a:ext cx="94488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3308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Again... Summing Up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7D914F2A-2264-419B-B633-6F5BF419B552}"/>
                  </a:ext>
                </a:extLst>
              </p:cNvPr>
              <p:cNvSpPr/>
              <p:nvPr/>
            </p:nvSpPr>
            <p:spPr>
              <a:xfrm>
                <a:off x="805544" y="1625313"/>
                <a:ext cx="7002780" cy="7090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ko-KR" altLang="en-US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altLang="ko-KR" sz="1801" i="1">
                                            <a:ln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  <a:alpha val="30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ko-KR" altLang="en-US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sup>
                            </m:sSup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7D914F2A-2264-419B-B633-6F5BF419B5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44" y="1625313"/>
                <a:ext cx="7002780" cy="709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ED7E7A4-FF7D-4739-B8D2-EFCAD19F5B11}"/>
              </a:ext>
            </a:extLst>
          </p:cNvPr>
          <p:cNvSpPr txBox="1"/>
          <p:nvPr/>
        </p:nvSpPr>
        <p:spPr>
          <a:xfrm>
            <a:off x="227018" y="1187842"/>
            <a:ext cx="866552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Maximizing the following objective is guaranteed to improve the policy’s performance</a:t>
            </a:r>
            <a:endParaRPr lang="ko-KR" altLang="en-US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solidFill>
                <a:srgbClr val="658DC6"/>
              </a:solidFill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22811-589C-4555-AF66-E6BF84FCDEDA}"/>
                  </a:ext>
                </a:extLst>
              </p:cNvPr>
              <p:cNvSpPr txBox="1"/>
              <p:nvPr/>
            </p:nvSpPr>
            <p:spPr>
              <a:xfrm>
                <a:off x="227018" y="2849002"/>
                <a:ext cx="8665522" cy="40825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Sampling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p>
                          <m:sSupPr>
                            <m:ctrlPr>
                              <a:rPr lang="en-US" altLang="ko-KR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ko-KR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sub>
                    </m:sSub>
                  </m:oMath>
                </a14:m>
                <a:r>
                  <a:rPr lang="ko-KR" altLang="en-US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</a:t>
                </a:r>
                <a:r>
                  <a:rPr lang="en-US" altLang="ko-KR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is impractical, maximize the following lower-bound instead</a:t>
                </a:r>
                <a:endParaRPr lang="ko-KR" altLang="en-US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tx1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F22811-589C-4555-AF66-E6BF84FCD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8" y="2849002"/>
                <a:ext cx="8665522" cy="4082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7A8D67F2-C839-41FC-BB12-561835C57DE3}"/>
                  </a:ext>
                </a:extLst>
              </p:cNvPr>
              <p:cNvSpPr/>
              <p:nvPr/>
            </p:nvSpPr>
            <p:spPr>
              <a:xfrm>
                <a:off x="805544" y="3399239"/>
                <a:ext cx="6121041" cy="4639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n>
                                      <a:solidFill>
                                        <a:prstClr val="black">
                                          <a:lumMod val="75000"/>
                                          <a:lumOff val="25000"/>
                                          <a:alpha val="30000"/>
                                        </a:prstClr>
                                      </a:solidFill>
                                    </a:ln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i="1">
                                <a:ln>
                                  <a:solidFill>
                                    <a:prstClr val="black">
                                      <a:lumMod val="75000"/>
                                      <a:lumOff val="25000"/>
                                      <a:alpha val="30000"/>
                                    </a:prstClr>
                                  </a:solidFill>
                                </a:ln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fName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)−</m:t>
                    </m:r>
                    <m:r>
                      <a:rPr lang="ko-KR" altLang="en-US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7A8D67F2-C839-41FC-BB12-561835C57D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44" y="3399239"/>
                <a:ext cx="6121041" cy="463973"/>
              </a:xfrm>
              <a:prstGeom prst="rect">
                <a:avLst/>
              </a:prstGeom>
              <a:blipFill>
                <a:blip r:embed="rId4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D526ACB-8E30-494B-9F42-9ACA42579864}"/>
                  </a:ext>
                </a:extLst>
              </p:cNvPr>
              <p:cNvSpPr txBox="1"/>
              <p:nvPr/>
            </p:nvSpPr>
            <p:spPr>
              <a:xfrm>
                <a:off x="227018" y="4373002"/>
                <a:ext cx="11492542" cy="36933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Maximize the lower-bound with linear approximation 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ko-KR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ko-KR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b="0" i="1" smtClean="0">
                        <a:ln>
                          <a:solidFill>
                            <a:prstClr val="black">
                              <a:lumMod val="75000"/>
                              <a:lumOff val="25000"/>
                              <a:alpha val="3000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quadratic approximation to KL-divergence </a:t>
                </a:r>
                <a:endParaRPr lang="ko-KR" altLang="en-US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tx1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D526ACB-8E30-494B-9F42-9ACA42579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18" y="4373002"/>
                <a:ext cx="1149254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2185E54-1FDB-43D1-A7FF-D03485472FFF}"/>
                  </a:ext>
                </a:extLst>
              </p:cNvPr>
              <p:cNvSpPr/>
              <p:nvPr/>
            </p:nvSpPr>
            <p:spPr>
              <a:xfrm>
                <a:off x="805544" y="4935492"/>
                <a:ext cx="10205356" cy="483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func>
                      <m:funcPr>
                        <m:ctrlPr>
                          <a:rPr lang="en-US" altLang="ko-KR" sz="1801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801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func>
                          <m:func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fName>
                      <m:e>
                        <m:r>
                          <a:rPr lang="en-US" altLang="ko-KR" i="1">
                            <a:ln>
                              <a:solidFill>
                                <a:prstClr val="black">
                                  <a:lumMod val="75000"/>
                                  <a:lumOff val="25000"/>
                                  <a:alpha val="30000"/>
                                </a:prstClr>
                              </a:solidFill>
                            </a:ln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func>
                  </m:oMath>
                </a14:m>
                <a:r>
                  <a:rPr lang="en-US" altLang="ko-KR" sz="1801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80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801" dirty="0"/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2185E54-1FDB-43D1-A7FF-D03485472F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44" y="4935492"/>
                <a:ext cx="10205356" cy="483466"/>
              </a:xfrm>
              <a:prstGeom prst="rect">
                <a:avLst/>
              </a:prstGeom>
              <a:blipFill>
                <a:blip r:embed="rId6"/>
                <a:stretch>
                  <a:fillRect t="-1266" b="-25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77797273-B412-4D03-B1B6-8032F8B192DB}"/>
                  </a:ext>
                </a:extLst>
              </p:cNvPr>
              <p:cNvSpPr/>
              <p:nvPr/>
            </p:nvSpPr>
            <p:spPr>
              <a:xfrm>
                <a:off x="805544" y="5612116"/>
                <a:ext cx="3463512" cy="6562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ko-KR" sz="1801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801" i="1">
                                        <a:ln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  <a:alpha val="30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801" i="1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801" b="0" i="1" smtClean="0">
                                    <a:ln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  <a:alpha val="30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  <m:r>
                              <a:rPr lang="en-US" altLang="ko-KR" sz="1801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den>
                        </m:f>
                      </m:e>
                    </m:rad>
                    <m:sSup>
                      <m:sSup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801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a:rPr lang="en-US" altLang="ko-KR" sz="1801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801" dirty="0"/>
                  <a:t>  </a:t>
                </a:r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77797273-B412-4D03-B1B6-8032F8B192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44" y="5612116"/>
                <a:ext cx="3463512" cy="6562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245871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Trust Region Policy Optimization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2E210D-1AB5-4B8E-BF34-B22F888E6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3" y="1470660"/>
            <a:ext cx="8537112" cy="4592326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884D6D9-CC03-43AE-BE61-EB8852DCD1E5}"/>
              </a:ext>
            </a:extLst>
          </p:cNvPr>
          <p:cNvSpPr/>
          <p:nvPr/>
        </p:nvSpPr>
        <p:spPr>
          <a:xfrm>
            <a:off x="708660" y="2522220"/>
            <a:ext cx="6629400" cy="1173480"/>
          </a:xfrm>
          <a:prstGeom prst="roundRect">
            <a:avLst>
              <a:gd name="adj" fmla="val 12687"/>
            </a:avLst>
          </a:prstGeom>
          <a:solidFill>
            <a:srgbClr val="658DC6">
              <a:alpha val="3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3D70AC-C779-4EFD-9A85-E0710F3C0E94}"/>
              </a:ext>
            </a:extLst>
          </p:cNvPr>
          <p:cNvSpPr txBox="1"/>
          <p:nvPr/>
        </p:nvSpPr>
        <p:spPr>
          <a:xfrm>
            <a:off x="7458399" y="2924230"/>
            <a:ext cx="2889562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Identical to the original PG</a:t>
            </a:r>
            <a:endParaRPr lang="ko-KR" altLang="en-US" sz="16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34256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Trust Region Policy Optimization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2E210D-1AB5-4B8E-BF34-B22F888E6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3" y="1470660"/>
            <a:ext cx="8537112" cy="4592326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884D6D9-CC03-43AE-BE61-EB8852DCD1E5}"/>
              </a:ext>
            </a:extLst>
          </p:cNvPr>
          <p:cNvSpPr/>
          <p:nvPr/>
        </p:nvSpPr>
        <p:spPr>
          <a:xfrm>
            <a:off x="708660" y="3710940"/>
            <a:ext cx="6629400" cy="680030"/>
          </a:xfrm>
          <a:prstGeom prst="roundRect">
            <a:avLst>
              <a:gd name="adj" fmla="val 12687"/>
            </a:avLst>
          </a:prstGeom>
          <a:solidFill>
            <a:srgbClr val="658DC6">
              <a:alpha val="3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63D70AC-C779-4EFD-9A85-E0710F3C0E94}"/>
                  </a:ext>
                </a:extLst>
              </p:cNvPr>
              <p:cNvSpPr txBox="1"/>
              <p:nvPr/>
            </p:nvSpPr>
            <p:spPr>
              <a:xfrm>
                <a:off x="7039944" y="3758567"/>
                <a:ext cx="3590601" cy="5847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Approximate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ko-KR" sz="16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ko-KR" altLang="en-US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 </a:t>
                </a:r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with </a:t>
                </a:r>
              </a:p>
              <a:p>
                <a:pPr algn="ctr"/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conjugate gradient descent</a:t>
                </a:r>
                <a:endParaRPr lang="ko-KR" altLang="en-US" sz="16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63D70AC-C779-4EFD-9A85-E0710F3C0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944" y="3758567"/>
                <a:ext cx="359060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직사각형 1">
            <a:extLst>
              <a:ext uri="{FF2B5EF4-FFF2-40B4-BE49-F238E27FC236}">
                <a16:creationId xmlns:a16="http://schemas.microsoft.com/office/drawing/2014/main" id="{B8241DB9-B172-4DCD-8966-0478A5D560F3}"/>
              </a:ext>
            </a:extLst>
          </p:cNvPr>
          <p:cNvSpPr/>
          <p:nvPr/>
        </p:nvSpPr>
        <p:spPr>
          <a:xfrm>
            <a:off x="298132" y="6323473"/>
            <a:ext cx="1054512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For further details for the conjugate gradient descent:  </a:t>
            </a:r>
            <a:r>
              <a:rPr lang="en-US" altLang="ko-KR" sz="1400" dirty="0">
                <a:latin typeface="Cambria Math" panose="02040503050406030204" pitchFamily="18" charset="0"/>
                <a:ea typeface="Cambria Math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https://graphics.stanford.edu/courses/cs205a-13-fall/schedule.html</a:t>
            </a:r>
            <a:r>
              <a:rPr lang="en-US" altLang="ko-KR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endParaRPr lang="ko-KR" altLang="en-US" sz="14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0982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Trust Region Policy Optimization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2E210D-1AB5-4B8E-BF34-B22F888E6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3" y="1470660"/>
            <a:ext cx="8537112" cy="4592326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884D6D9-CC03-43AE-BE61-EB8852DCD1E5}"/>
              </a:ext>
            </a:extLst>
          </p:cNvPr>
          <p:cNvSpPr/>
          <p:nvPr/>
        </p:nvSpPr>
        <p:spPr>
          <a:xfrm>
            <a:off x="708660" y="4328814"/>
            <a:ext cx="7536180" cy="1271885"/>
          </a:xfrm>
          <a:prstGeom prst="roundRect">
            <a:avLst>
              <a:gd name="adj" fmla="val 12687"/>
            </a:avLst>
          </a:prstGeom>
          <a:solidFill>
            <a:srgbClr val="658DC6">
              <a:alpha val="3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3D70AC-C779-4EFD-9A85-E0710F3C0E94}"/>
              </a:ext>
            </a:extLst>
          </p:cNvPr>
          <p:cNvSpPr txBox="1"/>
          <p:nvPr/>
        </p:nvSpPr>
        <p:spPr>
          <a:xfrm>
            <a:off x="8244840" y="4321194"/>
            <a:ext cx="3590601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Due to quadratic approximation,</a:t>
            </a:r>
          </a:p>
          <a:p>
            <a:pPr algn="ctr"/>
            <a:r>
              <a:rPr lang="en-US" altLang="ko-KR" sz="16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KL constraint might be violated!</a:t>
            </a:r>
            <a:endParaRPr lang="ko-KR" altLang="en-US" sz="16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69B839-CD8A-4277-B6E3-2EDE3891B86B}"/>
                  </a:ext>
                </a:extLst>
              </p:cNvPr>
              <p:cNvSpPr txBox="1"/>
              <p:nvPr/>
            </p:nvSpPr>
            <p:spPr>
              <a:xfrm>
                <a:off x="8244840" y="5008304"/>
                <a:ext cx="3590601" cy="5847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Use backtracking line search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6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6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6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스퀘어 Bold" panose="020B0600000101010101" pitchFamily="50" charset="-127"/>
                  </a:rPr>
                  <a:t>that matches the constraint</a:t>
                </a:r>
                <a:endParaRPr lang="ko-KR" altLang="en-US" sz="16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tx1"/>
                  </a:solidFill>
                  <a:latin typeface="Cambria Math" panose="02040503050406030204" pitchFamily="18" charset="0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69B839-CD8A-4277-B6E3-2EDE3891B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840" y="5008304"/>
                <a:ext cx="359060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132508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745443-85A9-4D03-BC48-FB127ED9BAFB}"/>
              </a:ext>
            </a:extLst>
          </p:cNvPr>
          <p:cNvSpPr/>
          <p:nvPr/>
        </p:nvSpPr>
        <p:spPr>
          <a:xfrm>
            <a:off x="0" y="8"/>
            <a:ext cx="12192000" cy="765175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63AFE1-092E-440C-9EE0-BDA3B8EA9B01}"/>
              </a:ext>
            </a:extLst>
          </p:cNvPr>
          <p:cNvSpPr/>
          <p:nvPr/>
        </p:nvSpPr>
        <p:spPr>
          <a:xfrm>
            <a:off x="167640" y="76207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Results</a:t>
            </a:r>
            <a:endParaRPr lang="ko-KR" altLang="en-US" sz="2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DE2963-C9EA-45ED-B9CB-D7FDC0EFD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2539002"/>
            <a:ext cx="11490960" cy="284989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E3FAAF8-CD9A-4458-B5D6-DCBF0FC479E8}"/>
              </a:ext>
            </a:extLst>
          </p:cNvPr>
          <p:cNvSpPr/>
          <p:nvPr/>
        </p:nvSpPr>
        <p:spPr>
          <a:xfrm>
            <a:off x="0" y="1469103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Cambria Math" panose="02040503050406030204" pitchFamily="18" charset="0"/>
                <a:ea typeface="Cambria Math" panose="02040503050406030204" pitchFamily="18" charset="0"/>
              </a:rPr>
              <a:t>Has shown competitive performance, compared to Deep-Q Learning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Cambria Math" panose="02040503050406030204" pitchFamily="18" charset="0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739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4288</TotalTime>
  <Words>3211</Words>
  <Application>Microsoft Office PowerPoint</Application>
  <PresentationFormat>와이드스크린</PresentationFormat>
  <Paragraphs>439</Paragraphs>
  <Slides>79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79</vt:i4>
      </vt:variant>
    </vt:vector>
  </HeadingPairs>
  <TitlesOfParts>
    <vt:vector size="84" baseType="lpstr">
      <vt:lpstr>나눔스퀘어 Bold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이호준</dc:creator>
  <cp:lastModifiedBy>joonlee</cp:lastModifiedBy>
  <cp:revision>82</cp:revision>
  <cp:lastPrinted>2020-05-20T04:16:35Z</cp:lastPrinted>
  <dcterms:created xsi:type="dcterms:W3CDTF">2020-05-18T10:54:56Z</dcterms:created>
  <dcterms:modified xsi:type="dcterms:W3CDTF">2020-05-21T10:26:48Z</dcterms:modified>
</cp:coreProperties>
</file>