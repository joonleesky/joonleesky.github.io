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345" r:id="rId3"/>
    <p:sldId id="794" r:id="rId4"/>
    <p:sldId id="784" r:id="rId5"/>
    <p:sldId id="783" r:id="rId6"/>
    <p:sldId id="787" r:id="rId7"/>
    <p:sldId id="786" r:id="rId8"/>
    <p:sldId id="788" r:id="rId9"/>
    <p:sldId id="789" r:id="rId10"/>
    <p:sldId id="790" r:id="rId11"/>
    <p:sldId id="785" r:id="rId12"/>
    <p:sldId id="791" r:id="rId13"/>
    <p:sldId id="792" r:id="rId14"/>
    <p:sldId id="793" r:id="rId15"/>
    <p:sldId id="795" r:id="rId16"/>
    <p:sldId id="796" r:id="rId17"/>
    <p:sldId id="797" r:id="rId18"/>
    <p:sldId id="798" r:id="rId19"/>
    <p:sldId id="800" r:id="rId20"/>
    <p:sldId id="801" r:id="rId21"/>
    <p:sldId id="805" r:id="rId22"/>
    <p:sldId id="802" r:id="rId23"/>
    <p:sldId id="803" r:id="rId24"/>
    <p:sldId id="804" r:id="rId25"/>
    <p:sldId id="806" r:id="rId26"/>
    <p:sldId id="799" r:id="rId27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4" pos="143" userDrawn="1">
          <p15:clr>
            <a:srgbClr val="A4A3A4"/>
          </p15:clr>
        </p15:guide>
        <p15:guide id="5" pos="1005" userDrawn="1">
          <p15:clr>
            <a:srgbClr val="A4A3A4"/>
          </p15:clr>
        </p15:guide>
        <p15:guide id="6" pos="74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8DC6"/>
    <a:srgbClr val="C72C0D"/>
    <a:srgbClr val="E7E6E6"/>
    <a:srgbClr val="3B5998"/>
    <a:srgbClr val="ADC2E1"/>
    <a:srgbClr val="6AB2FA"/>
    <a:srgbClr val="8345A9"/>
    <a:srgbClr val="009A30"/>
    <a:srgbClr val="0481F2"/>
    <a:srgbClr val="8DC4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49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984" y="200"/>
      </p:cViewPr>
      <p:guideLst>
        <p:guide orient="horz" pos="2137"/>
        <p:guide pos="3863"/>
        <p:guide pos="143"/>
        <p:guide pos="1005"/>
        <p:guide pos="74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ambria Math" panose="02040503050406030204" pitchFamily="18" charset="0"/>
                <a:ea typeface="NanumMyeongjo" panose="020003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ambria Math" panose="02040503050406030204" pitchFamily="18" charset="0"/>
                <a:ea typeface="NanumMyeongjo" panose="02000300000000000000" pitchFamily="2" charset="-127"/>
              </a:defRPr>
            </a:lvl1pPr>
          </a:lstStyle>
          <a:p>
            <a:fld id="{0E7DB0D5-D955-43C0-B8C6-771DD7DF6A8B}" type="datetimeFigureOut">
              <a:rPr lang="ko-KR" altLang="en-US" smtClean="0"/>
              <a:pPr/>
              <a:t>2022. 11. 4.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ambria Math" panose="02040503050406030204" pitchFamily="18" charset="0"/>
                <a:ea typeface="NanumMyeongjo" panose="020003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ambria Math" panose="02040503050406030204" pitchFamily="18" charset="0"/>
                <a:ea typeface="NanumMyeongjo" panose="02000300000000000000" pitchFamily="2" charset="-127"/>
              </a:defRPr>
            </a:lvl1pPr>
          </a:lstStyle>
          <a:p>
            <a:fld id="{7C1CB7B5-3B91-4FB1-9904-3D50828F949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3459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b="0" i="0" kern="1200">
        <a:solidFill>
          <a:schemeClr val="tx1"/>
        </a:solidFill>
        <a:latin typeface="Cambria Math" panose="02040503050406030204" pitchFamily="18" charset="0"/>
        <a:ea typeface="NanumMyeongjo" panose="02000300000000000000" pitchFamily="2" charset="-127"/>
        <a:cs typeface="+mn-cs"/>
      </a:defRPr>
    </a:lvl1pPr>
    <a:lvl2pPr marL="457200" algn="l" defTabSz="914400" rtl="0" eaLnBrk="1" latinLnBrk="1" hangingPunct="1">
      <a:defRPr sz="1200" b="0" i="0" kern="1200">
        <a:solidFill>
          <a:schemeClr val="tx1"/>
        </a:solidFill>
        <a:latin typeface="Cambria Math" panose="02040503050406030204" pitchFamily="18" charset="0"/>
        <a:ea typeface="NanumMyeongjo" panose="02000300000000000000" pitchFamily="2" charset="-127"/>
        <a:cs typeface="+mn-cs"/>
      </a:defRPr>
    </a:lvl2pPr>
    <a:lvl3pPr marL="914400" algn="l" defTabSz="914400" rtl="0" eaLnBrk="1" latinLnBrk="1" hangingPunct="1">
      <a:defRPr sz="1200" b="0" i="0" kern="1200">
        <a:solidFill>
          <a:schemeClr val="tx1"/>
        </a:solidFill>
        <a:latin typeface="Cambria Math" panose="02040503050406030204" pitchFamily="18" charset="0"/>
        <a:ea typeface="NanumMyeongjo" panose="02000300000000000000" pitchFamily="2" charset="-127"/>
        <a:cs typeface="+mn-cs"/>
      </a:defRPr>
    </a:lvl3pPr>
    <a:lvl4pPr marL="1371600" algn="l" defTabSz="914400" rtl="0" eaLnBrk="1" latinLnBrk="1" hangingPunct="1">
      <a:defRPr sz="1200" b="0" i="0" kern="1200">
        <a:solidFill>
          <a:schemeClr val="tx1"/>
        </a:solidFill>
        <a:latin typeface="Cambria Math" panose="02040503050406030204" pitchFamily="18" charset="0"/>
        <a:ea typeface="NanumMyeongjo" panose="02000300000000000000" pitchFamily="2" charset="-127"/>
        <a:cs typeface="+mn-cs"/>
      </a:defRPr>
    </a:lvl4pPr>
    <a:lvl5pPr marL="1828800" algn="l" defTabSz="914400" rtl="0" eaLnBrk="1" latinLnBrk="1" hangingPunct="1">
      <a:defRPr sz="1200" b="0" i="0" kern="1200">
        <a:solidFill>
          <a:schemeClr val="tx1"/>
        </a:solidFill>
        <a:latin typeface="Cambria Math" panose="02040503050406030204" pitchFamily="18" charset="0"/>
        <a:ea typeface="NanumMyeongjo" panose="020003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2823E-E729-43D3-8D5E-34284C6AB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00"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BDE6A7-35A9-493C-8F2E-9085E0F45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/>
            </a:lvl1pPr>
            <a:lvl2pPr marL="457200" indent="0" algn="ctr">
              <a:buNone/>
              <a:defRPr sz="2000"/>
            </a:lvl2pPr>
            <a:lvl3pPr marL="914399" indent="0" algn="ctr">
              <a:buNone/>
              <a:defRPr sz="1801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1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B913CF-F3BA-4096-BE71-9AB7B6687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CDD165A-F148-476D-A4EE-D83E0E67C23C}" type="datetimeFigureOut">
              <a:rPr lang="ko-KR" altLang="en-US" smtClean="0"/>
              <a:pPr/>
              <a:t>2022. 11. 4.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B6900A-D290-4B14-AD17-43719425A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64D574-3F02-4F5D-9538-32C4C093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A8B2014-0495-4B4A-B8C9-81A5A3DF83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32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DC867-D89E-441B-A3BB-89289615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A622A7-B253-4040-AB29-2C087F7AD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524807-8EE5-487E-9229-7E7268B1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CDD165A-F148-476D-A4EE-D83E0E67C23C}" type="datetimeFigureOut">
              <a:rPr lang="ko-KR" altLang="en-US" smtClean="0"/>
              <a:pPr/>
              <a:t>2022. 11. 4.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D0A7CD-46BB-4496-A1D4-B5DF6540E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B5BD74-AFF9-4559-ACFF-61B91E94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A8B2014-0495-4B4A-B8C9-81A5A3DF83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673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F9A14-B3AF-4D05-B771-C9628CA5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48"/>
            <a:ext cx="10515600" cy="2852737"/>
          </a:xfrm>
        </p:spPr>
        <p:txBody>
          <a:bodyPr anchor="b"/>
          <a:lstStyle>
            <a:lvl1pPr>
              <a:defRPr sz="6000"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267CB8-3122-4805-88E5-A091F58CE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73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99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5BF0A2-16D9-4623-9289-032748B7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CDD165A-F148-476D-A4EE-D83E0E67C23C}" type="datetimeFigureOut">
              <a:rPr lang="ko-KR" altLang="en-US" smtClean="0"/>
              <a:pPr/>
              <a:t>2022. 11. 4.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534A6-BED2-4DD1-88B9-33E8763CB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1A64E4-FF15-453E-B714-180B72316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A8B2014-0495-4B4A-B8C9-81A5A3DF83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7970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49D40-5A96-47CC-B027-ACF88DFCC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4CC5BA-0A24-4F7D-9975-ED063378BE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2" y="1825625"/>
            <a:ext cx="5181600" cy="435133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941558-3C91-45DB-ABC2-05700CABF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825625"/>
            <a:ext cx="5181600" cy="435133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4A16BE-2428-41AA-BDC6-F747CBC6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CDD165A-F148-476D-A4EE-D83E0E67C23C}" type="datetimeFigureOut">
              <a:rPr lang="ko-KR" altLang="en-US" smtClean="0"/>
              <a:pPr/>
              <a:t>2022. 11. 4.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7AE334-C00E-46AA-8C9F-6E2A6216D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59A530-2995-4BB6-913F-2DE99F271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A8B2014-0495-4B4A-B8C9-81A5A3DF83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9494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BCDFB3-DD3A-4054-AFDF-E32BB021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365129"/>
            <a:ext cx="10515600" cy="1325563"/>
          </a:xfrm>
        </p:spPr>
        <p:txBody>
          <a:bodyPr/>
          <a:lstStyle>
            <a:lvl1pPr>
              <a:defRPr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32514-0FE9-4E9A-8A6B-27B7FE9A5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399" indent="0">
              <a:buNone/>
              <a:defRPr sz="1801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1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AFE39D-F69D-4E1C-8325-1B9EE5EC1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5"/>
            <a:ext cx="5157787" cy="368458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CDD0D8-D6B7-4AFA-BBD5-D1CD389FFA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399" indent="0">
              <a:buNone/>
              <a:defRPr sz="1801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1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DB117F-7D51-4D24-9B2F-29866DB8E5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6C985A-A36E-4730-9ED7-2A0847D3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CDD165A-F148-476D-A4EE-D83E0E67C23C}" type="datetimeFigureOut">
              <a:rPr lang="ko-KR" altLang="en-US" smtClean="0"/>
              <a:pPr/>
              <a:t>2022. 11. 4.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81BC75-57D4-4E95-A84C-E3DCEA1E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A04195-61D5-43AF-916E-9C7170C99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A8B2014-0495-4B4A-B8C9-81A5A3DF83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0603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772EB-7481-4F30-84B1-F4D01367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E8C615-1484-4A20-9AC2-1A92F57D5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CDD165A-F148-476D-A4EE-D83E0E67C23C}" type="datetimeFigureOut">
              <a:rPr lang="ko-KR" altLang="en-US" smtClean="0"/>
              <a:pPr/>
              <a:t>2022. 11. 4.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BF092C-BFB3-4FF4-916B-54D56E108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2AD535-5825-4F12-B8E4-8F995E68E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A8B2014-0495-4B4A-B8C9-81A5A3DF83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1329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3974AA-D327-4789-988E-38E979808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CDD165A-F148-476D-A4EE-D83E0E67C23C}" type="datetimeFigureOut">
              <a:rPr lang="ko-KR" altLang="en-US" smtClean="0"/>
              <a:pPr/>
              <a:t>2022. 11. 4.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EF0ECF-7199-4E24-BDD7-49FEBAA46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2FFA47-13E1-43B8-9A86-17AC91CDF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A8B2014-0495-4B4A-B8C9-81A5A3DF83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055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2F7FB-F42A-4E2F-B37B-55EA982E1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8" cy="1600200"/>
          </a:xfrm>
        </p:spPr>
        <p:txBody>
          <a:bodyPr anchor="b"/>
          <a:lstStyle>
            <a:lvl1pPr>
              <a:defRPr sz="3200"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7FB187-5E93-4758-BEE2-ABC00B28A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35"/>
            <a:ext cx="6172201" cy="4873625"/>
          </a:xfrm>
        </p:spPr>
        <p:txBody>
          <a:bodyPr/>
          <a:lstStyle>
            <a:lvl1pPr>
              <a:defRPr sz="3200" b="0" i="0"/>
            </a:lvl1pPr>
            <a:lvl2pPr>
              <a:defRPr sz="2800" b="0" i="0"/>
            </a:lvl2pPr>
            <a:lvl3pPr>
              <a:defRPr sz="2400" b="0" i="0"/>
            </a:lvl3pPr>
            <a:lvl4pPr>
              <a:defRPr sz="2000" b="0" i="0"/>
            </a:lvl4pPr>
            <a:lvl5pPr>
              <a:defRPr sz="20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95A3DE-7EED-4C6B-8A73-D2523AD06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8" cy="3811588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200" indent="0">
              <a:buNone/>
              <a:defRPr sz="1401"/>
            </a:lvl2pPr>
            <a:lvl3pPr marL="914399" indent="0">
              <a:buNone/>
              <a:defRPr sz="1200"/>
            </a:lvl3pPr>
            <a:lvl4pPr marL="1371600" indent="0">
              <a:buNone/>
              <a:defRPr sz="1001"/>
            </a:lvl4pPr>
            <a:lvl5pPr marL="1828800" indent="0">
              <a:buNone/>
              <a:defRPr sz="1001"/>
            </a:lvl5pPr>
            <a:lvl6pPr marL="2286001" indent="0">
              <a:buNone/>
              <a:defRPr sz="1001"/>
            </a:lvl6pPr>
            <a:lvl7pPr marL="2743200" indent="0">
              <a:buNone/>
              <a:defRPr sz="1001"/>
            </a:lvl7pPr>
            <a:lvl8pPr marL="3200400" indent="0">
              <a:buNone/>
              <a:defRPr sz="1001"/>
            </a:lvl8pPr>
            <a:lvl9pPr marL="3657600" indent="0">
              <a:buNone/>
              <a:defRPr sz="100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9B6977-02B7-4EB3-8BA8-8FC67FD44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CDD165A-F148-476D-A4EE-D83E0E67C23C}" type="datetimeFigureOut">
              <a:rPr lang="ko-KR" altLang="en-US" smtClean="0"/>
              <a:pPr/>
              <a:t>2022. 11. 4.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3997A1-7BC5-48AF-8B73-9E1FC9115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22FA46-47D3-4EF1-BC8C-0A9A76563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A8B2014-0495-4B4A-B8C9-81A5A3DF83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2363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0D5D8B-4CF5-4A16-AE07-97FD73EA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8" cy="1600200"/>
          </a:xfrm>
        </p:spPr>
        <p:txBody>
          <a:bodyPr anchor="b"/>
          <a:lstStyle>
            <a:lvl1pPr>
              <a:defRPr sz="3200"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4A1BF7C-58A8-4C77-ABCB-84CFE2DBA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35"/>
            <a:ext cx="6172201" cy="4873625"/>
          </a:xfrm>
        </p:spPr>
        <p:txBody>
          <a:bodyPr/>
          <a:lstStyle>
            <a:lvl1pPr marL="0" indent="0">
              <a:buNone/>
              <a:defRPr sz="3200" b="0" i="0"/>
            </a:lvl1pPr>
            <a:lvl2pPr marL="457200" indent="0">
              <a:buNone/>
              <a:defRPr sz="2800"/>
            </a:lvl2pPr>
            <a:lvl3pPr marL="914399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1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7FB22F-4982-4523-BDB4-7B807294C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8" cy="3811588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200" indent="0">
              <a:buNone/>
              <a:defRPr sz="1401"/>
            </a:lvl2pPr>
            <a:lvl3pPr marL="914399" indent="0">
              <a:buNone/>
              <a:defRPr sz="1200"/>
            </a:lvl3pPr>
            <a:lvl4pPr marL="1371600" indent="0">
              <a:buNone/>
              <a:defRPr sz="1001"/>
            </a:lvl4pPr>
            <a:lvl5pPr marL="1828800" indent="0">
              <a:buNone/>
              <a:defRPr sz="1001"/>
            </a:lvl5pPr>
            <a:lvl6pPr marL="2286001" indent="0">
              <a:buNone/>
              <a:defRPr sz="1001"/>
            </a:lvl6pPr>
            <a:lvl7pPr marL="2743200" indent="0">
              <a:buNone/>
              <a:defRPr sz="1001"/>
            </a:lvl7pPr>
            <a:lvl8pPr marL="3200400" indent="0">
              <a:buNone/>
              <a:defRPr sz="1001"/>
            </a:lvl8pPr>
            <a:lvl9pPr marL="3657600" indent="0">
              <a:buNone/>
              <a:defRPr sz="100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3F5D52-08A6-4E5B-8BE1-E5BEB445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CDD165A-F148-476D-A4EE-D83E0E67C23C}" type="datetimeFigureOut">
              <a:rPr lang="ko-KR" altLang="en-US" smtClean="0"/>
              <a:pPr/>
              <a:t>2022. 11. 4.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73A35C-EC20-4287-8024-C1256230F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3A3C88-7C87-4374-A3B8-E1AA1616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A8B2014-0495-4B4A-B8C9-81A5A3DF83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2814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04E34E-5AD3-4E42-AE24-DBB8FC6F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4E98AE-B7BD-4A08-B4AE-75D9BFBB2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F4E244-9D3C-4C94-AAA6-1723716F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CDD165A-F148-476D-A4EE-D83E0E67C23C}" type="datetimeFigureOut">
              <a:rPr lang="ko-KR" altLang="en-US" smtClean="0"/>
              <a:pPr/>
              <a:t>2022. 11. 4.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A1807A-E3E6-4D6B-821E-802D4014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8C2890-AAAF-4CE7-A8EA-AC9E5C14E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A8B2014-0495-4B4A-B8C9-81A5A3DF83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0017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F9F50E2-EFA8-4FBC-AA41-58B762F746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 b="0" i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E057EF-F694-49DD-AFD7-715B668CC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9C970A-D635-4283-9220-5286F5AAF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6CDD165A-F148-476D-A4EE-D83E0E67C23C}" type="datetimeFigureOut">
              <a:rPr lang="ko-KR" altLang="en-US" smtClean="0"/>
              <a:pPr/>
              <a:t>2022. 11. 4.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3CD692-97CE-4C59-B55B-AFC973C90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D6FE3-42B4-4D87-982B-B5E08744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5A8B2014-0495-4B4A-B8C9-81A5A3DF83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928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B05311-7553-4291-BFD7-B904109F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DF2E9A-B52D-496F-BB6E-F72CD2893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5101E9-CCB7-4926-AA5B-C73AD70CD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Cambria Math" panose="02040503050406030204" pitchFamily="18" charset="0"/>
                <a:ea typeface="NanumMyeongjo" panose="02000300000000000000" pitchFamily="2" charset="-127"/>
              </a:defRPr>
            </a:lvl1pPr>
          </a:lstStyle>
          <a:p>
            <a:fld id="{6CDD165A-F148-476D-A4EE-D83E0E67C23C}" type="datetimeFigureOut">
              <a:rPr lang="ko-KR" altLang="en-US" smtClean="0"/>
              <a:pPr/>
              <a:t>2022. 11. 4.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E57B4A-7916-4C12-A670-C1EBA29E1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Cambria Math" panose="02040503050406030204" pitchFamily="18" charset="0"/>
                <a:ea typeface="NanumMyeongjo" panose="020003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D3293F-2D7E-4A97-99AD-AAC7146C1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Cambria Math" panose="02040503050406030204" pitchFamily="18" charset="0"/>
                <a:ea typeface="NanumMyeongjo" panose="02000300000000000000" pitchFamily="2" charset="-127"/>
              </a:defRPr>
            </a:lvl1pPr>
          </a:lstStyle>
          <a:p>
            <a:fld id="{5A8B2014-0495-4B4A-B8C9-81A5A3DF83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352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99" rtl="0" eaLnBrk="1" latinLnBrk="1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Cambria Math" panose="02040503050406030204" pitchFamily="18" charset="0"/>
          <a:ea typeface="NanumMyeongjo" panose="02000300000000000000" pitchFamily="2" charset="-127"/>
          <a:cs typeface="+mj-cs"/>
        </a:defRPr>
      </a:lvl1pPr>
    </p:titleStyle>
    <p:bodyStyle>
      <a:lvl1pPr marL="228600" indent="-228600" algn="l" defTabSz="914399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ambria Math" panose="02040503050406030204" pitchFamily="18" charset="0"/>
          <a:ea typeface="NanumMyeongjo" panose="02000300000000000000" pitchFamily="2" charset="-127"/>
          <a:cs typeface="+mn-cs"/>
        </a:defRPr>
      </a:lvl1pPr>
      <a:lvl2pPr marL="685801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mbria Math" panose="02040503050406030204" pitchFamily="18" charset="0"/>
          <a:ea typeface="NanumMyeongjo" panose="02000300000000000000" pitchFamily="2" charset="-127"/>
          <a:cs typeface="+mn-cs"/>
        </a:defRPr>
      </a:lvl2pPr>
      <a:lvl3pPr marL="1143000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mbria Math" panose="02040503050406030204" pitchFamily="18" charset="0"/>
          <a:ea typeface="NanumMyeongjo" panose="02000300000000000000" pitchFamily="2" charset="-127"/>
          <a:cs typeface="+mn-cs"/>
        </a:defRPr>
      </a:lvl3pPr>
      <a:lvl4pPr marL="1600200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b="0" i="0" kern="1200">
          <a:solidFill>
            <a:schemeClr val="tx1"/>
          </a:solidFill>
          <a:latin typeface="Cambria Math" panose="02040503050406030204" pitchFamily="18" charset="0"/>
          <a:ea typeface="NanumMyeongjo" panose="02000300000000000000" pitchFamily="2" charset="-127"/>
          <a:cs typeface="+mn-cs"/>
        </a:defRPr>
      </a:lvl4pPr>
      <a:lvl5pPr marL="2057400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b="0" i="0" kern="1200">
          <a:solidFill>
            <a:schemeClr val="tx1"/>
          </a:solidFill>
          <a:latin typeface="Cambria Math" panose="02040503050406030204" pitchFamily="18" charset="0"/>
          <a:ea typeface="NanumMyeongjo" panose="02000300000000000000" pitchFamily="2" charset="-127"/>
          <a:cs typeface="+mn-cs"/>
        </a:defRPr>
      </a:lvl5pPr>
      <a:lvl6pPr marL="2514599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1" indent="-228600" algn="l" defTabSz="914399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99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1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399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C7ECDBA-CD06-47AB-BA3E-443F9106DB6E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820AE0-3A26-4A48-8E07-8F0AE25951C1}"/>
              </a:ext>
            </a:extLst>
          </p:cNvPr>
          <p:cNvSpPr/>
          <p:nvPr/>
        </p:nvSpPr>
        <p:spPr>
          <a:xfrm>
            <a:off x="0" y="2371593"/>
            <a:ext cx="12192000" cy="142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36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How</a:t>
            </a:r>
            <a:r>
              <a:rPr lang="ko-KR" altLang="en-US" sz="36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36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to</a:t>
            </a:r>
            <a:r>
              <a:rPr lang="ko-KR" altLang="en-US" sz="36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36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escape</a:t>
            </a:r>
            <a:r>
              <a:rPr lang="ko-KR" altLang="en-US" sz="36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36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from local optima in</a:t>
            </a:r>
            <a:r>
              <a:rPr lang="ko-KR" altLang="en-US" sz="36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endParaRPr lang="en-US" altLang="ko-KR" sz="36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ko-KR" sz="36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Deep Reinforcement Learning</a:t>
            </a:r>
            <a:endParaRPr lang="ko-KR" altLang="en-US" sz="32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DC5E87-EFD6-4E2A-B25A-620F39393DDC}"/>
              </a:ext>
            </a:extLst>
          </p:cNvPr>
          <p:cNvSpPr/>
          <p:nvPr/>
        </p:nvSpPr>
        <p:spPr>
          <a:xfrm>
            <a:off x="-1" y="4612191"/>
            <a:ext cx="121920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 err="1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Hojoon</a:t>
            </a:r>
            <a:r>
              <a:rPr lang="en-US" altLang="ko-KR" sz="2400" b="1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Lee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99ABF9-5FCF-B055-0B91-2096B3430BB8}"/>
              </a:ext>
            </a:extLst>
          </p:cNvPr>
          <p:cNvSpPr txBox="1"/>
          <p:nvPr/>
        </p:nvSpPr>
        <p:spPr>
          <a:xfrm>
            <a:off x="-1" y="5085145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2022.11.04q</a:t>
            </a:r>
            <a:endParaRPr lang="ko-KR" altLang="en-US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362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Table of Contents</a:t>
            </a:r>
            <a:endParaRPr lang="ko-KR" altLang="en-US" sz="28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4D95D4-6CC8-4EA6-B8BE-C3DAE6FCA92F}"/>
              </a:ext>
            </a:extLst>
          </p:cNvPr>
          <p:cNvSpPr/>
          <p:nvPr/>
        </p:nvSpPr>
        <p:spPr>
          <a:xfrm>
            <a:off x="227011" y="886365"/>
            <a:ext cx="11733341" cy="1359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Understanding and Preventing Capacity Loss in Reinforcement Learning</a:t>
            </a: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ICLR 2022 (spotlight)</a:t>
            </a: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Clare Lyle, Mark Rowland, and Will Dabney (Oxford &amp; </a:t>
            </a:r>
            <a:r>
              <a:rPr lang="en" altLang="ko-KR" dirty="0" err="1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Deepmind</a:t>
            </a: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)</a:t>
            </a:r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EDBC525-F177-8DE7-A92C-61B3F7EFBEF9}"/>
              </a:ext>
            </a:extLst>
          </p:cNvPr>
          <p:cNvSpPr/>
          <p:nvPr/>
        </p:nvSpPr>
        <p:spPr>
          <a:xfrm>
            <a:off x="227011" y="2749358"/>
            <a:ext cx="11733341" cy="1359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The Primacy Bias in Deep Reinforcement Learning</a:t>
            </a: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ICML 2022</a:t>
            </a: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Evgenii </a:t>
            </a:r>
            <a:r>
              <a:rPr lang="en" altLang="ko-KR" dirty="0" err="1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Nikishin</a:t>
            </a: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, Max Schwarzer (SPR, SGI), </a:t>
            </a:r>
            <a:r>
              <a:rPr lang="en" altLang="ko-KR" dirty="0" err="1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D’Oro</a:t>
            </a: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, Bacon, Aaron Courville (MILA)</a:t>
            </a:r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866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C7ECDBA-CD06-47AB-BA3E-443F9106DB6E}"/>
              </a:ext>
            </a:extLst>
          </p:cNvPr>
          <p:cNvSpPr/>
          <p:nvPr/>
        </p:nvSpPr>
        <p:spPr>
          <a:xfrm>
            <a:off x="-2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820AE0-3A26-4A48-8E07-8F0AE25951C1}"/>
              </a:ext>
            </a:extLst>
          </p:cNvPr>
          <p:cNvSpPr/>
          <p:nvPr/>
        </p:nvSpPr>
        <p:spPr>
          <a:xfrm>
            <a:off x="0" y="2592351"/>
            <a:ext cx="12192000" cy="142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316" marR="3081" algn="ctr">
              <a:lnSpc>
                <a:spcPct val="150000"/>
              </a:lnSpc>
              <a:spcBef>
                <a:spcPts val="61"/>
              </a:spcBef>
              <a:tabLst>
                <a:tab pos="350408" algn="l"/>
                <a:tab pos="350793" algn="l"/>
              </a:tabLst>
            </a:pPr>
            <a:r>
              <a:rPr lang="en-US" altLang="ko-KR" sz="3600" b="1" spc="-42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Understanding and Preventing Capacity Loss in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466070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Preliminaries</a:t>
            </a:r>
            <a:endParaRPr lang="ko-KR" altLang="en-US" sz="28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4D95D4-6CC8-4EA6-B8BE-C3DAE6FCA92F}"/>
              </a:ext>
            </a:extLst>
          </p:cNvPr>
          <p:cNvSpPr/>
          <p:nvPr/>
        </p:nvSpPr>
        <p:spPr>
          <a:xfrm>
            <a:off x="227011" y="886365"/>
            <a:ext cx="11733341" cy="933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DQN with Target Network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Minimize the temporal difference between a predicted Q and the bootstrapped target.</a:t>
            </a:r>
            <a:endParaRPr kumimoji="0" lang="en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50505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049EFC-6F84-84CF-606D-A153FBF20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473" y="1844832"/>
            <a:ext cx="6565900" cy="5588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FAACD6C-C5F2-8EF1-1270-4C29FD0275DD}"/>
              </a:ext>
            </a:extLst>
          </p:cNvPr>
          <p:cNvSpPr/>
          <p:nvPr/>
        </p:nvSpPr>
        <p:spPr>
          <a:xfrm>
            <a:off x="227011" y="2953665"/>
            <a:ext cx="11733341" cy="179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Training Pipeline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Iterative process of data collection &amp; optimization</a:t>
            </a:r>
          </a:p>
          <a:p>
            <a:pPr marL="1264808" marR="3081" lvl="2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kumimoji="0" lang="en" altLang="ko-KR" b="0" i="0" u="none" strike="noStrike" kern="1200" cap="none" spc="0" normalizeH="0" baseline="0" noProof="0" dirty="0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Data collection: </a:t>
            </a: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select action with maximum Q-value within an environment.</a:t>
            </a:r>
            <a:endParaRPr kumimoji="0" lang="en" altLang="ko-KR" b="0" i="0" u="none" strike="noStrike" kern="1200" cap="none" spc="0" normalizeH="0" baseline="0" noProof="0" dirty="0">
              <a:ln>
                <a:noFill/>
              </a:ln>
              <a:solidFill>
                <a:srgbClr val="050505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  <a:p>
            <a:pPr marL="1264808" marR="3081" lvl="2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Optimization: minimize TD error.</a:t>
            </a:r>
            <a:endParaRPr kumimoji="0" lang="en" altLang="ko-KR" b="0" i="0" u="none" strike="noStrike" kern="1200" cap="none" spc="0" normalizeH="0" baseline="0" noProof="0" dirty="0">
              <a:ln>
                <a:noFill/>
              </a:ln>
              <a:solidFill>
                <a:srgbClr val="050505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816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Understanding and Preventing Capacity Loss in RL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FC8DFC-CF0C-B21C-1461-8FBCD5B83AE3}"/>
              </a:ext>
            </a:extLst>
          </p:cNvPr>
          <p:cNvSpPr/>
          <p:nvPr/>
        </p:nvSpPr>
        <p:spPr>
          <a:xfrm>
            <a:off x="227011" y="886365"/>
            <a:ext cx="11630027" cy="2634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Problem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Temporal difference learning is trained to predict non-stationary targets.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kumimoji="0" lang="en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Due to the non-stationary targets, it is essential for </a:t>
            </a: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the model to adapt to the new targets.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kumimoji="0" lang="en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The authors </a:t>
            </a: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reveal that the networks trained on a sequence of target values </a:t>
            </a:r>
            <a:r>
              <a:rPr lang="en" altLang="ko-KR" u="sng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lose their ability to quickly update their predictions to new target values (=capacity loss)</a:t>
            </a: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.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endParaRPr kumimoji="0" lang="en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50505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BA0F27-2B18-549E-C25C-22CB671B71BD}"/>
              </a:ext>
            </a:extLst>
          </p:cNvPr>
          <p:cNvSpPr/>
          <p:nvPr/>
        </p:nvSpPr>
        <p:spPr>
          <a:xfrm>
            <a:off x="227011" y="3394957"/>
            <a:ext cx="11630027" cy="2193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Solution for Capacity Loss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Present a simple regularization loss, which </a:t>
            </a:r>
            <a:r>
              <a:rPr lang="en" altLang="ko-KR" u="sng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regress a subspace of features towards its value at initial random model.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kumimoji="0" lang="en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This simple regularization loss leads to a significant performance improvements in sparse-reward environments such as Montezuma’s Revenge.</a:t>
            </a:r>
            <a:endParaRPr lang="en" altLang="ko-KR" dirty="0">
              <a:solidFill>
                <a:srgbClr val="050505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42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Measuring Capacity Loss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FC8DFC-CF0C-B21C-1461-8FBCD5B83AE3}"/>
              </a:ext>
            </a:extLst>
          </p:cNvPr>
          <p:cNvSpPr/>
          <p:nvPr/>
        </p:nvSpPr>
        <p:spPr>
          <a:xfrm>
            <a:off x="227011" y="886365"/>
            <a:ext cx="11630027" cy="1362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Capacity Loss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A phenomenon which the model losses the ability to fit its prediction to new targets.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To validate Capacity Loss, we should first need the measure the Capacity.</a:t>
            </a:r>
          </a:p>
        </p:txBody>
      </p:sp>
    </p:spTree>
    <p:extLst>
      <p:ext uri="{BB962C8B-B14F-4D97-AF65-F5344CB8AC3E}">
        <p14:creationId xmlns:p14="http://schemas.microsoft.com/office/powerpoint/2010/main" val="1267918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Measuring Capacity Loss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FC8DFC-CF0C-B21C-1461-8FBCD5B83AE3}"/>
              </a:ext>
            </a:extLst>
          </p:cNvPr>
          <p:cNvSpPr/>
          <p:nvPr/>
        </p:nvSpPr>
        <p:spPr>
          <a:xfrm>
            <a:off x="227011" y="886365"/>
            <a:ext cx="11630027" cy="3734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Measure 1: Target-Fitting Capacity</a:t>
            </a: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endParaRPr lang="en-US" altLang="ko-KR" sz="2000" b="1" spc="-42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endParaRPr lang="en-US" altLang="ko-KR" sz="2000" b="1" spc="-42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endParaRPr lang="en-US" altLang="ko-KR" sz="2000" b="1" spc="-42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endParaRPr lang="en-US" altLang="ko-KR" sz="2000" b="1" spc="-42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  <a:p>
            <a:pPr marL="464516" marR="3081" lvl="1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tabLst>
                <a:tab pos="350408" algn="l"/>
                <a:tab pos="350793" algn="l"/>
              </a:tabLst>
              <a:defRPr/>
            </a:pPr>
            <a:endParaRPr lang="en-US" altLang="ko-KR" sz="2000" b="1" spc="-42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  <a:p>
            <a:pPr marL="750266" marR="3081" lvl="1" indent="-285750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measures the ability of a network to reach a new set of targets</a:t>
            </a:r>
            <a:r>
              <a:rPr kumimoji="0" lang="en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.</a:t>
            </a:r>
          </a:p>
          <a:p>
            <a:pPr marL="750266" marR="3081" lvl="1" indent="-285750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However, cannot measure how </a:t>
            </a:r>
            <a:r>
              <a:rPr lang="en" altLang="ko-KR" u="sng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quickly</a:t>
            </a: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can network update their predictions.</a:t>
            </a:r>
            <a:endParaRPr kumimoji="0" lang="en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50505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B7031C0-E4A3-C0AD-6095-CEAF4D1BB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40" y="1529033"/>
            <a:ext cx="9050668" cy="21511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05783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Measuring Capacity Loss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FC8DFC-CF0C-B21C-1461-8FBCD5B83AE3}"/>
              </a:ext>
            </a:extLst>
          </p:cNvPr>
          <p:cNvSpPr/>
          <p:nvPr/>
        </p:nvSpPr>
        <p:spPr>
          <a:xfrm>
            <a:off x="227011" y="886365"/>
            <a:ext cx="11630027" cy="50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Measure 2: Feature Rank</a:t>
            </a: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endParaRPr lang="en-US" altLang="ko-KR" sz="2000" b="1" spc="-42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endParaRPr lang="en-US" altLang="ko-KR" sz="2000" b="1" spc="-42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endParaRPr lang="en-US" altLang="ko-KR" sz="2000" b="1" spc="-42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endParaRPr lang="en-US" altLang="ko-KR" sz="2000" b="1" spc="-42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  <a:p>
            <a:pPr marL="464516" marR="3081" lvl="1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tabLst>
                <a:tab pos="350408" algn="l"/>
                <a:tab pos="350793" algn="l"/>
              </a:tabLst>
              <a:defRPr/>
            </a:pPr>
            <a:endParaRPr lang="en-US" altLang="ko-KR" sz="2000" b="1" spc="-42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  <a:p>
            <a:pPr marL="464516" marR="3081" lvl="1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tabLst>
                <a:tab pos="350408" algn="l"/>
                <a:tab pos="350793" algn="l"/>
              </a:tabLst>
              <a:defRPr/>
            </a:pPr>
            <a:endParaRPr lang="en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464516" marR="3081" lvl="1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tabLst>
                <a:tab pos="350408" algn="l"/>
                <a:tab pos="350793" algn="l"/>
              </a:tabLst>
              <a:defRPr/>
            </a:pPr>
            <a:endParaRPr lang="en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750266" marR="3081" lvl="1" indent="-285750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Number of singular values of a matrix M = rank of matrix X</a:t>
            </a:r>
            <a:endParaRPr kumimoji="0" lang="en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50505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  <a:p>
            <a:pPr marL="750266" marR="3081" lvl="1" indent="-285750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50408" algn="l"/>
                <a:tab pos="350793" algn="l"/>
              </a:tabLst>
              <a:defRPr/>
            </a:pPr>
            <a:r>
              <a:rPr kumimoji="0" lang="en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(I</a:t>
            </a: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think) the authors assume that insufficient rank of matrix X induces a difficulty to adapt to changes in the target values (=capacity loss).</a:t>
            </a:r>
            <a:endParaRPr kumimoji="0" lang="en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50505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61F0A1-444E-15E3-9B45-F7181CBE9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17" y="1551631"/>
            <a:ext cx="9488803" cy="29300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81925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Validating Assumption: Does RL really suffers from Capacity Loss?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FC8DFC-CF0C-B21C-1461-8FBCD5B83AE3}"/>
              </a:ext>
            </a:extLst>
          </p:cNvPr>
          <p:cNvSpPr/>
          <p:nvPr/>
        </p:nvSpPr>
        <p:spPr>
          <a:xfrm>
            <a:off x="227011" y="886365"/>
            <a:ext cx="11630027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Validation 1: Target-Fitting Capacity of MNIST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43F121-9BA6-3AB4-BFC0-D5ACDD439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23" y="1535301"/>
            <a:ext cx="9625908" cy="17271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9B55F0B-18F6-91D5-C70D-D275A4EFB1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80"/>
          <a:stretch/>
        </p:blipFill>
        <p:spPr>
          <a:xfrm>
            <a:off x="675923" y="3429000"/>
            <a:ext cx="4045244" cy="30846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E7F848-9499-F1E5-9DB7-57C89E28B4EB}"/>
              </a:ext>
            </a:extLst>
          </p:cNvPr>
          <p:cNvSpPr txBox="1"/>
          <p:nvPr/>
        </p:nvSpPr>
        <p:spPr>
          <a:xfrm>
            <a:off x="4721167" y="3595513"/>
            <a:ext cx="6951544" cy="257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50266" marR="3081" lvl="1" indent="-285750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50408" algn="l"/>
                <a:tab pos="350793" algn="l"/>
              </a:tabLst>
              <a:defRPr/>
            </a:pPr>
            <a:r>
              <a:rPr kumimoji="0" lang="en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Error = </a:t>
            </a: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Target-Fitting Capacity</a:t>
            </a:r>
          </a:p>
          <a:p>
            <a:pPr marL="750266" marR="3081" lvl="1" indent="-285750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50408" algn="l"/>
                <a:tab pos="350793" algn="l"/>
              </a:tabLst>
              <a:defRPr/>
            </a:pPr>
            <a:r>
              <a:rPr kumimoji="0" lang="en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Target prediction iteration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이 증가함에 따라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Target-fitting Capacity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가 감소한다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.</a:t>
            </a:r>
          </a:p>
          <a:p>
            <a:pPr marL="750266" marR="3081" lvl="1" indent="-285750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(Why?) (I think the network falls into sharp local optima).</a:t>
            </a: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srgbClr val="050505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  <a:p>
            <a:pPr marL="750266" marR="3081" lvl="1" indent="-285750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50408" algn="l"/>
                <a:tab pos="350793" algn="l"/>
              </a:tabLst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It is interesting to see that a </a:t>
            </a: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larger</a:t>
            </a:r>
            <a:r>
              <a:rPr lang="ko-KR" altLang="en-US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network</a:t>
            </a:r>
            <a:r>
              <a:rPr lang="ko-KR" altLang="en-US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exhibits</a:t>
            </a:r>
            <a:r>
              <a:rPr lang="ko-KR" altLang="en-US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a</a:t>
            </a:r>
            <a:r>
              <a:rPr lang="ko-KR" altLang="en-US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better</a:t>
            </a:r>
            <a:r>
              <a:rPr lang="ko-KR" altLang="en-US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Target-Fitting</a:t>
            </a:r>
            <a:r>
              <a:rPr lang="ko-KR" altLang="en-US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Capacity.</a:t>
            </a:r>
            <a:endParaRPr kumimoji="0" lang="en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50505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253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Validating Assumption: Does RL really suffers from Capacity Loss?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FC8DFC-CF0C-B21C-1461-8FBCD5B83AE3}"/>
              </a:ext>
            </a:extLst>
          </p:cNvPr>
          <p:cNvSpPr/>
          <p:nvPr/>
        </p:nvSpPr>
        <p:spPr>
          <a:xfrm>
            <a:off x="227011" y="886365"/>
            <a:ext cx="11630027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Validation 2: Target-Fitting Capacity of Atari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E7F848-9499-F1E5-9DB7-57C89E28B4EB}"/>
              </a:ext>
            </a:extLst>
          </p:cNvPr>
          <p:cNvSpPr txBox="1"/>
          <p:nvPr/>
        </p:nvSpPr>
        <p:spPr>
          <a:xfrm>
            <a:off x="5392641" y="4168423"/>
            <a:ext cx="5749492" cy="1290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50266" marR="3081" lvl="1" indent="-285750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As training progresses, agents’ checkpoints on average get modestly worse at fitting the random targets.</a:t>
            </a:r>
            <a:endParaRPr kumimoji="0" lang="en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50505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465360-7406-54CC-9520-004DA771D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23" y="1535301"/>
            <a:ext cx="9433436" cy="19876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54CBABC-412B-B25C-A340-752FBF0EE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23" y="3671712"/>
            <a:ext cx="4856137" cy="29097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0823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Validating Assumption: Does RL really suffers from Capacity Loss?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FC8DFC-CF0C-B21C-1461-8FBCD5B83AE3}"/>
              </a:ext>
            </a:extLst>
          </p:cNvPr>
          <p:cNvSpPr/>
          <p:nvPr/>
        </p:nvSpPr>
        <p:spPr>
          <a:xfrm>
            <a:off x="227011" y="886365"/>
            <a:ext cx="11630027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Validation 3: Feature Rank in Sparse vs Dense reward Environment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D239FF6-3BB4-782C-912B-C4ACE9142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49" y="1529644"/>
            <a:ext cx="9689143" cy="17328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4EAC511-3161-0B4D-4F68-C7806669F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49" y="3595511"/>
            <a:ext cx="9689143" cy="28119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9282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Mitigating Capacity Loss with Feature Regularization.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FC8DFC-CF0C-B21C-1461-8FBCD5B83AE3}"/>
              </a:ext>
            </a:extLst>
          </p:cNvPr>
          <p:cNvSpPr/>
          <p:nvPr/>
        </p:nvSpPr>
        <p:spPr>
          <a:xfrm>
            <a:off x="227011" y="886365"/>
            <a:ext cx="11630027" cy="3465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INFER: </a:t>
            </a:r>
            <a:r>
              <a:rPr lang="en-US" altLang="ko-KR" sz="2000" b="1" spc="-42" dirty="0" err="1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INitial</a:t>
            </a: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2000" b="1" spc="-42" dirty="0" err="1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FEature</a:t>
            </a: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2000" b="1" spc="-42" dirty="0" err="1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Regualrization</a:t>
            </a:r>
            <a:endParaRPr lang="en-US" altLang="ko-KR" sz="2000" b="1" spc="-42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The authors assume that the randomly initialized network possess high capacity to regress to the new targets.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Therefore, add a regularization loss which regress a set of network outputs towards the output values at initialization.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In order to not overfit to a specific initialization point,</a:t>
            </a:r>
            <a:r>
              <a:rPr lang="ko-KR" altLang="en-US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modify the network architecture by adding </a:t>
            </a:r>
            <a:b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</a:b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k auxiliary linear prediction heads on top of the feature representation.</a:t>
            </a:r>
            <a:endParaRPr lang="en" altLang="ko-KR" dirty="0">
              <a:solidFill>
                <a:srgbClr val="050505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endParaRPr kumimoji="0" lang="en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50505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B4A24D7-1835-95A6-4284-450892A41D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5"/>
          <a:stretch/>
        </p:blipFill>
        <p:spPr>
          <a:xfrm>
            <a:off x="1126298" y="4187437"/>
            <a:ext cx="5006215" cy="219004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2906FAA-8C76-557B-E84F-89FEF74C4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628" y="4719170"/>
            <a:ext cx="5870550" cy="84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79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BD02066-4C7C-1263-E3FC-762FB218FA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1" r="40414" b="29622"/>
          <a:stretch/>
        </p:blipFill>
        <p:spPr>
          <a:xfrm>
            <a:off x="370302" y="1122604"/>
            <a:ext cx="5161254" cy="24752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C9D68E-CD77-1DAD-2B24-B1D9C4DFD2B3}"/>
              </a:ext>
            </a:extLst>
          </p:cNvPr>
          <p:cNvSpPr txBox="1"/>
          <p:nvPr/>
        </p:nvSpPr>
        <p:spPr>
          <a:xfrm>
            <a:off x="5249333" y="1371199"/>
            <a:ext cx="6773333" cy="1718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50266" marR="3081" lvl="1" indent="-285750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While feature rank does not appear to solely determine agent performance ,there is a positive correlation between FR and HNS. </a:t>
            </a:r>
          </a:p>
          <a:p>
            <a:pPr marL="750266" marR="3081" lvl="1" indent="-285750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50408" algn="l"/>
                <a:tab pos="350793" algn="l"/>
              </a:tabLst>
              <a:defRPr/>
            </a:pPr>
            <a:r>
              <a:rPr kumimoji="0" lang="en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Using </a:t>
            </a:r>
            <a:r>
              <a:rPr kumimoji="0" lang="en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InFeR</a:t>
            </a:r>
            <a:r>
              <a:rPr kumimoji="0" lang="en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increases both FR and HNS.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429B347-D2D7-31B8-BF69-9D02836781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988"/>
          <a:stretch/>
        </p:blipFill>
        <p:spPr>
          <a:xfrm>
            <a:off x="1000923" y="3813683"/>
            <a:ext cx="10263180" cy="27455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04843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C03F1D1-EE25-5018-66D4-9651D9325A3A}"/>
              </a:ext>
            </a:extLst>
          </p:cNvPr>
          <p:cNvSpPr/>
          <p:nvPr/>
        </p:nvSpPr>
        <p:spPr>
          <a:xfrm>
            <a:off x="227011" y="886365"/>
            <a:ext cx="11630027" cy="2205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Summary</a:t>
            </a: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DRL suffers from Capacity Loss due to the continual update + bootstrapped targets.</a:t>
            </a: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Capacity Loss is particularly salient in sparse-reward settings.</a:t>
            </a: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Feature space regularization can help the network to preserve plasticity which increases the agent’s performance, especially in sparse-reward environments.</a:t>
            </a:r>
            <a:endParaRPr kumimoji="0" lang="en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50505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157122-B63D-FC86-136C-190D12FE00D5}"/>
              </a:ext>
            </a:extLst>
          </p:cNvPr>
          <p:cNvSpPr/>
          <p:nvPr/>
        </p:nvSpPr>
        <p:spPr>
          <a:xfrm>
            <a:off x="227011" y="3429000"/>
            <a:ext cx="11630027" cy="3075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Personal thoughts</a:t>
            </a: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Capacity Loss </a:t>
            </a: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== Sharp Local Optima?</a:t>
            </a:r>
          </a:p>
          <a:p>
            <a:pPr marL="1264808" marR="3081" lvl="2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kumimoji="0" lang="en-US" altLang="ko-KR" b="0" i="0" u="none" strike="noStrike" kern="1200" cap="none" spc="-42" normalizeH="0" baseline="0" noProof="0" dirty="0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If the loss falls into sharp local minima, does the model losses the capacity (</a:t>
            </a:r>
            <a:r>
              <a:rPr kumimoji="0" lang="en-US" altLang="ko-KR" b="0" i="0" u="none" strike="noStrike" kern="1200" cap="none" spc="-42" normalizeH="0" baseline="0" noProof="0" dirty="0" err="1">
                <a:ln>
                  <a:noFill/>
                </a:ln>
                <a:solidFill>
                  <a:srgbClr val="050505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i</a:t>
            </a:r>
            <a:r>
              <a:rPr lang="en-US" altLang="ko-KR" spc="-42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.e., plasticity)</a:t>
            </a:r>
            <a:r>
              <a:rPr lang="en" altLang="ko-KR" spc="-42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?</a:t>
            </a:r>
            <a:endParaRPr lang="en-US" altLang="ko-KR" spc="-42" dirty="0">
              <a:solidFill>
                <a:srgbClr val="050505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  <a:sym typeface="Wingdings" pitchFamily="2" charset="2"/>
            </a:endParaRPr>
          </a:p>
          <a:p>
            <a:pPr marL="1264808" marR="3081" lvl="2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Then, can Sharpness-Aware-Minimization or Data Augmentation help to reduce capacity loss?</a:t>
            </a:r>
            <a:endParaRPr lang="en-US" altLang="ko-KR" spc="-42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  <a:sym typeface="Wingdings" pitchFamily="2" charset="2"/>
            </a:endParaRP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 err="1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InFeR</a:t>
            </a: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 is the best regularization objective?</a:t>
            </a:r>
          </a:p>
          <a:p>
            <a:pPr marL="1264808" marR="3081" lvl="2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What about Barlow Twins in SSL? (=Transposed Contrastive Loss)</a:t>
            </a:r>
          </a:p>
          <a:p>
            <a:pPr marL="1264808" marR="3081" lvl="2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Barlow Twins naturally incur the network’s output to be independent.</a:t>
            </a:r>
          </a:p>
        </p:txBody>
      </p:sp>
    </p:spTree>
    <p:extLst>
      <p:ext uri="{BB962C8B-B14F-4D97-AF65-F5344CB8AC3E}">
        <p14:creationId xmlns:p14="http://schemas.microsoft.com/office/powerpoint/2010/main" val="4034614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C7ECDBA-CD06-47AB-BA3E-443F9106DB6E}"/>
              </a:ext>
            </a:extLst>
          </p:cNvPr>
          <p:cNvSpPr/>
          <p:nvPr/>
        </p:nvSpPr>
        <p:spPr>
          <a:xfrm>
            <a:off x="-2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820AE0-3A26-4A48-8E07-8F0AE25951C1}"/>
              </a:ext>
            </a:extLst>
          </p:cNvPr>
          <p:cNvSpPr/>
          <p:nvPr/>
        </p:nvSpPr>
        <p:spPr>
          <a:xfrm>
            <a:off x="0" y="2592351"/>
            <a:ext cx="12192000" cy="142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316" marR="3081" algn="ctr">
              <a:lnSpc>
                <a:spcPct val="150000"/>
              </a:lnSpc>
              <a:spcBef>
                <a:spcPts val="61"/>
              </a:spcBef>
              <a:tabLst>
                <a:tab pos="350408" algn="l"/>
                <a:tab pos="350793" algn="l"/>
              </a:tabLst>
            </a:pPr>
            <a:r>
              <a:rPr lang="en-US" altLang="ko-KR" sz="3600" b="1" spc="-42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The Primacy Bias in Deep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639574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The Primacy Bias in Deep Reinforcement Learning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FC8DFC-CF0C-B21C-1461-8FBCD5B83AE3}"/>
              </a:ext>
            </a:extLst>
          </p:cNvPr>
          <p:cNvSpPr/>
          <p:nvPr/>
        </p:nvSpPr>
        <p:spPr>
          <a:xfrm>
            <a:off x="227011" y="886365"/>
            <a:ext cx="11630027" cy="30498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Problem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Because deep RL agent is trained on progressively growing datasets, deep RL agents can be easily overfitted to earlier experiences.  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This overfitting negatively affects the rest of the learning process which the author refer to as </a:t>
            </a:r>
            <a:r>
              <a:rPr lang="en" altLang="ko-KR" u="sng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primacy bias </a:t>
            </a: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(</a:t>
            </a:r>
            <a:r>
              <a:rPr lang="ko-KR" altLang="en-US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중간의 것들보다 처음의 것을 잘 기억하는 인지적 현상</a:t>
            </a: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)</a:t>
            </a: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. 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(Personal Thought) Primacy Bias = Capacity Loss = Degenerate Solution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endParaRPr kumimoji="0" lang="en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50505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A19FEC-E437-E462-EB31-2C3594DED9B0}"/>
              </a:ext>
            </a:extLst>
          </p:cNvPr>
          <p:cNvSpPr/>
          <p:nvPr/>
        </p:nvSpPr>
        <p:spPr>
          <a:xfrm>
            <a:off x="227011" y="3936174"/>
            <a:ext cx="11630027" cy="933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Solution for Primacy Bias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Periodically reset a part of the network.</a:t>
            </a:r>
          </a:p>
        </p:txBody>
      </p:sp>
    </p:spTree>
    <p:extLst>
      <p:ext uri="{BB962C8B-B14F-4D97-AF65-F5344CB8AC3E}">
        <p14:creationId xmlns:p14="http://schemas.microsoft.com/office/powerpoint/2010/main" val="2522188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Validating Assumption: Does RL really suffers from Primacy Bias?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62EE753-DBB1-016B-A9FC-43E07EF4A9C9}"/>
              </a:ext>
            </a:extLst>
          </p:cNvPr>
          <p:cNvSpPr/>
          <p:nvPr/>
        </p:nvSpPr>
        <p:spPr>
          <a:xfrm>
            <a:off x="227011" y="886365"/>
            <a:ext cx="11630027" cy="2647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Validation 1: Heavy Primming.</a:t>
            </a: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Investigate whether heavily overfitting on a single batch of early data disrupt a learning process.</a:t>
            </a:r>
          </a:p>
          <a:p>
            <a:pPr marL="1264808" marR="3081" lvl="2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Environment: DMC quadruped-run.</a:t>
            </a:r>
          </a:p>
          <a:p>
            <a:pPr marL="1264808" marR="3081" lvl="2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Baseline: SAC.</a:t>
            </a:r>
          </a:p>
          <a:p>
            <a:pPr marL="1264808" marR="3081" lvl="2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Experiment group: SAC with heavy primming.</a:t>
            </a:r>
          </a:p>
          <a:p>
            <a:pPr marL="1722008" marR="3081" lvl="3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Before standard training, update the agent 10000 times using the initial 100 data points.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0FFA79-B779-0B01-25DC-93E885A1C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33" y="3772611"/>
            <a:ext cx="3748910" cy="27297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34F2A18-E831-EC41-5D00-D05D7E7AB0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855" y="4414347"/>
            <a:ext cx="5298723" cy="126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Validating Assumption: Does RL really suffers from Primacy Bias?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62EE753-DBB1-016B-A9FC-43E07EF4A9C9}"/>
              </a:ext>
            </a:extLst>
          </p:cNvPr>
          <p:cNvSpPr/>
          <p:nvPr/>
        </p:nvSpPr>
        <p:spPr>
          <a:xfrm>
            <a:off x="227011" y="886365"/>
            <a:ext cx="11630027" cy="179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Validation 2: Primacy Bias occurs in data vs model.</a:t>
            </a: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Investigate whether non-diverse data incurs the primacy bias.</a:t>
            </a:r>
          </a:p>
          <a:p>
            <a:pPr marL="1264616" marR="3081" lvl="2" indent="-342900">
              <a:lnSpc>
                <a:spcPct val="150000"/>
              </a:lnSpc>
              <a:spcBef>
                <a:spcPts val="61"/>
              </a:spcBef>
              <a:buFont typeface="+mj-lt"/>
              <a:buAutoNum type="arabicPeriod"/>
              <a:tabLst>
                <a:tab pos="350408" algn="l"/>
                <a:tab pos="350793" algn="l"/>
              </a:tabLst>
            </a:pPr>
            <a:r>
              <a:rPr lang="en-US" altLang="ko-KR" spc="-42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Generate data with poor performing agent.</a:t>
            </a:r>
          </a:p>
          <a:p>
            <a:pPr marL="1264616" marR="3081" lvl="2" indent="-342900">
              <a:lnSpc>
                <a:spcPct val="150000"/>
              </a:lnSpc>
              <a:spcBef>
                <a:spcPts val="61"/>
              </a:spcBef>
              <a:buFont typeface="+mj-lt"/>
              <a:buAutoNum type="arabicPeriod"/>
              <a:tabLst>
                <a:tab pos="350408" algn="l"/>
                <a:tab pos="350793" algn="l"/>
              </a:tabLst>
            </a:pPr>
            <a:r>
              <a:rPr lang="en-US" altLang="ko-KR" spc="-42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Train agent with using collected data as its initial replay buffer.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902981-F324-5FB5-060D-8E3302040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533" y="2895944"/>
            <a:ext cx="3765363" cy="27788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A024763-8698-59BA-E298-B1CF5F7DE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855" y="3637317"/>
            <a:ext cx="5298722" cy="130708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75863A1-B8A8-35EE-A7A7-CC7CF615EC9D}"/>
              </a:ext>
            </a:extLst>
          </p:cNvPr>
          <p:cNvSpPr/>
          <p:nvPr/>
        </p:nvSpPr>
        <p:spPr>
          <a:xfrm>
            <a:off x="227011" y="5883806"/>
            <a:ext cx="11630027" cy="459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The primacy bias is a failure to learn not a failure to collect proper data.</a:t>
            </a:r>
            <a:endParaRPr lang="en-US" altLang="ko-KR" spc="-42" dirty="0">
              <a:solidFill>
                <a:srgbClr val="050505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668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Mitigating Primacy Bias with resetting.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FC8DFC-CF0C-B21C-1461-8FBCD5B83AE3}"/>
              </a:ext>
            </a:extLst>
          </p:cNvPr>
          <p:cNvSpPr/>
          <p:nvPr/>
        </p:nvSpPr>
        <p:spPr>
          <a:xfrm>
            <a:off x="227011" y="886365"/>
            <a:ext cx="11630027" cy="1777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Resets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Since the model heavily overfits to the initial data, reset part of the neural network to mitigate the primacy bias in the model.</a:t>
            </a:r>
            <a:endParaRPr lang="en" altLang="ko-KR" dirty="0">
              <a:solidFill>
                <a:srgbClr val="050505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endParaRPr kumimoji="0" lang="en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50505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E08C68-A3A7-E80D-96ED-353BBDC9EE98}"/>
              </a:ext>
            </a:extLst>
          </p:cNvPr>
          <p:cNvSpPr/>
          <p:nvPr/>
        </p:nvSpPr>
        <p:spPr>
          <a:xfrm>
            <a:off x="227011" y="2533755"/>
            <a:ext cx="11630027" cy="179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Experimental Setup (ATARI 100k)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Baseline: SPR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Number of resets: 4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Reset: (1/5)</a:t>
            </a:r>
            <a:endParaRPr lang="en" altLang="ko-KR" dirty="0">
              <a:solidFill>
                <a:srgbClr val="050505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CA3485-144F-9AC4-F80F-EE999150E188}"/>
              </a:ext>
            </a:extLst>
          </p:cNvPr>
          <p:cNvSpPr/>
          <p:nvPr/>
        </p:nvSpPr>
        <p:spPr>
          <a:xfrm>
            <a:off x="227011" y="4654655"/>
            <a:ext cx="11630027" cy="179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Experimental Setup (DMC)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Baseline: SAC, </a:t>
            </a:r>
            <a:r>
              <a:rPr lang="en-US" altLang="ko-KR" dirty="0" err="1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DrQ</a:t>
            </a: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Number of resets: 10 (per 200,000 steps)</a:t>
            </a:r>
          </a:p>
          <a:p>
            <a:pPr marL="807608" marR="3081" lvl="1" indent="-343092" algn="l" defTabSz="914400" rtl="0" eaLnBrk="1" fontAlgn="auto" latinLnBrk="1" hangingPunct="1">
              <a:lnSpc>
                <a:spcPct val="15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Char char="•"/>
              <a:tabLst>
                <a:tab pos="350408" algn="l"/>
                <a:tab pos="350793" algn="l"/>
              </a:tabLst>
              <a:defRPr/>
            </a:pP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Reset: SAC (all), </a:t>
            </a:r>
            <a:r>
              <a:rPr lang="en-US" altLang="ko-KR" dirty="0" err="1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DrQ</a:t>
            </a:r>
            <a:r>
              <a:rPr lang="en-US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(3/7)</a:t>
            </a:r>
            <a:endParaRPr lang="en" altLang="ko-KR" dirty="0">
              <a:solidFill>
                <a:srgbClr val="050505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682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Main Experiment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FC8DFC-CF0C-B21C-1461-8FBCD5B83AE3}"/>
              </a:ext>
            </a:extLst>
          </p:cNvPr>
          <p:cNvSpPr/>
          <p:nvPr/>
        </p:nvSpPr>
        <p:spPr>
          <a:xfrm>
            <a:off x="227011" y="886365"/>
            <a:ext cx="11630027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ATARI 100k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CA3485-144F-9AC4-F80F-EE999150E188}"/>
              </a:ext>
            </a:extLst>
          </p:cNvPr>
          <p:cNvSpPr/>
          <p:nvPr/>
        </p:nvSpPr>
        <p:spPr>
          <a:xfrm>
            <a:off x="227011" y="4264185"/>
            <a:ext cx="11630027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DMC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867CBFB-93F8-88A1-9421-4CB5E7EE0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99" y="1491522"/>
            <a:ext cx="9680745" cy="254394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77074C21-1272-8936-2DBD-47293A6DE2DC}"/>
              </a:ext>
            </a:extLst>
          </p:cNvPr>
          <p:cNvGrpSpPr/>
          <p:nvPr/>
        </p:nvGrpSpPr>
        <p:grpSpPr>
          <a:xfrm>
            <a:off x="546101" y="4928453"/>
            <a:ext cx="10814712" cy="1540421"/>
            <a:chOff x="546101" y="4431214"/>
            <a:chExt cx="10814712" cy="154042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F445747-304A-25A2-ACEA-BE95D3AFC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101" y="4431214"/>
              <a:ext cx="5407356" cy="154042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BBB3BBA-B035-C6E5-8114-AA966F76B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3457" y="4526889"/>
              <a:ext cx="5407356" cy="1018319"/>
            </a:xfrm>
            <a:prstGeom prst="rect">
              <a:avLst/>
            </a:prstGeom>
          </p:spPr>
        </p:pic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0DFE7F-3EC0-0A30-6175-2592064D76F5}"/>
              </a:ext>
            </a:extLst>
          </p:cNvPr>
          <p:cNvSpPr/>
          <p:nvPr/>
        </p:nvSpPr>
        <p:spPr>
          <a:xfrm>
            <a:off x="546100" y="4853339"/>
            <a:ext cx="10909300" cy="16409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17325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Ablation: Relationship between replay ratio &amp; reset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FC8DFC-CF0C-B21C-1461-8FBCD5B83AE3}"/>
              </a:ext>
            </a:extLst>
          </p:cNvPr>
          <p:cNvSpPr/>
          <p:nvPr/>
        </p:nvSpPr>
        <p:spPr>
          <a:xfrm>
            <a:off x="227011" y="886365"/>
            <a:ext cx="11630027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ATARI 100k &amp; DMC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09703F-594B-A951-EFD0-BA42F96D9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06" y="1507295"/>
            <a:ext cx="11133414" cy="29689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7003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Ablation: where to reset?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FC8DFC-CF0C-B21C-1461-8FBCD5B83AE3}"/>
              </a:ext>
            </a:extLst>
          </p:cNvPr>
          <p:cNvSpPr/>
          <p:nvPr/>
        </p:nvSpPr>
        <p:spPr>
          <a:xfrm>
            <a:off x="227011" y="886365"/>
            <a:ext cx="11630027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ATARI 100k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0DFE7F-3EC0-0A30-6175-2592064D76F5}"/>
              </a:ext>
            </a:extLst>
          </p:cNvPr>
          <p:cNvSpPr/>
          <p:nvPr/>
        </p:nvSpPr>
        <p:spPr>
          <a:xfrm>
            <a:off x="546100" y="1472332"/>
            <a:ext cx="11023600" cy="20255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5F0DB0-BCB2-4B2D-5806-FF571D658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76" y="1570109"/>
            <a:ext cx="5077793" cy="18096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AE6E63E-B92C-6CD6-EA11-7E06BF40C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457" y="1656624"/>
            <a:ext cx="5447667" cy="155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87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Ablation: where to reset?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FC8DFC-CF0C-B21C-1461-8FBCD5B83AE3}"/>
              </a:ext>
            </a:extLst>
          </p:cNvPr>
          <p:cNvSpPr/>
          <p:nvPr/>
        </p:nvSpPr>
        <p:spPr>
          <a:xfrm>
            <a:off x="227011" y="886365"/>
            <a:ext cx="11630027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DMC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ACDC3A9-EFE6-B9A0-8CCB-FC984782C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54" y="1444991"/>
            <a:ext cx="11670718" cy="49812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327851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01802C8-40BD-CC57-DBAA-1CAE138E40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"/>
          <a:stretch/>
        </p:blipFill>
        <p:spPr>
          <a:xfrm>
            <a:off x="297153" y="1444991"/>
            <a:ext cx="11670718" cy="49812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Ablation: what to reset?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FC8DFC-CF0C-B21C-1461-8FBCD5B83AE3}"/>
              </a:ext>
            </a:extLst>
          </p:cNvPr>
          <p:cNvSpPr/>
          <p:nvPr/>
        </p:nvSpPr>
        <p:spPr>
          <a:xfrm>
            <a:off x="227011" y="886365"/>
            <a:ext cx="11630027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DMC</a:t>
            </a:r>
          </a:p>
        </p:txBody>
      </p:sp>
    </p:spTree>
    <p:extLst>
      <p:ext uri="{BB962C8B-B14F-4D97-AF65-F5344CB8AC3E}">
        <p14:creationId xmlns:p14="http://schemas.microsoft.com/office/powerpoint/2010/main" val="724313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145B8AE-65D5-460B-A963-7BD3B0E6B5B1}"/>
              </a:ext>
            </a:extLst>
          </p:cNvPr>
          <p:cNvSpPr/>
          <p:nvPr/>
        </p:nvSpPr>
        <p:spPr>
          <a:xfrm>
            <a:off x="0" y="12"/>
            <a:ext cx="12192000" cy="827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800" dirty="0">
              <a:solidFill>
                <a:schemeClr val="bg1"/>
              </a:solidFill>
              <a:latin typeface="Arial" panose="020B0604020202020204" pitchFamily="34" charset="0"/>
              <a:ea typeface="나눔스퀘어 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9D39236-A16C-405D-B56E-2769EBFA00C8}"/>
              </a:ext>
            </a:extLst>
          </p:cNvPr>
          <p:cNvSpPr/>
          <p:nvPr/>
        </p:nvSpPr>
        <p:spPr>
          <a:xfrm>
            <a:off x="167642" y="76211"/>
            <a:ext cx="12024361" cy="688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C03F1D1-EE25-5018-66D4-9651D9325A3A}"/>
              </a:ext>
            </a:extLst>
          </p:cNvPr>
          <p:cNvSpPr/>
          <p:nvPr/>
        </p:nvSpPr>
        <p:spPr>
          <a:xfrm>
            <a:off x="227011" y="886365"/>
            <a:ext cx="11630027" cy="1362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Summary</a:t>
            </a: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DRL suffers from to adapt to new data due to the Primacy Bias.</a:t>
            </a: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" altLang="ko-KR" dirty="0">
                <a:solidFill>
                  <a:srgbClr val="050505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Resetting part of the neural network helps to alleviate Primacy Bias issue.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157122-B63D-FC86-136C-190D12FE00D5}"/>
              </a:ext>
            </a:extLst>
          </p:cNvPr>
          <p:cNvSpPr/>
          <p:nvPr/>
        </p:nvSpPr>
        <p:spPr>
          <a:xfrm>
            <a:off x="227011" y="2401388"/>
            <a:ext cx="11630027" cy="3503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0408" marR="308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z="2000" b="1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Personal thoughts</a:t>
            </a: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Capacity Loss == Primacy Bias ==</a:t>
            </a: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 Local Optima? </a:t>
            </a:r>
          </a:p>
          <a:p>
            <a:pPr marL="807608" marR="3081" lvl="1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Plausible Solutions: (w/ a larger replay ratio).</a:t>
            </a:r>
          </a:p>
          <a:p>
            <a:pPr marL="1264808" marR="3081" lvl="2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Regularization Loss: </a:t>
            </a:r>
            <a:r>
              <a:rPr lang="en-US" altLang="ko-KR" spc="-42" dirty="0" err="1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InFeR</a:t>
            </a: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 or Barlow Twins.</a:t>
            </a:r>
          </a:p>
          <a:p>
            <a:pPr marL="1264808" marR="3081" lvl="2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Random network resets.</a:t>
            </a:r>
          </a:p>
          <a:p>
            <a:pPr marL="1264808" marR="3081" lvl="2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Data augmentation (augmentation leads to escape sharp local minima).</a:t>
            </a:r>
          </a:p>
          <a:p>
            <a:pPr marL="1722008" marR="3081" lvl="3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Is this the reason why augmentation provide a larger benefits in deep RL?</a:t>
            </a:r>
          </a:p>
          <a:p>
            <a:pPr marL="1264808" marR="3081" lvl="2" indent="-343092">
              <a:lnSpc>
                <a:spcPct val="150000"/>
              </a:lnSpc>
              <a:spcBef>
                <a:spcPts val="61"/>
              </a:spcBef>
              <a:buFont typeface="Arial"/>
              <a:buChar char="•"/>
              <a:tabLst>
                <a:tab pos="350408" algn="l"/>
                <a:tab pos="350793" algn="l"/>
              </a:tabLst>
            </a:pPr>
            <a:r>
              <a:rPr lang="en-US" altLang="ko-KR" spc="-42" dirty="0"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  <a:sym typeface="Wingdings" pitchFamily="2" charset="2"/>
              </a:rPr>
              <a:t>Sharpness-aware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905334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C7ECDBA-CD06-47AB-BA3E-443F9106DB6E}"/>
              </a:ext>
            </a:extLst>
          </p:cNvPr>
          <p:cNvSpPr/>
          <p:nvPr/>
        </p:nvSpPr>
        <p:spPr>
          <a:xfrm>
            <a:off x="-2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 dirty="0"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820AE0-3A26-4A48-8E07-8F0AE25951C1}"/>
              </a:ext>
            </a:extLst>
          </p:cNvPr>
          <p:cNvSpPr/>
          <p:nvPr/>
        </p:nvSpPr>
        <p:spPr>
          <a:xfrm>
            <a:off x="0" y="2592351"/>
            <a:ext cx="12192000" cy="1424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316" marR="3081" algn="ctr">
              <a:lnSpc>
                <a:spcPct val="150000"/>
              </a:lnSpc>
              <a:spcBef>
                <a:spcPts val="61"/>
              </a:spcBef>
              <a:tabLst>
                <a:tab pos="350408" algn="l"/>
                <a:tab pos="350793" algn="l"/>
              </a:tabLst>
            </a:pPr>
            <a:r>
              <a:rPr lang="en-US" altLang="ko-KR" sz="3600" b="1" spc="-42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796508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8265</TotalTime>
  <Words>1138</Words>
  <Application>Microsoft Macintosh PowerPoint</Application>
  <PresentationFormat>와이드스크린</PresentationFormat>
  <Paragraphs>138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NanumGothic</vt:lpstr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이호준</dc:creator>
  <cp:lastModifiedBy>Microsoft Office User</cp:lastModifiedBy>
  <cp:revision>207</cp:revision>
  <cp:lastPrinted>2020-05-20T04:16:35Z</cp:lastPrinted>
  <dcterms:created xsi:type="dcterms:W3CDTF">2020-05-18T10:54:56Z</dcterms:created>
  <dcterms:modified xsi:type="dcterms:W3CDTF">2022-11-04T06:49:10Z</dcterms:modified>
</cp:coreProperties>
</file>